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379ae7f5dd49d3" /><Relationship Type="http://schemas.openxmlformats.org/officeDocument/2006/relationships/extended-properties" Target="/docProps/app.xml" Id="R0fe87f02986646c9" /><Relationship Type="http://schemas.openxmlformats.org/officeDocument/2006/relationships/officeDocument" Target="/ppt/presentation.xml" Id="R4436f73df82d4cfb" /></Relationships>
</file>

<file path=ppt/presentation.xml><?xml version="1.0" encoding="utf-8"?>
<p:presentation xmlns:p="http://schemas.openxmlformats.org/presentationml/2006/main">
  <p:sldMasterIdLst>
    <p:sldMasterId xmlns:r="http://schemas.openxmlformats.org/officeDocument/2006/relationships" id="2147483648" r:id="R6000f7043d274e3b"/>
  </p:sldMasterIdLst>
  <p:notesMasterIdLst>
    <p:notesMasterId xmlns:r="http://schemas.openxmlformats.org/officeDocument/2006/relationships" r:id="Reb44e6083b394c97"/>
  </p:notesMasterIdLst>
  <p:sldIdLst>
    <p:sldId xmlns:r="http://schemas.openxmlformats.org/officeDocument/2006/relationships" id="256" r:id="Raaa9b4d35aba44d3"/>
    <p:sldId xmlns:r="http://schemas.openxmlformats.org/officeDocument/2006/relationships" id="257" r:id="Rce7ac51cd1494d4a"/>
    <p:sldId xmlns:r="http://schemas.openxmlformats.org/officeDocument/2006/relationships" id="258" r:id="Rc85d4a1299984223"/>
    <p:sldId xmlns:r="http://schemas.openxmlformats.org/officeDocument/2006/relationships" id="259" r:id="Rfe93944f36904324"/>
    <p:sldId xmlns:r="http://schemas.openxmlformats.org/officeDocument/2006/relationships" id="260" r:id="Rdbb0dcf5b16a40fa"/>
    <p:sldId xmlns:r="http://schemas.openxmlformats.org/officeDocument/2006/relationships" id="261" r:id="R49de45638c96418c"/>
    <p:sldId xmlns:r="http://schemas.openxmlformats.org/officeDocument/2006/relationships" id="262" r:id="Rbb95351c2b544b9b"/>
    <p:sldId xmlns:r="http://schemas.openxmlformats.org/officeDocument/2006/relationships" id="263" r:id="R308a10bd4af64490"/>
    <p:sldId xmlns:r="http://schemas.openxmlformats.org/officeDocument/2006/relationships" id="264" r:id="Rdc5a09b8aeee4d66"/>
    <p:sldId xmlns:r="http://schemas.openxmlformats.org/officeDocument/2006/relationships" id="265" r:id="R92c905c741464313"/>
    <p:sldId xmlns:r="http://schemas.openxmlformats.org/officeDocument/2006/relationships" id="266" r:id="R21efc54edde7453e"/>
    <p:sldId xmlns:r="http://schemas.openxmlformats.org/officeDocument/2006/relationships" id="267" r:id="R6dd2a0b0bbef48c7"/>
    <p:sldId xmlns:r="http://schemas.openxmlformats.org/officeDocument/2006/relationships" id="268" r:id="R887c21951da747cf"/>
    <p:sldId xmlns:r="http://schemas.openxmlformats.org/officeDocument/2006/relationships" id="269" r:id="R5aeb3ba84c8e468f"/>
    <p:sldId xmlns:r="http://schemas.openxmlformats.org/officeDocument/2006/relationships" id="270" r:id="Rc8920b9ae92245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30f32917ad438b" /><Relationship Type="http://schemas.openxmlformats.org/officeDocument/2006/relationships/slideMaster" Target="/ppt/slideMasters/slideMaster1.xml" Id="R6000f7043d274e3b" /><Relationship Type="http://schemas.openxmlformats.org/officeDocument/2006/relationships/notesMaster" Target="/ppt/notesMasters/notesMaster1.xml" Id="Reb44e6083b394c97" /><Relationship Type="http://schemas.openxmlformats.org/officeDocument/2006/relationships/presProps" Target="/ppt/presProps.xml" Id="Rda232975ce454edf" /><Relationship Type="http://schemas.openxmlformats.org/officeDocument/2006/relationships/tableStyles" Target="/ppt/tableStyles.xml" Id="R1185b4028f944d43" /><Relationship Type="http://schemas.openxmlformats.org/officeDocument/2006/relationships/slide" Target="/ppt/slides/slide1.xml" Id="Raaa9b4d35aba44d3" /><Relationship Type="http://schemas.openxmlformats.org/officeDocument/2006/relationships/slide" Target="/ppt/slides/slide2.xml" Id="Rce7ac51cd1494d4a" /><Relationship Type="http://schemas.openxmlformats.org/officeDocument/2006/relationships/slide" Target="/ppt/slides/slide3.xml" Id="Rc85d4a1299984223" /><Relationship Type="http://schemas.openxmlformats.org/officeDocument/2006/relationships/slide" Target="/ppt/slides/slide4.xml" Id="Rfe93944f36904324" /><Relationship Type="http://schemas.openxmlformats.org/officeDocument/2006/relationships/slide" Target="/ppt/slides/slide5.xml" Id="Rdbb0dcf5b16a40fa" /><Relationship Type="http://schemas.openxmlformats.org/officeDocument/2006/relationships/slide" Target="/ppt/slides/slide6.xml" Id="R49de45638c96418c" /><Relationship Type="http://schemas.openxmlformats.org/officeDocument/2006/relationships/slide" Target="/ppt/slides/slide7.xml" Id="Rbb95351c2b544b9b" /><Relationship Type="http://schemas.openxmlformats.org/officeDocument/2006/relationships/slide" Target="/ppt/slides/slide8.xml" Id="R308a10bd4af64490" /><Relationship Type="http://schemas.openxmlformats.org/officeDocument/2006/relationships/slide" Target="/ppt/slides/slide9.xml" Id="Rdc5a09b8aeee4d66" /><Relationship Type="http://schemas.openxmlformats.org/officeDocument/2006/relationships/slide" Target="/ppt/slides/slide10.xml" Id="R92c905c741464313" /><Relationship Type="http://schemas.openxmlformats.org/officeDocument/2006/relationships/slide" Target="/ppt/slides/slide11.xml" Id="R21efc54edde7453e" /><Relationship Type="http://schemas.openxmlformats.org/officeDocument/2006/relationships/slide" Target="/ppt/slides/slide12.xml" Id="R6dd2a0b0bbef48c7" /><Relationship Type="http://schemas.openxmlformats.org/officeDocument/2006/relationships/slide" Target="/ppt/slides/slide13.xml" Id="R887c21951da747cf" /><Relationship Type="http://schemas.openxmlformats.org/officeDocument/2006/relationships/slide" Target="/ppt/slides/slide14.xml" Id="R5aeb3ba84c8e468f" /><Relationship Type="http://schemas.openxmlformats.org/officeDocument/2006/relationships/slide" Target="/ppt/slides/slide15.xml" Id="Rc8920b9ae92245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071a72a49e4d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Enhancer research">
      <a:dk1>
        <a:srgbClr val="000000"/>
      </a:dk1>
      <a:lt1>
        <a:srgbClr val="FFFFFF"/>
      </a:lt1>
      <a:dk2>
        <a:srgbClr val="102A3B"/>
      </a:dk2>
      <a:lt2>
        <a:srgbClr val="DCECE8"/>
      </a:lt2>
      <a:accent1>
        <a:srgbClr val="007F7A"/>
      </a:accent1>
      <a:accent2>
        <a:srgbClr val="718DA0"/>
      </a:accent2>
      <a:accent3>
        <a:srgbClr val="9A5C12"/>
      </a:accent3>
      <a:accent4>
        <a:srgbClr val="6F5D86"/>
      </a:accent4>
      <a:accent5>
        <a:srgbClr val="5A7962"/>
      </a:accent5>
      <a:accent6>
        <a:srgbClr val="975B5F"/>
      </a:accent6>
      <a:hlink>
        <a:srgbClr val="007F7A"/>
      </a:hlink>
      <a:folHlink>
        <a:srgbClr val="6F5D86"/>
      </a:folHlink>
    </a:clrScheme>
    <a:fontScheme name="">
      <a:majorFont>
        <a:latin typeface="Helvetica Neue"/>
        <a:ea typeface=""/>
        <a:cs typeface=""/>
      </a:majorFont>
      <a:minorFont>
        <a:latin typeface="Helvetica Neue"/>
        <a:ea typeface=""/>
        <a:cs typeface=""/>
      </a:minorFont>
    </a:fontScheme>
    <a:fmtScheme name="Enhancer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12701eb8dc4882" /><Relationship Type="http://schemas.openxmlformats.org/officeDocument/2006/relationships/notesMaster" Target="/ppt/notesMasters/notesMaster1.xml" Id="R06b65c49b7124f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d1150bd64b4e1b" /><Relationship Type="http://schemas.openxmlformats.org/officeDocument/2006/relationships/notesMaster" Target="/ppt/notesMasters/notesMaster1.xml" Id="Rcc09ee289e284f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6814feef934239" /><Relationship Type="http://schemas.openxmlformats.org/officeDocument/2006/relationships/notesMaster" Target="/ppt/notesMasters/notesMaster1.xml" Id="Ra684c479d1864e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0a8a14ec13468a" /><Relationship Type="http://schemas.openxmlformats.org/officeDocument/2006/relationships/notesMaster" Target="/ppt/notesMasters/notesMaster1.xml" Id="R4178ca39a42d4d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c4f04fbf1e4b4c" /><Relationship Type="http://schemas.openxmlformats.org/officeDocument/2006/relationships/notesMaster" Target="/ppt/notesMasters/notesMaster1.xml" Id="Rf4107c0d419744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d69b027a41420a" /><Relationship Type="http://schemas.openxmlformats.org/officeDocument/2006/relationships/notesMaster" Target="/ppt/notesMasters/notesMaster1.xml" Id="R2b903fce479344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47575460a04a51" /><Relationship Type="http://schemas.openxmlformats.org/officeDocument/2006/relationships/notesMaster" Target="/ppt/notesMasters/notesMaster1.xml" Id="R421b573b77af4d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5ac5a0f319496e" /><Relationship Type="http://schemas.openxmlformats.org/officeDocument/2006/relationships/notesMaster" Target="/ppt/notesMasters/notesMaster1.xml" Id="Re030a96b3e354d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bbae31f7c84e6f" /><Relationship Type="http://schemas.openxmlformats.org/officeDocument/2006/relationships/notesMaster" Target="/ppt/notesMasters/notesMaster1.xml" Id="R926d2b4bf7be49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c329cec0ee4513" /><Relationship Type="http://schemas.openxmlformats.org/officeDocument/2006/relationships/notesMaster" Target="/ppt/notesMasters/notesMaster1.xml" Id="Rea69a2afe8684b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540a6bff9f4a19" /><Relationship Type="http://schemas.openxmlformats.org/officeDocument/2006/relationships/notesMaster" Target="/ppt/notesMasters/notesMaster1.xml" Id="R5092ec1917f94d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4e468a077242fa" /><Relationship Type="http://schemas.openxmlformats.org/officeDocument/2006/relationships/notesMaster" Target="/ppt/notesMasters/notesMaster1.xml" Id="R23b618f0912b44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526d555ac74bcd" /><Relationship Type="http://schemas.openxmlformats.org/officeDocument/2006/relationships/notesMaster" Target="/ppt/notesMasters/notesMaster1.xml" Id="R57a56b2383ed48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eb021274ad44b7" /><Relationship Type="http://schemas.openxmlformats.org/officeDocument/2006/relationships/notesMaster" Target="/ppt/notesMasters/notesMaster1.xml" Id="R6079fb039f1f4a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74353547cf4094" /><Relationship Type="http://schemas.openxmlformats.org/officeDocument/2006/relationships/notesMaster" Target="/ppt/notesMasters/notesMaster1.xml" Id="R4f3f73401d1149e4"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Today I’ll present the work we completed on iEnhancer-2L, a method that predicts enhancers from DNA sequence. We reconstructed the method from the publication and supplementary materials, evaluated it on the historical benchmark, and compared our predictions with the authors’ online tool.</a:t>
            </a:r>
          </a:p>
          <a:p>
            <a:r>
              <a:t/>
            </a:r>
          </a:p>
          <a:p>
            <a:r>
              <a:t>The main finding is that our benchmark accuracy is close to the published values, and our models agreed with the authors’ server on 192 of 200 additional inputs. I’ll explain how we obtained those results, what we learned from the differences, and what we still need to evaluate before comparing predictions with experimental activity.</a:t>
            </a:r>
          </a:p>
          <a:p>
            <a:r>
              <a:t/>
            </a:r>
          </a:p>
          <a:p>
            <a:r>
              <a:t>TRANSITION</a:t>
            </a:r>
          </a:p>
          <a:p>
            <a:r>
              <a:t/>
            </a:r>
          </a:p>
          <a:p>
            <a:r>
              <a:t>I’ll begin with the biological question and the scope of the work.</a:t>
            </a:r>
          </a:p>
          <a:p>
            <a:r>
              <a:t/>
            </a:r>
          </a:p>
          <a:p>
            <a:r>
              <a:t>BACKGROUND AND SOURCES</a:t>
            </a:r>
          </a:p>
          <a:p>
            <a:r>
              <a:t/>
            </a:r>
          </a:p>
          <a:p>
            <a:r>
              <a:t>This update summarizes the iEnhancer-2L work documented in the project through 20 October 2026. The project reconstructed the method from the paper and supplements, evaluated the historical benchmark under a new grouped design, and compared frozen model predictions with the authors’ public server. Planned independent evaluation and cell activity analyses remain separate from completed results. The two public pages matched the repository’s generated site when checked on 25 October 2026.</a:t>
            </a:r>
          </a:p>
          <a:p>
            <a:r>
              <a:t>Cover visual: the project website’s existing DNA helix poster.</a:t>
            </a:r>
          </a:p>
          <a:p>
            <a:r>
              <a:t/>
            </a:r>
          </a:p>
          <a:p>
            <a:r>
              <a:t>Sources</a:t>
            </a:r>
          </a:p>
          <a:p>
            <a:r>
              <a:t>1. https://venettov.github.io/EnhancersResearch/reproduce.html</a:t>
            </a:r>
          </a:p>
          <a:p>
            <a:r>
              <a:t>2. https://venettov.github.io/EnhancersResearch/methods.html</a:t>
            </a:r>
          </a:p>
          <a:p>
            <a:r>
              <a:t>3. https://github.com/Venettov/EnhancersResearch/blob/main/website/assets/dna-helix-loop-poster.jpg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Enhancers are DNA regions that can increase gene expression. A sequence can have different activity depending on the cell in which we test it. Our broader question is how much a model can learn from sequence alone, and how its predictions relate to measured activity.</a:t>
            </a:r>
          </a:p>
          <a:p>
            <a:r>
              <a:t/>
            </a:r>
          </a:p>
          <a:p>
            <a:r>
              <a:t>The work completed so far concerns the historical benchmark, feature comparisons, and agreement with the authors’ prediction server. The independent assay evaluation and the comparison across three cell types remain planned work.</a:t>
            </a:r>
          </a:p>
          <a:p>
            <a:r>
              <a:t/>
            </a:r>
          </a:p>
          <a:p>
            <a:r>
              <a:t>I use the word reconstruction because we implemented the method from the paper and supplements. We have not recovered a complete executable version of the original author code. That distinction matters when describing how closely our implementation reproduces the original method.</a:t>
            </a:r>
          </a:p>
          <a:p>
            <a:r>
              <a:t/>
            </a:r>
          </a:p>
          <a:p>
            <a:r>
              <a:t>TRANSITION</a:t>
            </a:r>
          </a:p>
          <a:p>
            <a:r>
              <a:t/>
            </a:r>
          </a:p>
          <a:p>
            <a:r>
              <a:t>The next slide shows the two prediction stages in the original paper.</a:t>
            </a:r>
          </a:p>
          <a:p>
            <a:r>
              <a:t/>
            </a:r>
          </a:p>
          <a:p>
            <a:r>
              <a:t>BACKGROUND AND SOURCES</a:t>
            </a:r>
          </a:p>
          <a:p>
            <a:r>
              <a:t/>
            </a:r>
          </a:p>
          <a:p>
            <a:r>
              <a:t>The distinction between classification of historical labels and experimental activity is central. iEnhancer-2L uses DNA sequence features to predict enhancer versus non-enhancer and, for enhancers, strong versus weak. The historical labels derive from pooled chromatin annotation rather than matched reporter measurements in HepG2, K562 and WTC11. This project has not established performance on independent experimental data. The author web tool is available, but its server-side code and exact model configuration have not been recovered as a complete executable source package. Later slides show close benchmark values and substantial server agreement without treating either as proof of exact reproduction.</a:t>
            </a:r>
          </a:p>
          <a:p>
            <a:r>
              <a:t/>
            </a:r>
          </a:p>
          <a:p>
            <a:r>
              <a:t>Sources</a:t>
            </a:r>
          </a:p>
          <a:p>
            <a:r>
              <a:t>1. https://doi.org/10.1093/bioinformatics/btv604</a:t>
            </a:r>
          </a:p>
          <a:p>
            <a:r>
              <a:t>2. https://venettov.github.io/EnhancersResearch/reproduce.html</a:t>
            </a:r>
          </a:p>
          <a:p>
            <a:r>
              <a:t>3. https://venettov.github.io/EnhancersResearch/methods.html</a:t>
            </a:r>
          </a:p>
          <a:p>
            <a:r>
              <a:t>4. https://venettov.github.io/EnhancersResearch/research.html#code-and-data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This is the authors’ original flowchart. The input is a DNA sequence of 200 bases. The first classifier, called Layer I, predicts whether that sequence is an enhancer or a non-enhancer.</a:t>
            </a:r>
          </a:p>
          <a:p>
            <a:r>
              <a:t/>
            </a:r>
          </a:p>
          <a:p>
            <a:r>
              <a:t>If Layer I predicts an enhancer, the sequence continues to Layer II, which predicts strong or weak. A non-enhancer prediction stops after Layer I. The two layers therefore answer different questions and use different training labels.</a:t>
            </a:r>
          </a:p>
          <a:p>
            <a:r>
              <a:t/>
            </a:r>
          </a:p>
          <a:p>
            <a:r>
              <a:t>The strong and weak categories come from the historical benchmark. They do not directly tell us how active the sequence would be in HepG2, K562, or WTC11. We need a separate comparison with experimental measurements to answer that question.</a:t>
            </a:r>
          </a:p>
          <a:p>
            <a:r>
              <a:t/>
            </a:r>
          </a:p>
          <a:p>
            <a:r>
              <a:t>TRANSITION</a:t>
            </a:r>
          </a:p>
          <a:p>
            <a:r>
              <a:t/>
            </a:r>
          </a:p>
          <a:p>
            <a:r>
              <a:t>I’ll now explain the software and sequence features we used to reconstruct this process.</a:t>
            </a:r>
          </a:p>
          <a:p>
            <a:r>
              <a:t/>
            </a:r>
          </a:p>
          <a:p>
            <a:r>
              <a:t>BACKGROUND AND SOURCES</a:t>
            </a:r>
          </a:p>
          <a:p>
            <a:r>
              <a:t/>
            </a:r>
          </a:p>
          <a:p>
            <a:r>
              <a:t>Figure 3 reproduces the authors’ original two-layer architecture without redrawing or modifying the source image. Liu et al., iEnhancer-2L: a two-layer predictor for identifying enhancers and their strength by pseudo k-tuple nucleotide composition, Bioinformatics 32(3), 362–369 (2016). Figure 3 is on page 365. Copyright The Author 2015, published by Oxford University Press. Figure provenance is recorded in the project.</a:t>
            </a:r>
          </a:p>
          <a:p>
            <a:r>
              <a:t>Layer I uses the full benchmark. Layer II learns strong versus weak from known enhancers, and operational predictions apply it only when Layer I calls the query an enhancer. The strength categories reflect the original benchmark and are not direct measurements of activity in the three later cell types.</a:t>
            </a:r>
          </a:p>
          <a:p>
            <a:r>
              <a:t/>
            </a:r>
          </a:p>
          <a:p>
            <a:r>
              <a:t>Sources</a:t>
            </a:r>
          </a:p>
          <a:p>
            <a:r>
              <a:t>1. https://doi.org/10.1093/bioinformatics/btv604</a:t>
            </a:r>
          </a:p>
          <a:p>
            <a:r>
              <a:t>2. https://venettov.github.io/EnhancersResearch/methods.html#method-diagrams</a:t>
            </a:r>
          </a:p>
          <a:p>
            <a:r>
              <a:t>3. https://venettov.github.io/EnhancersResearch/data/ienhancer_2l_diagrams_provenance.json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Python coordinates the analysis. We first check the input sequences, their lengths, and their labels. We then use NumPy to turn each sequence into a numerical description that a classifier can process.</a:t>
            </a:r>
          </a:p>
          <a:p>
            <a:r>
              <a:t/>
            </a:r>
          </a:p>
          <a:p>
            <a:r>
              <a:t>That description contains 4,096 possible six-base DNA words, also called 6-mers, plus nine summaries derived from fixed dinucleotide properties in the supplement. Together, these give 4,105 features per sequence. The structural terms are calculated from the sequence and a property table. We did not measure the physical structure of each DNA fragment.</a:t>
            </a:r>
          </a:p>
          <a:p>
            <a:r>
              <a:t/>
            </a:r>
          </a:p>
          <a:p>
            <a:r>
              <a:t>RapidFuzz helps identify similar sequences, and the genome records help identify nearby loci. For prediction, scikit-learn uses the LIBSVM solver. Our support vector machine uses an RBF kernel, which compares sequences through similarities between their feature vectors. The linked methods guide provides the commands and code files.</a:t>
            </a:r>
          </a:p>
          <a:p>
            <a:r>
              <a:t/>
            </a:r>
          </a:p>
          <a:p>
            <a:r>
              <a:t>TRANSITION</a:t>
            </a:r>
          </a:p>
          <a:p>
            <a:r>
              <a:t/>
            </a:r>
          </a:p>
          <a:p>
            <a:r>
              <a:t>The next issue is how to evaluate those models without allowing related sequences to cross between training and evaluation.</a:t>
            </a:r>
          </a:p>
          <a:p>
            <a:r>
              <a:t/>
            </a:r>
          </a:p>
          <a:p>
            <a:r>
              <a:t>BACKGROUND AND SOURCES</a:t>
            </a:r>
          </a:p>
          <a:p>
            <a:r>
              <a:t/>
            </a:r>
          </a:p>
          <a:p>
            <a:r>
              <a:t>Software sequence: prepare_data.py validates S1 FASTA and labels. features.py and properties_s2.json implement the paper’s PseKNC equations. The primary interpretation counts overlapping 6-mers and computes nine lag summaries using six normalized dinucleotide properties from Supplementary Table S2. It combines these 4,096 frequencies and 9 summaries with weight w=0.1 for Layer I and w=0.4 for Layer II. k=6 and lambda=9.</a:t>
            </a:r>
          </a:p>
          <a:p>
            <a:r>
              <a:t>NumPy stores numeric arrays. SciPy supports scientific computation. RapidFuzz supplies global edit-distance comparisons in either DNA orientation. Reference receipts support hg19 coordinate verification. scikit-learn SVC calls the LIBSVM solver with an RBF kernel. An SVM separates classes using similarities between feature vectors. The RBF kernel makes nearby feature vectors more similar. C sets the training error penalty and gamma controls the local reach of the kernel. VS Code is an optional editor and Git records versions, neither performs the prediction itself.</a:t>
            </a:r>
          </a:p>
          <a:p>
            <a:r>
              <a:t>The local Python environment recorded Python 3.14.3, NumPy 2.5.4, SciPy 1.18.1, scikit-learn 1.9.1 and RapidFuzz 3.14.6. The folder also includes JSON protocols, tests, saved fold predictions, numeric model archives and audits. See the methods page for commands and exact fresh-clone prerequisites. Later comparison summaries are public, but complete local comparison runs have additional saved-file dependencies.</a:t>
            </a:r>
          </a:p>
          <a:p>
            <a:r>
              <a:t/>
            </a:r>
          </a:p>
          <a:p>
            <a:r>
              <a:t>Sources</a:t>
            </a:r>
          </a:p>
          <a:p>
            <a:r>
              <a:t>1. https://venettov.github.io/EnhancersResearch/methods.html</a:t>
            </a:r>
          </a:p>
          <a:p>
            <a:r>
              <a:t>2. https://github.com/Venettov/EnhancersResearch/tree/main/replication/ienhancer_2l</a:t>
            </a:r>
          </a:p>
          <a:p>
            <a:r>
              <a:t>3. https://github.com/Venettov/EnhancersResearch/blob/main/replication/ienhancer_2l/features.py</a:t>
            </a:r>
          </a:p>
          <a:p>
            <a:r>
              <a:t>4. https://github.com/Venettov/EnhancersResearch/blob/main/replication/ienhancer_2l/train_svm.py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The training benchmark contains 2,968 sequences. Half are non-enhancers, and the other half split equally into strong and weak enhancers. We placed related sequences into 2,451 groups and kept each group together during evaluation.</a:t>
            </a:r>
          </a:p>
          <a:p>
            <a:r>
              <a:t/>
            </a:r>
          </a:p>
          <a:p>
            <a:r>
              <a:t>We used five outer folds to estimate performance on held-out groups. Within each outer training set, three inner folds selected model settings. In practical terms, the records used to evaluate a model did not participate in its fitting or tuning.</a:t>
            </a:r>
          </a:p>
          <a:p>
            <a:r>
              <a:t/>
            </a:r>
          </a:p>
          <a:p>
            <a:r>
              <a:t>We also found that 100 of the 400 records in the separate historical test set already appeared in training. We excluded that test set from these evaluations. Finally, we saved the held-out predictions and fitted separate full-data models for later queries. Those final models are distinct from the models that produced the held-out performance estimates.</a:t>
            </a:r>
          </a:p>
          <a:p>
            <a:r>
              <a:t/>
            </a:r>
          </a:p>
          <a:p>
            <a:r>
              <a:t>TRANSITION</a:t>
            </a:r>
          </a:p>
          <a:p>
            <a:r>
              <a:t/>
            </a:r>
          </a:p>
          <a:p>
            <a:r>
              <a:t>With that evaluation design in place, we can compare our initial results with the published values.</a:t>
            </a:r>
          </a:p>
          <a:p>
            <a:r>
              <a:t/>
            </a:r>
          </a:p>
          <a:p>
            <a:r>
              <a:t>BACKGROUND AND SOURCES</a:t>
            </a:r>
          </a:p>
          <a:p>
            <a:r>
              <a:t/>
            </a:r>
          </a:p>
          <a:p>
            <a:r>
              <a:t>The 2,968 training records comprise 742 strong enhancers, 742 weak enhancers and 1,484 non-enhancers. All reference intervals were checked against hg19. Project grouping connects records if their genomic intervals overlap or lie at most 1,000 bases apart on one chromosome, or if their 200-base sequences differ by at most 40 global edits in either orientation. Connected groups remain together in five outer evaluation folds and three inner tuning folds, seed 42. These thresholds are this project’s choices. They address specified leakage risks without proving complete biological independence.</a:t>
            </a:r>
          </a:p>
          <a:p>
            <a:r>
              <a:t>Each outer-fold prediction comes from a model that excluded that record’s entire group from fitting and tuning. Any scaler uses only relevant training data. The reported values average the five outer folds. Layer II evaluation includes the 1,484 known enhancers, rather than the complete operational cascade.</a:t>
            </a:r>
          </a:p>
          <a:p>
            <a:r>
              <a:t>Separate full-data final models use training-only five-fold selection and all eligible training records for fitting. They do not provide the held-out performance estimates. The saved final models use C=32768, gamma=0.0078125 for Layer I and C=2048, gamma=2 for Layer II. Layer I reaches the C search boundary, a retained limitation.</a:t>
            </a:r>
          </a:p>
          <a:p>
            <a:r>
              <a:t>The separate historical 400-record test has 100 exact training overlaps, all strong enhancers. It is excluded from these evaluations. The paper’s reported jackknife/leave-one-out evaluation differs from the project’s grouped nested design.</a:t>
            </a:r>
          </a:p>
          <a:p>
            <a:r>
              <a:t/>
            </a:r>
          </a:p>
          <a:p>
            <a:r>
              <a:t>Sources</a:t>
            </a:r>
          </a:p>
          <a:p>
            <a:r>
              <a:t>1. https://venettov.github.io/EnhancersResearch/methods.html#step-5</a:t>
            </a:r>
          </a:p>
          <a:p>
            <a:r>
              <a:t>2. https://github.com/Venettov/EnhancersResearch/blob/main/replication/ienhancer_2l/evaluation_policy.json</a:t>
            </a:r>
          </a:p>
          <a:p>
            <a:r>
              <a:t>3. https://github.com/Venettov/EnhancersResearch/blob/main/replication/ienhancer_2l/checkpoints/2026-10-13-svm-training/training_audit.json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The authors reported 76.89 percent accuracy for enhancer identification and 61.93 percent for strength classification. Our corresponding values were 76.21 and 60.98 percent. The results are numerically close, and enhancer identification performs better than strength classification in our benchmark.</a:t>
            </a:r>
          </a:p>
          <a:p>
            <a:r>
              <a:t/>
            </a:r>
          </a:p>
          <a:p>
            <a:r>
              <a:t>Our evaluation kept related sequences together and used nested tuning. The paper reported leave-one-out evaluation. Because those procedures differ, numerical similarity alone cannot establish exact reproduction. Also, the Layer-II result evaluates strong versus weak among known enhancers. It does not describe the accuracy of the complete cascade.</a:t>
            </a:r>
          </a:p>
          <a:p>
            <a:r>
              <a:t/>
            </a:r>
          </a:p>
          <a:p>
            <a:r>
              <a:t>ROC AUC measures how well scores rank positive examples above negative examples across possible cutoffs. A value of 0.5 represents chance ranking and 1.0 represents perfect ranking. Our values were about 0.84 and 0.67. MCC is another summary of classification performance that considers all parts of the confusion table.</a:t>
            </a:r>
          </a:p>
          <a:p>
            <a:r>
              <a:t/>
            </a:r>
          </a:p>
          <a:p>
            <a:r>
              <a:t>TRANSITION</a:t>
            </a:r>
          </a:p>
          <a:p>
            <a:r>
              <a:t/>
            </a:r>
          </a:p>
          <a:p>
            <a:r>
              <a:t>We then examined whether the structural summaries added useful information beyond ordinary DNA-word counts.</a:t>
            </a:r>
          </a:p>
          <a:p>
            <a:r>
              <a:t/>
            </a:r>
          </a:p>
          <a:p>
            <a:r>
              <a:t>BACKGROUND AND SOURCES</a:t>
            </a:r>
          </a:p>
          <a:p>
            <a:r>
              <a:t/>
            </a:r>
          </a:p>
          <a:p>
            <a:r>
              <a:t>Published Table 1 reports iEnhancer-2L accuracy of 76.89% for enhancer identification and 61.93% for enhancer strength. Our predeclared primary reconstruction reports five-fold mean accuracies 76.2125470557% and 60.9839384839%, respectively. Exact reproduction remains unresolved because our evaluation design and some implementation choices differ.</a:t>
            </a:r>
          </a:p>
          <a:p>
            <a:r>
              <a:t>Our ROC AUC values are 0.8411643431 and 0.6676574044. ROC AUC summarizes how well scores rank positive above negative examples over possible cutoffs. It is not the fraction of correct class predictions. AUC is averaged within folds, rather than ranking scores across separately fitted models. MCC, the Matthews correlation coefficient, summarizes the confusion table on a scale from -1 to 1, with 0 indicating no useful correlation.</a:t>
            </a:r>
          </a:p>
          <a:p>
            <a:r>
              <a:t>Conditional 95% mean-accuracy intervals are 74.64–77.90% for Layer I and 58.38–63.73% for Layer II, using 1,000 whole-group bootstrap resamples within fixed folds and fixed fitted models. They do not include every source of model-selection uncertainty. Layer II is evaluated on known enhancers and does not represent full cascade accuracy.</a:t>
            </a:r>
          </a:p>
          <a:p>
            <a:r>
              <a:t>Chart values round to two decimal places. The cited CSV preserves full precision. All numbers represent the historical benchmark, with no independent experimental result.</a:t>
            </a:r>
          </a:p>
          <a:p>
            <a:r>
              <a:t/>
            </a:r>
          </a:p>
          <a:p>
            <a:r>
              <a:t>Sources</a:t>
            </a:r>
          </a:p>
          <a:p>
            <a:r>
              <a:t>1. https://doi.org/10.1093/bioinformatics/btv604</a:t>
            </a:r>
          </a:p>
          <a:p>
            <a:r>
              <a:t>2. https://venettov.github.io/EnhancersResearch/reproduce.html#training-results</a:t>
            </a:r>
          </a:p>
          <a:p>
            <a:r>
              <a:t>3. https://venettov.github.io/EnhancersResearch/data/ienhancer_2l_comparison_summary.csv</a:t>
            </a:r>
          </a:p>
          <a:p>
            <a:r>
              <a:t>4. https://github.com/Venettov/EnhancersResearch/blob/main/replication/ienhancer_2l/checkpoints/2026-10-13-svm-training/training_audit.json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This comparison focuses on strength classification. Ordinary six-base word counts reached 62.80 percent accuracy. Adding structural summaries with training-only block balancing reached 63.14 percent. The balanced full PseKNC version reached 61.19 percent.</a:t>
            </a:r>
          </a:p>
          <a:p>
            <a:r>
              <a:t/>
            </a:r>
          </a:p>
          <a:p>
            <a:r>
              <a:t>Block balancing changes the relative influence of the word features and structural features using training data only. We also adjusted the parameter search for feature scale, so differences in numerical scale would receive more careful treatment.</a:t>
            </a:r>
          </a:p>
          <a:p>
            <a:r>
              <a:t/>
            </a:r>
          </a:p>
          <a:p>
            <a:r>
              <a:t>The improvement from balanced words plus structure over words alone was only 0.34 percentage points. Its conditional 95 percent interval extends from about minus 1.86 to plus 2.57 points, so these results do not establish a clear added benefit. These comparisons reuse an already examined benchmark and remain exploratory. We have retained the original primary model for the planned independent evaluation.</a:t>
            </a:r>
          </a:p>
          <a:p>
            <a:r>
              <a:t/>
            </a:r>
          </a:p>
          <a:p>
            <a:r>
              <a:t>TRANSITION</a:t>
            </a:r>
          </a:p>
          <a:p>
            <a:r>
              <a:t/>
            </a:r>
          </a:p>
          <a:p>
            <a:r>
              <a:t>We also checked how our frozen models behaved on the same inputs as the authors’ public server.</a:t>
            </a:r>
          </a:p>
          <a:p>
            <a:r>
              <a:t/>
            </a:r>
          </a:p>
          <a:p>
            <a:r>
              <a:t>BACKGROUND AND SOURCES</a:t>
            </a:r>
          </a:p>
          <a:p>
            <a:r>
              <a:t/>
            </a:r>
          </a:p>
          <a:p>
            <a:r>
              <a:t>The latest comparison separates ordinary DNA-word frequencies, structural terms and the PseKNC denominator’s rescaling. It uses training-only block balance and scale-aware parameter searches under the grouped evaluation design.</a:t>
            </a:r>
          </a:p>
          <a:p>
            <a:r>
              <a:t>Layer-II mean accuracy is 62.80098280098% for ordinary 6-mers, 63.13950313950% for balanced words plus structural terms and 61.18686868687% for balanced full PseKNC. The paired balanced-terms-minus-words contrast is +0.3385203385 percentage points, with a conditional 95% interval of -1.8624970019 to +2.5748240927 points. Layer-II AUC is 0.6800304930 for words and 0.6800043264 for balanced words plus structure. These findings do not establish a reliable added benefit for structural summaries.</a:t>
            </a:r>
          </a:p>
          <a:p>
            <a:r>
              <a:t>Intervals use 1,000 whole-group resamples with folds and fitted models held fixed. They are exploratory pointwise intervals without adjustment for the many comparisons. The earlier first ordinary-6-mer comparison reached 63.68%, but it used a different search design, so it is not mixed into this latest controlled comparison. None of these exploratory feature comparisons replaces the primary frozen model for the planned external test. The appendix gives all six latest configurations.</a:t>
            </a:r>
          </a:p>
          <a:p>
            <a:r>
              <a:t/>
            </a:r>
          </a:p>
          <a:p>
            <a:r>
              <a:t>Sources</a:t>
            </a:r>
          </a:p>
          <a:p>
            <a:r>
              <a:t>1. https://venettov.github.io/EnhancersResearch/reproduce.html#block-results</a:t>
            </a:r>
          </a:p>
          <a:p>
            <a:r>
              <a:t>2. https://venettov.github.io/EnhancersResearch/data/ienhancer_2l_blocks_summary.csv</a:t>
            </a:r>
          </a:p>
          <a:p>
            <a:r>
              <a:t>3. https://venettov.github.io/EnhancersResearch/data/ienhancer_2l_blocks_contrasts.csv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We submitted 200 additional inputs to the authors’ online tool and compared its returned classes with our frozen local models. Our predictions matched on 192 inputs, giving 96 percent agreement. We did not retrain the models or adjust thresholds to improve that agreement.</a:t>
            </a:r>
          </a:p>
          <a:p>
            <a:r>
              <a:t/>
            </a:r>
          </a:p>
          <a:p>
            <a:r>
              <a:t>The table shows where the calls matched and differed. Rows represent the authors’ classes, and columns represent ours. The diagonal contains the 192 agreements. The other eight calls differ between strong, weak, and non-enhancer.</a:t>
            </a:r>
          </a:p>
          <a:p>
            <a:r>
              <a:t/>
            </a:r>
          </a:p>
          <a:p>
            <a:r>
              <a:t>These inputs included 185 HepG2 candidate designs and 15 promoters. They passed our specified checks against exact and close training matches, although those checks do not prove complete biological independence. We compared predictions without using experimental activity measurements. The 96 percent value therefore measures agreement between implementations. It does not establish biological accuracy on these sequences.</a:t>
            </a:r>
          </a:p>
          <a:p>
            <a:r>
              <a:t/>
            </a:r>
          </a:p>
          <a:p>
            <a:r>
              <a:t>TRANSITION</a:t>
            </a:r>
          </a:p>
          <a:p>
            <a:r>
              <a:t/>
            </a:r>
          </a:p>
          <a:p>
            <a:r>
              <a:t>The eight disagreements gave us a focused set of cases to investigate.</a:t>
            </a:r>
          </a:p>
          <a:p>
            <a:r>
              <a:t/>
            </a:r>
          </a:p>
          <a:p>
            <a:r>
              <a:t>BACKGROUND AND SOURCES</a:t>
            </a:r>
          </a:p>
          <a:p>
            <a:r>
              <a:t/>
            </a:r>
          </a:p>
          <a:p>
            <a:r>
              <a:t>The 200-sequence sample came from the designed lentiMPRA library in Table S10 of Agarwal, Inoue et al., Nature (2025). It contained 185 HepG2 candidate enhancer designs and 15 promoters. Sequence selection and exclusion rules were fixed before obtaining author-server predictions. Experimental activity measurements were not used in this comparison.</a:t>
            </a:r>
          </a:p>
          <a:p>
            <a:r>
              <a:t>Frozen final local models agreed with the authors’ public iEnhancer-2L tool on 192/200 queries, or 96%. The matrix contains three classes. Author strong: local strong 78, weak 3, non-enhancer 2. Author weak: local strong 0, weak 70, non-enhancer 3. Author non-enhancer: local strong 0, weak 0, non-enhancer 44. All eight mismatches are retained. There was no model retraining, threshold change or parameter search to improve agreement.</a:t>
            </a:r>
          </a:p>
          <a:p>
            <a:r>
              <a:t>Against the known 2,968 training sequences, the sample had no exact or reverse-complement matches and no pairs within 40 edits in either orientation. The observed minimum edit distance was 55 and the nearest annotated training-locus gap was 10,823 bases. Similarity and locus exclusions also applied within the sample. These finite checks do not prove complete biological independence, and the test was not an activity evaluation.</a:t>
            </a:r>
          </a:p>
          <a:p>
            <a:r>
              <a:t>An earlier public-example check matched 13/13 returned 200-base windows, but four windows were exact training matches. Those examples are a functional check with less evidentiary weight than the new 200-query comparison.</a:t>
            </a:r>
          </a:p>
          <a:p>
            <a:r>
              <a:t/>
            </a:r>
          </a:p>
          <a:p>
            <a:r>
              <a:t>Sources</a:t>
            </a:r>
          </a:p>
          <a:p>
            <a:r>
              <a:t>1. https://bliulab.net/iEnhancer-2L/</a:t>
            </a:r>
          </a:p>
          <a:p>
            <a:r>
              <a:t>2. https://venettov.github.io/EnhancersResearch/reproduce.html#author-server-larger</a:t>
            </a:r>
          </a:p>
          <a:p>
            <a:r>
              <a:t>3. https://venettov.github.io/EnhancersResearch/data/ienhancer_2l_server_200_evidence.json</a:t>
            </a:r>
          </a:p>
          <a:p>
            <a:r>
              <a:t>4. https://venettov.github.io/EnhancersResearch/data/ienhancer_2l_server_200_comparison.csv</a:t>
            </a:r>
          </a:p>
          <a:p>
            <a:r>
              <a:t>5. https://doi.org/10.1038/s41586-024-08430-9</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All eight differences occurred close to a decision boundary in our local models. Five arose at Layer I, and all five ranked among the eight scores closest to zero across the 200 inputs. The other three arose at Layer II and ranked among its four closest scores across the 151 inputs that our first layer called enhancers.</a:t>
            </a:r>
          </a:p>
          <a:p>
            <a:r>
              <a:t/>
            </a:r>
          </a:p>
          <a:p>
            <a:r>
              <a:t>A score near zero places a sequence close to that classifier’s cutoff. Small implementation differences can potentially change such a call. Our numerical replay checks retained the original predictions.</a:t>
            </a:r>
          </a:p>
          <a:p>
            <a:r>
              <a:t/>
            </a:r>
          </a:p>
          <a:p>
            <a:r>
              <a:t>One feature perturbation did change a case. Using the printed, rounded property values from the supplement switched one local prediction from weak to strong, matching the server for that input. The remaining seven differences persisted. This demonstrates sensitivity of one local decision. We still cannot verify the exact cause of the differences or the convention used by the authors.</a:t>
            </a:r>
          </a:p>
          <a:p>
            <a:r>
              <a:t/>
            </a:r>
          </a:p>
          <a:p>
            <a:r>
              <a:t>TRANSITION</a:t>
            </a:r>
          </a:p>
          <a:p>
            <a:r>
              <a:t/>
            </a:r>
          </a:p>
          <a:p>
            <a:r>
              <a:t>The next stage is to test a frozen model against independent experimental labels.</a:t>
            </a:r>
          </a:p>
          <a:p>
            <a:r>
              <a:t/>
            </a:r>
          </a:p>
          <a:p>
            <a:r>
              <a:t>BACKGROUND AND SOURCES</a:t>
            </a:r>
          </a:p>
          <a:p>
            <a:r>
              <a:t/>
            </a:r>
          </a:p>
          <a:p>
            <a:r>
              <a:t>Five of the eight final-class disagreements arose at Layer I and all five ranked among the eight smallest absolute Layer-I scores in the 200-input sample. The other three arose at Layer II and ranked among its four smallest absolute scores among the 151 inputs that our Layer I called enhancers. A decision score of zero is the local classification boundary. Scores near zero indicate proximity to that model’s boundary, not a calibrated probability or measured biological activity. Scores from Layer I and II have different scales and are not directly comparable.</a:t>
            </a:r>
          </a:p>
          <a:p>
            <a:r>
              <a:t>Independent feature and SVM replay checked both layers for all eight inputs, 16 checks, without changing the predicted signs. A float32 input perturbation also retained all 200 final classes. These findings reduce the likelihood of an obvious numeric replay problem without proving agreement with the authors’ implementation.</a:t>
            </a:r>
          </a:p>
          <a:p>
            <a:r>
              <a:t>Replacing recomputed S2 normalization with the printed rounded normalized property values changed probe_0147 from -0.001241 to +0.001570 at Layer II and switched weak to strong, which matched the author call for that case. The other seven disagreements persisted. This was a feature-input perturbation using the same fitted support vectors, not a complete alternative training run. It does not show that the authors used that convention. Other input conventions lost many existing matches, so no post hoc variant was adopted as the recovered author model.</a:t>
            </a:r>
          </a:p>
          <a:p>
            <a:r>
              <a:t/>
            </a:r>
          </a:p>
          <a:p>
            <a:r>
              <a:t>Sources</a:t>
            </a:r>
          </a:p>
          <a:p>
            <a:r>
              <a:t>1. https://venettov.github.io/EnhancersResearch/reproduce.html#author-server-disagreements</a:t>
            </a:r>
          </a:p>
          <a:p>
            <a:r>
              <a:t>2. https://venettov.github.io/EnhancersResearch/data/ienhancer_2l_disagreement_cases.csv</a:t>
            </a:r>
          </a:p>
          <a:p>
            <a:r>
              <a:t>3. https://venettov.github.io/EnhancersResearch/data/ienhancer_2l_disagreement_evidence.json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We have defined a plan for an independent evaluation, but the cohort checks remain pending and we have not run the VISTA score-versus-label evaluation.</a:t>
            </a:r>
          </a:p>
          <a:p>
            <a:r>
              <a:t/>
            </a:r>
          </a:p>
          <a:p>
            <a:r>
              <a:t>The proposed data are human DNA fragments tested in mouse embryos through the VISTA reporter assay. The question is whether our frozen Layer-I score ranks fragments with observed activity above assay-negative fragments. This would examine transfer to a different experimental setting.</a:t>
            </a:r>
          </a:p>
          <a:p>
            <a:r>
              <a:t/>
            </a:r>
          </a:p>
          <a:p>
            <a:r>
              <a:t>Before scoring the cohort, we need to verify sequence and coordinate provenance, exclude related training and previously examined sequences, and reserve the later cell-study designs. For longer fragments, the protocol already specifies how to generate 200-base windows and combine their scores.</a:t>
            </a:r>
          </a:p>
          <a:p>
            <a:r>
              <a:t/>
            </a:r>
          </a:p>
          <a:p>
            <a:r>
              <a:t>VISTA provides activity labels for this assay. It cannot validate the historical strong-versus-weak categories, so this planned test concerns Layer I rather than the full cascade.</a:t>
            </a:r>
          </a:p>
          <a:p>
            <a:r>
              <a:t/>
            </a:r>
          </a:p>
          <a:p>
            <a:r>
              <a:t>TRANSITION</a:t>
            </a:r>
          </a:p>
          <a:p>
            <a:r>
              <a:t/>
            </a:r>
          </a:p>
          <a:p>
            <a:r>
              <a:t>A separate later study will examine activity in the three human cell types.</a:t>
            </a:r>
          </a:p>
          <a:p>
            <a:r>
              <a:t/>
            </a:r>
          </a:p>
          <a:p>
            <a:r>
              <a:t>BACKGROUND AND SOURCES</a:t>
            </a:r>
          </a:p>
          <a:p>
            <a:r>
              <a:t/>
            </a:r>
          </a:p>
          <a:p>
            <a:r>
              <a:t>This is the separate local iEnhancer-2L evaluation protocol defined on 20 October 2026. Its status is design_defined_external_cohort_not_verified_evaluation_not_run. Model fits: zero. External predictions: zero. Independence verified: false. This local plan is newer than the published results page and is not reported as a completed result.</a:t>
            </a:r>
          </a:p>
          <a:p>
            <a:r>
              <a:t>The proposed cohort uses human reference allele 0 VISTA fragments, stage e11.5, hZR Hsp68/lacZ random-integration reporter experiments in mouse embryos, with curated positive and negative records. A negative means the assay’s positive curation criteria were not met, rather than inactivity in every tissue. This assay tests a different biological setting from the historical chromatin labels and later cell-line measurements.</a:t>
            </a:r>
          </a:p>
          <a:p>
            <a:r>
              <a:t>The primary model is the original frozen Layer-I PseKNC reconstruction with 4,105 features and w=0.1. No external examples enter model fitting, scaling, threshold selection or model replacement. The plan verifies hg38/hg19 sequence and coordinate provenance, screens exact and near sequence similarity in both orientations, groups related genomic families, removes previously examined examples, and reserves all 60,000 S10 design inserts for the later study. These gates are pending.</a:t>
            </a:r>
          </a:p>
          <a:p>
            <a:r>
              <a:t>For longer VISTA fragments, the protocol fixes 200-base windows every 50 bases plus the terminal window and one maximum Layer-I score per fragment. The primary endpoint is fragment-level ROC AUC with whole-family bootstrap uncertainty. VISTA activity cannot validate the strong/weak labels or full cascade. The prior feasibility count of 1,847 fragments is not a certified cohort size for this evaluation and is intentionally omitted from the slide. Public labels and earlier aggregate VISTA checks had already been inspected, so the study is not blinded or registered before all exposure.</a:t>
            </a:r>
          </a:p>
          <a:p>
            <a:r>
              <a:t/>
            </a:r>
          </a:p>
          <a:p>
            <a:r>
              <a:t>Sources</a:t>
            </a:r>
          </a:p>
          <a:p>
            <a:r>
              <a:t>1. https://doi.org/10.1093/nar/gkae940</a:t>
            </a:r>
          </a:p>
          <a:p>
            <a:r>
              <a:t>2. https://enhancer.lbl.gov/vista/</a:t>
            </a:r>
          </a:p>
          <a:p>
            <a:r>
              <a:t>3. /Users/andreruiz/CCIB/EnhancersResearch/reports/04_ienhancer_2l_independent_evaluation.md</a:t>
            </a:r>
          </a:p>
          <a:p>
            <a:r>
              <a:t>4. /Users/andreruiz/CCIB/EnhancersResearch/replication/ienhancer_2l/independent_evaluation/protocol.json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We chose these three cell types because Agarwal, Inoue and colleagues tested the same designed library in all three. That gives us matched DNA sequences across HepG2 liver cancer cells, K562 leukemia cells, and WTC11 induced pluripotent stem cells.</a:t>
            </a:r>
          </a:p>
          <a:p>
            <a:r>
              <a:t/>
            </a:r>
          </a:p>
          <a:p>
            <a:r>
              <a:t>The study uses lentiMPRA, a reporter assay that measures the activity of many DNA inserts through their RNA relative to DNA abundance. This allows us to compare sequence predictions with measured activity across cellular settings.</a:t>
            </a:r>
          </a:p>
          <a:p>
            <a:r>
              <a:t/>
            </a:r>
          </a:p>
          <a:p>
            <a:r>
              <a:t>Our current model uses DNA sequence alone, so it gives the same sequence the same score in every cell. We can ask whether that score relates to activity differently in each cell type. We cannot claim that the current model itself produces cell-specific predictions. We still need to validate the measurement processing, sequence matching, and analysis rules before making this comparison.</a:t>
            </a:r>
          </a:p>
          <a:p>
            <a:r>
              <a:t/>
            </a:r>
          </a:p>
          <a:p>
            <a:r>
              <a:t>TRANSITION</a:t>
            </a:r>
          </a:p>
          <a:p>
            <a:r>
              <a:t/>
            </a:r>
          </a:p>
          <a:p>
            <a:r>
              <a:t>These findings and remaining checks define the next research priorities.</a:t>
            </a:r>
          </a:p>
          <a:p>
            <a:r>
              <a:t/>
            </a:r>
          </a:p>
          <a:p>
            <a:r>
              <a:t>BACKGROUND AND SOURCES</a:t>
            </a:r>
          </a:p>
          <a:p>
            <a:r>
              <a:t/>
            </a:r>
          </a:p>
          <a:p>
            <a:r>
              <a:t>The reason for these three cell types is the available matched experiment, rather than a requirement of the original iEnhancer-2L paper. Agarwal, Inoue, Schubach et al. reported massively parallel characterization of transcriptional regulatory elements in Nature 639, 411–420 (2025), doi:10.1038/s41586-024-08430-9. The designed lentiMPRA library of 60,000 constructs was tested in HepG2, K562 and WTC11. The shared designs permit a matched analysis across cell contexts.</a:t>
            </a:r>
          </a:p>
          <a:p>
            <a:r>
              <a:t>HepG2 is a liver cancer cell line, K562 a blood leukemia cell line and WTC11 an induced pluripotent stem cell line. lentiMPRA is a lentiviral massively parallel reporter assay, which measures activity of many DNA inserts through RNA relative to DNA abundance. Historical iEnhancer-2L predictions are sequence-based classes, not cell-specific activity measurements.</a:t>
            </a:r>
          </a:p>
          <a:p>
            <a:r>
              <a:t>This comparison has not been completed. Before joining scores to activity, the project must define and validate insert extraction, construct and control IDs, normalization, replicate aggregation, coverage criteria, exclusions and related-family handling. The separate VISTA protocol reserves these S10 designs. Numeric activity or specificity reconstruction remains unresolved in the existing QC, so the presentation reports no association result in these cells. The future question concerns score–activity association within cells and differences across contexts, not equivalence of historical strong/weak labels to reporter activity.</a:t>
            </a:r>
          </a:p>
          <a:p>
            <a:r>
              <a:t/>
            </a:r>
          </a:p>
          <a:p>
            <a:r>
              <a:t>Sources</a:t>
            </a:r>
          </a:p>
          <a:p>
            <a:r>
              <a:t>1. https://doi.org/10.1038/s41586-024-08430-9</a:t>
            </a:r>
          </a:p>
          <a:p>
            <a:r>
              <a:t>2. https://venettov.github.io/EnhancersResearch/research.html</a:t>
            </a:r>
          </a:p>
          <a:p>
            <a:r>
              <a:t>3. /Users/andreruiz/CCIB/EnhancersResearch/reports/04_ienhancer_2l_independent_evaluation.md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Our completed work gives us a documented reconstruction with benchmark accuracy close to the published values and 96 percent agreement with the authors’ server on 200 additional inputs. The eight differences appear near local decision boundaries, although their exact cause remains unresolved.</a:t>
            </a:r>
          </a:p>
          <a:p>
            <a:r>
              <a:t/>
            </a:r>
          </a:p>
          <a:p>
            <a:r>
              <a:t>The immediate priority is to complete the independent cohort checks and then evaluate the frozen model under the defined protocol. After that, we can examine how its predictions relate to measured activity across the three cell types.</a:t>
            </a:r>
          </a:p>
          <a:p>
            <a:r>
              <a:t/>
            </a:r>
          </a:p>
          <a:p>
            <a:r>
              <a:t>If we develop a new model, we will need separate development data and fresh confirmation data. The evidence we have already examined should not become a new independent validation simply because we change the model.</a:t>
            </a:r>
          </a:p>
          <a:p>
            <a:r>
              <a:t/>
            </a:r>
          </a:p>
          <a:p>
            <a:r>
              <a:t>I would value your guidance on these priorities and on the most useful direction for future model development.</a:t>
            </a:r>
          </a:p>
          <a:p>
            <a:r>
              <a:t/>
            </a:r>
          </a:p>
          <a:p>
            <a:r>
              <a:t>TRANSITION</a:t>
            </a:r>
          </a:p>
          <a:p>
            <a:r>
              <a:t/>
            </a:r>
          </a:p>
          <a:p>
            <a:r>
              <a:t>The remaining slides provide supporting results and the source links.</a:t>
            </a:r>
          </a:p>
          <a:p>
            <a:r>
              <a:t/>
            </a:r>
          </a:p>
          <a:p>
            <a:r>
              <a:t>BACKGROUND AND SOURCES</a:t>
            </a:r>
          </a:p>
          <a:p>
            <a:r>
              <a:t/>
            </a:r>
          </a:p>
          <a:p>
            <a:r>
              <a:t>The completed research supports a functioning and documented reconstruction with broadly similar historical benchmark values and substantial model agreement with the public author server. It does not establish that all implementation details match, nor that the model predicts activity accurately in new experiments. The eight disagreements motivate targeted implementation checks, with exact causes unresolved.</a:t>
            </a:r>
          </a:p>
          <a:p>
            <a:r>
              <a:t>The next practical milestone is the independent cohort’s provenance and exclusion gates, followed by a fixed-model evaluation under the declared plan. Exploratory feature comparisons do not replace the primary model on the already examined benchmark. A later comparison with the matched three-cell assay addresses biological activity. If the team develops a new model, model development and confirmation must remain separate and the same examined evidence must not be presented as fresh validation.</a:t>
            </a:r>
          </a:p>
          <a:p>
            <a:r>
              <a:t/>
            </a:r>
          </a:p>
          <a:p>
            <a:r>
              <a:t>Sources</a:t>
            </a:r>
          </a:p>
          <a:p>
            <a:r>
              <a:t>1. https://venettov.github.io/EnhancersResearch/reproduce.html</a:t>
            </a:r>
          </a:p>
          <a:p>
            <a:r>
              <a:t>2. https://venettov.github.io/EnhancersResearch/methods.html</a:t>
            </a:r>
          </a:p>
          <a:p>
            <a:r>
              <a:t>3. /Users/andreruiz/CCIB/EnhancersResearch/reports/04_ienhancer_2l_independent_evaluation.md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PRESENTER CUE</a:t>
            </a:r>
          </a:p>
          <a:p>
            <a:r>
              <a:t>Optional supporting slide. Use if discussing the feature comparisons in more detail.</a:t>
            </a:r>
          </a:p>
          <a:p>
            <a:r>
              <a:t/>
            </a:r>
          </a:p>
          <a:p>
            <a:r>
              <a:t>WHAT TO SAY</a:t>
            </a:r>
          </a:p>
          <a:p>
            <a:r>
              <a:t/>
            </a:r>
          </a:p>
          <a:p>
            <a:r>
              <a:t>This table provides all six configurations from the latest feature comparison. The columns report enhancer-identification accuracy, strength-classification accuracy, and the strength model’s ROC AUC.</a:t>
            </a:r>
          </a:p>
          <a:p>
            <a:r>
              <a:t/>
            </a:r>
          </a:p>
          <a:p>
            <a:r>
              <a:t>The rescaled-word configuration isolates the effect of the normalization denominator. Words plus structure adds the structural terms. Full PseKNC combines the structural terms with the denominator’s rescaling, and the balanced versions adjust the influence of feature blocks using training data only.</a:t>
            </a:r>
          </a:p>
          <a:p>
            <a:r>
              <a:t/>
            </a:r>
          </a:p>
          <a:p>
            <a:r>
              <a:t>The highlighted row has the highest strength accuracy in this table, but its advantage over ordinary words is small and uncertain. Their strength AUC values both round to 0.680. We therefore have no clear evidence here that the structural summaries provide a reliable improvement. These are exploratory comparisons on a reused benchmark, and the primary model remains fixed for external evaluation.</a:t>
            </a:r>
          </a:p>
          <a:p>
            <a:r>
              <a:t/>
            </a:r>
          </a:p>
          <a:p>
            <a:r>
              <a:t>TRANSITION</a:t>
            </a:r>
          </a:p>
          <a:p>
            <a:r>
              <a:t/>
            </a:r>
          </a:p>
          <a:p>
            <a:r>
              <a:t>The next supporting slide lists every disagreement with the authors’ server.</a:t>
            </a:r>
          </a:p>
          <a:p>
            <a:r>
              <a:t/>
            </a:r>
          </a:p>
          <a:p>
            <a:r>
              <a:t>BACKGROUND AND SOURCES</a:t>
            </a:r>
          </a:p>
          <a:p>
            <a:r>
              <a:t/>
            </a:r>
          </a:p>
          <a:p>
            <a:r>
              <a:t>This native table contains every configuration in the latest component/block comparison summary, rounded only for presentation. Layer-I accuracy percentages, Layer-II accuracy percentages and Layer-II ROC AUC are shown. The first four configurations come from the saved scale-aware reference run, and the two balanced configurations use new training-only block-balanced fits. Exact numeric source values are in the cited CSV.</a:t>
            </a:r>
          </a:p>
          <a:p>
            <a:r>
              <a:t>Full PseKNC includes the structural terms and the shared denominator’s rescaling. Words plus structure appends structural summaries without that denominator effect. Rescaled words isolate the rescaling component. Balanced variants use training-only block scaling to balance feature influence. These labels summarize a particular controlled implementation rather than separate recovered author models. The project’s initial primary results used a different search design, so this table is not a direct replacement for the initial accuracy comparison.</a:t>
            </a:r>
          </a:p>
          <a:p>
            <a:r>
              <a:t>The highlighted balanced words-plus-structure result has a small Layer-II accuracy difference from words alone and a conditional interval spanning zero. This benchmark has been reused for exploratory analyses, so the table is not an independent confirmation.</a:t>
            </a:r>
          </a:p>
          <a:p>
            <a:r>
              <a:t/>
            </a:r>
          </a:p>
          <a:p>
            <a:r>
              <a:t>Sources</a:t>
            </a:r>
          </a:p>
          <a:p>
            <a:r>
              <a:t>1. https://venettov.github.io/EnhancersResearch/reproduce.html#block-results</a:t>
            </a:r>
          </a:p>
          <a:p>
            <a:r>
              <a:t>2. https://venettov.github.io/EnhancersResearch/data/ienhancer_2l_blocks_summary.csv</a:t>
            </a:r>
          </a:p>
          <a:p>
            <a:r>
              <a:t>3. https://venettov.github.io/EnhancersResearch/data/ienhancer_2l_blocks_contrasts.csv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PRESENTER CUE</a:t>
            </a:r>
          </a:p>
          <a:p>
            <a:r>
              <a:t>Optional supporting slide. Use if asked about individual disagreements.</a:t>
            </a:r>
          </a:p>
          <a:p>
            <a:r>
              <a:t/>
            </a:r>
          </a:p>
          <a:p>
            <a:r>
              <a:t>WHAT TO SAY</a:t>
            </a:r>
          </a:p>
          <a:p>
            <a:r>
              <a:t/>
            </a:r>
          </a:p>
          <a:p>
            <a:r>
              <a:t>These are the eight inputs where our final class differs from the authors’ server. For each input, the table shows the layer responsible for the difference, both class calls, our score at that layer, and its rank by closeness to zero.</a:t>
            </a:r>
          </a:p>
          <a:p>
            <a:r>
              <a:t/>
            </a:r>
          </a:p>
          <a:p>
            <a:r>
              <a:t>Rank one means the score lies closest to that layer’s local decision boundary. The Layer-I ranks use all 200 inputs, while the Layer-II ranks use the 151 inputs that passed our first classifier. The two layers have different score scales, so we should compare each score within its own layer.</a:t>
            </a:r>
          </a:p>
          <a:p>
            <a:r>
              <a:t/>
            </a:r>
          </a:p>
          <a:p>
            <a:r>
              <a:t>The highlighted input, 0147, is the case that switched from weak to strong when we used the printed rounded property table. We retain its original prediction in the reported comparison. That sensitivity experiment does not establish which convention the authors used.</a:t>
            </a:r>
          </a:p>
          <a:p>
            <a:r>
              <a:t/>
            </a:r>
          </a:p>
          <a:p>
            <a:r>
              <a:t>TRANSITION</a:t>
            </a:r>
          </a:p>
          <a:p>
            <a:r>
              <a:t/>
            </a:r>
          </a:p>
          <a:p>
            <a:r>
              <a:t>The final slide provides links to the publications, author tool, and project materials.</a:t>
            </a:r>
          </a:p>
          <a:p>
            <a:r>
              <a:t/>
            </a:r>
          </a:p>
          <a:p>
            <a:r>
              <a:t>BACKGROUND AND SOURCES</a:t>
            </a:r>
          </a:p>
          <a:p>
            <a:r>
              <a:t/>
            </a:r>
          </a:p>
          <a:p>
            <a:r>
              <a:t>All eight disagreements from the fixed 200-query comparison appear here. Strong, weak and non-enhancer labels are the returned author class and the operational local cascade class. The displayed score belongs to the stage that caused the final disagreement. Values round to six decimal places. The rank orders absolute scores from closest to zero within each stage’s evaluated context. Layer-I context: all 200 inputs. Layer-II context: 151 inputs that our Layer I called enhancers. Scores and ranks across different stages have different reference distributions and should not be pooled.</a:t>
            </a:r>
          </a:p>
          <a:p>
            <a:r>
              <a:t>Highlighted probe_0147 is the single case that switched from weak to strong after perturbing the input property normalization to use printed rounded S2 values. Its original frozen-model prediction remains part of the eight disagreements. This perturbation does not establish the authors’ settings. The original full-precision source CSV also records constructs, GC content, sequence diversity and distance from training.</a:t>
            </a:r>
          </a:p>
          <a:p>
            <a:r>
              <a:t/>
            </a:r>
          </a:p>
          <a:p>
            <a:r>
              <a:t>Sources</a:t>
            </a:r>
          </a:p>
          <a:p>
            <a:r>
              <a:t>1. https://venettov.github.io/EnhancersResearch/data/ienhancer_2l_disagreement_cases.csv</a:t>
            </a:r>
          </a:p>
          <a:p>
            <a:r>
              <a:t>2. https://venettov.github.io/EnhancersResearch/reproduce.html#author-server-disagreements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WHAT TO SAY</a:t>
            </a:r>
          </a:p>
          <a:p>
            <a:r>
              <a:t/>
            </a:r>
          </a:p>
          <a:p>
            <a:r>
              <a:t>These links provide the original iEnhancer-2L publication and its supplementary data, the authors’ prediction server, and our project repository. The results and methods pages connect the reported values to the saved analysis records and code.</a:t>
            </a:r>
          </a:p>
          <a:p>
            <a:r>
              <a:t/>
            </a:r>
          </a:p>
          <a:p>
            <a:r>
              <a:t>The other links lead to the three-cell activity study and the VISTA publication and browser. Those are the sources for the planned experimental comparisons.</a:t>
            </a:r>
          </a:p>
          <a:p>
            <a:r>
              <a:t/>
            </a:r>
          </a:p>
          <a:p>
            <a:r>
              <a:t>Thank you for your time and guidance. I look forward to discussing the independent evaluation and the possible directions for the next stage of the research.</a:t>
            </a:r>
          </a:p>
          <a:p>
            <a:r>
              <a:t/>
            </a:r>
          </a:p>
          <a:p>
            <a:r>
              <a:t>BACKGROUND AND SOURCES</a:t>
            </a:r>
          </a:p>
          <a:p>
            <a:r>
              <a:t/>
            </a:r>
          </a:p>
          <a:p>
            <a:r>
              <a:t>Original method: Liu B, Fang L, Long R, Lan X, Chou KC. iEnhancer-2L: a two-layer predictor for identifying enhancers and their strength by pseudo k-tuple nucleotide composition. Bioinformatics 32(3), 362–369 (2016). doi:10.1093/bioinformatics/btv604.</a:t>
            </a:r>
          </a:p>
          <a:p>
            <a:r>
              <a:t>Cell activity study: Agarwal V, Inoue F, Schubach M et al. Massively parallel characterization of transcriptional regulatory elements. Nature 639, 411–420 (2025). doi:10.1038/s41586-024-08430-9.</a:t>
            </a:r>
          </a:p>
          <a:p>
            <a:r>
              <a:t>Independent assay source: VISTA Enhancer Browser update, doi:10.1093/nar/gkae940. VISTA data and the proposed project evaluation protocol are separate sources. The project’s protocol and exclusion rules are project choices, not procedures attributed to the VISTA publication.</a:t>
            </a:r>
          </a:p>
          <a:p>
            <a:r>
              <a:t>Project results and methods: EnhancersResearch public website and GitHub repository. The website content was checked against the repository’s generated pages on 25 October 2026 and matched. Research checkpoint dates range from 13 to 20 October 2026. The 20 October local independent-evaluation plan remains unrun. Every research slide has a more specific source list in its notes.</a:t>
            </a:r>
          </a:p>
          <a:p>
            <a:r>
              <a:t/>
            </a:r>
          </a:p>
          <a:p>
            <a:r>
              <a:t>Sources</a:t>
            </a:r>
          </a:p>
          <a:p>
            <a:r>
              <a:t>1. https://doi.org/10.1093/bioinformatics/btv604</a:t>
            </a:r>
          </a:p>
          <a:p>
            <a:r>
              <a:t>2. https://bliulab.net/iEnhancer-2L/</a:t>
            </a:r>
          </a:p>
          <a:p>
            <a:r>
              <a:t>3. https://doi.org/10.1038/s41586-024-08430-9</a:t>
            </a:r>
          </a:p>
          <a:p>
            <a:r>
              <a:t>4. https://doi.org/10.1093/nar/gkae940</a:t>
            </a:r>
          </a:p>
          <a:p>
            <a:r>
              <a:t>5. https://venettov.github.io/EnhancersResearch/reproduce.html</a:t>
            </a:r>
          </a:p>
          <a:p>
            <a:r>
              <a:t>6. https://venettov.github.io/EnhancersResearch/methods.html</a:t>
            </a:r>
          </a:p>
          <a:p>
            <a:r>
              <a:t>7. https://github.com/Venettov/EnhancersResearch</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7661603bd94d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90f5c78aa74b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79c5eaf2e547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36b12c4b9e4d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a1acf06fc740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17c819a48a49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ABB696-6C63-4D7C-AEC3-BE6ED455E3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C3786C-A445-4D6A-9C94-09D48F62FB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D53ADC-31A0-466F-B306-BBB65D62C1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5EABF4-8903-427D-A5A8-392608ADB6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FEA31F8-1663-4E96-B460-7992AF77CC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C26E04-5F94-464E-BBDE-0778528D2A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D9C546-B0CF-4A5B-86A5-FD8578331B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7A83D5-75B7-4459-A699-48EA1C346D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230B5C-026B-4903-8FDE-6D7B5D2DCA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2B5911-249C-4E43-916F-AFB54A6518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b00d273fdb48d4" /><Relationship Type="http://schemas.openxmlformats.org/officeDocument/2006/relationships/slideLayout" Target="/ppt/slideLayouts/slideLayout1.xml" Id="Rc70c3a65b6dd49d8" /><Relationship Type="http://schemas.openxmlformats.org/officeDocument/2006/relationships/slideLayout" Target="/ppt/slideLayouts/slideLayout2.xml" Id="R768bd6940f1c4ba3" /><Relationship Type="http://schemas.openxmlformats.org/officeDocument/2006/relationships/slideLayout" Target="/ppt/slideLayouts/slideLayout3.xml" Id="Rb5eeb96000094f04" /><Relationship Type="http://schemas.openxmlformats.org/officeDocument/2006/relationships/slideLayout" Target="/ppt/slideLayouts/slideLayout4.xml" Id="R895c23b32a5f4745" /><Relationship Type="http://schemas.openxmlformats.org/officeDocument/2006/relationships/slideLayout" Target="/ppt/slideLayouts/slideLayout5.xml" Id="R2db5662c2c244a73" /><Relationship Type="http://schemas.openxmlformats.org/officeDocument/2006/relationships/slideLayout" Target="/ppt/slideLayouts/slideLayout6.xml" Id="R1e93550c3ae646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0c3a65b6dd49d8"/>
    <p:sldLayoutId xmlns:r="http://schemas.openxmlformats.org/officeDocument/2006/relationships" id="2147483650" r:id="R768bd6940f1c4ba3"/>
    <p:sldLayoutId xmlns:r="http://schemas.openxmlformats.org/officeDocument/2006/relationships" id="2147483651" r:id="Rb5eeb96000094f04"/>
    <p:sldLayoutId xmlns:r="http://schemas.openxmlformats.org/officeDocument/2006/relationships" id="2147483652" r:id="R895c23b32a5f4745"/>
    <p:sldLayoutId xmlns:r="http://schemas.openxmlformats.org/officeDocument/2006/relationships" id="2147483653" r:id="R2db5662c2c244a73"/>
    <p:sldLayoutId xmlns:r="http://schemas.openxmlformats.org/officeDocument/2006/relationships" id="2147483654" r:id="R1e93550c3ae646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Enhancer research">
      <a:dk1>
        <a:srgbClr val="000000"/>
      </a:dk1>
      <a:lt1>
        <a:srgbClr val="FFFFFF"/>
      </a:lt1>
      <a:dk2>
        <a:srgbClr val="102A3B"/>
      </a:dk2>
      <a:lt2>
        <a:srgbClr val="DCECE8"/>
      </a:lt2>
      <a:accent1>
        <a:srgbClr val="007F7A"/>
      </a:accent1>
      <a:accent2>
        <a:srgbClr val="718DA0"/>
      </a:accent2>
      <a:accent3>
        <a:srgbClr val="9A5C12"/>
      </a:accent3>
      <a:accent4>
        <a:srgbClr val="6F5D86"/>
      </a:accent4>
      <a:accent5>
        <a:srgbClr val="5A7962"/>
      </a:accent5>
      <a:accent6>
        <a:srgbClr val="975B5F"/>
      </a:accent6>
      <a:hlink>
        <a:srgbClr val="007F7A"/>
      </a:hlink>
      <a:folHlink>
        <a:srgbClr val="6F5D86"/>
      </a:folHlink>
    </a:clrScheme>
    <a:fontScheme name="">
      <a:majorFont>
        <a:latin typeface="Helvetica Neue"/>
        <a:ea typeface=""/>
        <a:cs typeface=""/>
      </a:majorFont>
      <a:minorFont>
        <a:latin typeface="Helvetica Neue"/>
        <a:ea typeface=""/>
        <a:cs typeface=""/>
      </a:minorFont>
    </a:fontScheme>
    <a:fmtScheme name="Enhancer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ba53917c43b45ca" /><Relationship Type="http://schemas.openxmlformats.org/officeDocument/2006/relationships/image" Target="/ppt/media/image.jpeg" Id="R7313c57f0b534734" /><Relationship Type="http://schemas.openxmlformats.org/officeDocument/2006/relationships/hyperlink" Target="https://venettov.github.io/EnhancersResearch/reproduce.html" TargetMode="External" Id="Re80e9d8b06cb43f7" /><Relationship Type="http://schemas.openxmlformats.org/officeDocument/2006/relationships/notesSlide" Target="/ppt/notesSlides/notesSlide1.xml" Id="Rf74ca5aa69a046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5969453edb4459" /><Relationship Type="http://schemas.openxmlformats.org/officeDocument/2006/relationships/notesSlide" Target="/ppt/notesSlides/notesSlide2.xml" Id="Rc7ab8b75fe6e41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23330dc9604f3a" /><Relationship Type="http://schemas.openxmlformats.org/officeDocument/2006/relationships/image" Target="/ppt/media/image2.jpeg" Id="Re1761ee16a344d54" /><Relationship Type="http://schemas.openxmlformats.org/officeDocument/2006/relationships/notesSlide" Target="/ppt/notesSlides/notesSlide3.xml" Id="R12a86524041641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e0087157b949ca" /><Relationship Type="http://schemas.openxmlformats.org/officeDocument/2006/relationships/hyperlink" Target="https://venettov.github.io/EnhancersResearch/methods.html" TargetMode="External" Id="R6f1685241e8a4496" /><Relationship Type="http://schemas.openxmlformats.org/officeDocument/2006/relationships/notesSlide" Target="/ppt/notesSlides/notesSlide4.xml" Id="R2f5c4d5c8a454f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5e32af934c4b55" /><Relationship Type="http://schemas.openxmlformats.org/officeDocument/2006/relationships/notesSlide" Target="/ppt/notesSlides/notesSlide5.xml" Id="R37083ff651ee43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6a8fb5d2b74181" /><Relationship Type="http://schemas.openxmlformats.org/officeDocument/2006/relationships/chart" Target="/ppt/slides/charts/chart1.xml" Id="Rb5b54c7d1d9f4230" /><Relationship Type="http://schemas.openxmlformats.org/officeDocument/2006/relationships/notesSlide" Target="/ppt/notesSlides/notesSlide6.xml" Id="Ra8576d31208d4d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f18cb4a71740b9" /><Relationship Type="http://schemas.openxmlformats.org/officeDocument/2006/relationships/chart" Target="/ppt/slides/charts/chart2.xml" Id="R8ae1d2b1b9e2485a" /><Relationship Type="http://schemas.openxmlformats.org/officeDocument/2006/relationships/notesSlide" Target="/ppt/notesSlides/notesSlide7.xml" Id="R8a7af8d17c5f42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948b4552dd4efc" /><Relationship Type="http://schemas.openxmlformats.org/officeDocument/2006/relationships/notesSlide" Target="/ppt/notesSlides/notesSlide8.xml" Id="R4500875abd4640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6a7fd4c038b47e4" /><Relationship Type="http://schemas.openxmlformats.org/officeDocument/2006/relationships/notesSlide" Target="/ppt/notesSlides/notesSlide9.xml" Id="Rddc1ffa5589744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71fcd0c63c84f73" /><Relationship Type="http://schemas.openxmlformats.org/officeDocument/2006/relationships/notesSlide" Target="/ppt/notesSlides/notesSlide10.xml" Id="R15bd94d082794b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445a3207f3744e3" /><Relationship Type="http://schemas.openxmlformats.org/officeDocument/2006/relationships/notesSlide" Target="/ppt/notesSlides/notesSlide11.xml" Id="R88d1978e930d47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b5037532e854207" /><Relationship Type="http://schemas.openxmlformats.org/officeDocument/2006/relationships/notesSlide" Target="/ppt/notesSlides/notesSlide12.xml" Id="R4377dc40c6584b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26d68c1a44c46e7" /><Relationship Type="http://schemas.openxmlformats.org/officeDocument/2006/relationships/notesSlide" Target="/ppt/notesSlides/notesSlide13.xml" Id="R2534398d7e9e4a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33a0c2a780a444e" /><Relationship Type="http://schemas.openxmlformats.org/officeDocument/2006/relationships/notesSlide" Target="/ppt/notesSlides/notesSlide14.xml" Id="Rb1c347b1e1ef4a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b47833017e44aff" /><Relationship Type="http://schemas.openxmlformats.org/officeDocument/2006/relationships/hyperlink" Target="https://doi.org/10.1093/bioinformatics/btv604" TargetMode="External" Id="R47eda53016b7448c" /><Relationship Type="http://schemas.openxmlformats.org/officeDocument/2006/relationships/hyperlink" Target="https://bliulab.net/iEnhancer-2L/" TargetMode="External" Id="R5595baa0507e4863" /><Relationship Type="http://schemas.openxmlformats.org/officeDocument/2006/relationships/hyperlink" Target="https://github.com/Venettov/EnhancersResearch" TargetMode="External" Id="R0eafd04a1d394e68" /><Relationship Type="http://schemas.openxmlformats.org/officeDocument/2006/relationships/hyperlink" Target="https://venettov.github.io/EnhancersResearch/reproduce.html" TargetMode="External" Id="R5e3e52d3746849e7" /><Relationship Type="http://schemas.openxmlformats.org/officeDocument/2006/relationships/hyperlink" Target="https://venettov.github.io/EnhancersResearch/methods.html" TargetMode="External" Id="Rd69af61f095a4c6c" /><Relationship Type="http://schemas.openxmlformats.org/officeDocument/2006/relationships/hyperlink" Target="https://doi.org/10.1038/s41586-024-08430-9" TargetMode="External" Id="R811827b9955343ab" /><Relationship Type="http://schemas.openxmlformats.org/officeDocument/2006/relationships/hyperlink" Target="https://doi.org/10.1093/nar/gkae940" TargetMode="External" Id="R50f34e5ea66e432a" /><Relationship Type="http://schemas.openxmlformats.org/officeDocument/2006/relationships/hyperlink" Target="https://enhancer.lbl.gov/vista/" TargetMode="External" Id="R1ad4413ada2d4ee7" /><Relationship Type="http://schemas.openxmlformats.org/officeDocument/2006/relationships/notesSlide" Target="/ppt/notesSlides/notesSlide15.xml" Id="R817ee8b6351f47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Published</c:v>
          </c:tx>
          <c:spPr>
            <a:solidFill xmlns:a="http://schemas.openxmlformats.org/drawingml/2006/main">
              <a:srgbClr val="718DA0"/>
            </a:solidFill>
          </c:spPr>
          <c:invertIfNegative val="0"/>
          <c:cat>
            <c:strRef>
              <c:f>'Chart Data'!$A$2:$A$3</c:f>
              <c:strCache>
                <c:ptCount val="2"/>
                <c:pt idx="0">
                  <c:v>Layer I
Enhancer detection</c:v>
                </c:pt>
                <c:pt idx="1">
                  <c:v>Layer II
Strong versus weak</c:v>
                </c:pt>
              </c:strCache>
            </c:strRef>
          </c:cat>
          <c:val>
            <c:numRef>
              <c:f>'Chart Data'!$B$2:$B$3</c:f>
              <c:numCache>
                <c:formatCode>0"%"</c:formatCode>
                <c:ptCount val="2"/>
                <c:pt idx="0">
                  <c:v>76.89</c:v>
                </c:pt>
                <c:pt idx="1">
                  <c:v>61.93</c:v>
                </c:pt>
              </c:numCache>
            </c:numRef>
          </c:val>
        </c:ser>
        <c:ser>
          <c:idx val="1"/>
          <c:order val="1"/>
          <c:tx>
            <c:v>Our reconstruction</c:v>
          </c:tx>
          <c:spPr>
            <a:solidFill xmlns:a="http://schemas.openxmlformats.org/drawingml/2006/main">
              <a:srgbClr val="007F7A"/>
            </a:solidFill>
          </c:spPr>
          <c:invertIfNegative val="0"/>
          <c:cat>
            <c:strRef>
              <c:f>'Chart Data'!$C$2:$C$3</c:f>
              <c:strCache>
                <c:ptCount val="2"/>
                <c:pt idx="0">
                  <c:v>Layer I
Enhancer detection</c:v>
                </c:pt>
                <c:pt idx="1">
                  <c:v>Layer II
Strong versus weak</c:v>
                </c:pt>
              </c:strCache>
            </c:strRef>
          </c:cat>
          <c:val>
            <c:numRef>
              <c:f>'Chart Data'!$D$2:$D$3</c:f>
              <c:numCache>
                <c:formatCode>0"%"</c:formatCode>
                <c:ptCount val="2"/>
                <c:pt idx="0">
                  <c:v>76.21</c:v>
                </c:pt>
                <c:pt idx="1">
                  <c:v>60.98</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1875" b="1">
                  <a:solidFill>
                    <a:srgbClr val="173344"/>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3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D9"/>
            </a:solidFill>
          </a:ln>
        </c:spPr>
        <c:txPr>
          <a:bodyPr xmlns:a="http://schemas.openxmlformats.org/drawingml/2006/main" anchorCtr="1"/>
          <a:lstStyle xmlns:a="http://schemas.openxmlformats.org/drawingml/2006/main"/>
          <a:p xmlns:a="http://schemas.openxmlformats.org/drawingml/2006/main">
            <a:pPr>
              <a:defRPr sz="1725">
                <a:solidFill>
                  <a:srgbClr val="173344"/>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CED8D9"/>
              </a:solidFill>
            </a:ln>
          </c:spPr>
        </c:majorGridlines>
        <c:numFmt formatCode="0&quot;%&quot;"/>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2646E"/>
                </a:solidFill>
                <a:latin typeface="Helvetica Neue"/>
                <a:ea typeface="Helvetica Neue"/>
                <a:cs typeface="Helvetica Neue"/>
              </a:defRPr>
            </a:pPr>
          </a:p>
        </c:txPr>
        <c:crossAx val="48650112"/>
        <c:crossBetween val="between"/>
        <c:majorUnit val="20"/>
      </c:valAx>
      <c:spPr>
        <a:solidFill xmlns:a="http://schemas.openxmlformats.org/drawingml/2006/main">
          <a:srgbClr val="F7F6F2"/>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2646E"/>
              </a:solidFill>
              <a:latin typeface="Helvetica Neue"/>
              <a:ea typeface="Helvetica Neue"/>
              <a:cs typeface="Helvetica Neue"/>
            </a:defRPr>
          </a:pPr>
        </a:p>
      </c:txPr>
    </c:legend>
    <c:plotVisOnly val="1"/>
  </c:chart>
  <c:spPr>
    <a:solidFill xmlns:a="http://schemas.openxmlformats.org/drawingml/2006/main">
      <a:srgbClr val="F7F6F2"/>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Strength accuracy</c:v>
          </c:tx>
          <c:spPr>
            <a:solidFill xmlns:a="http://schemas.openxmlformats.org/drawingml/2006/main">
              <a:srgbClr val="007F7A"/>
            </a:solidFill>
          </c:spPr>
          <c:invertIfNegative val="0"/>
          <c:cat>
            <c:strRef>
              <c:f>'Chart Data'!$A$2:$A$4</c:f>
              <c:strCache>
                <c:ptCount val="3"/>
                <c:pt idx="0">
                  <c:v>6-mers
only</c:v>
                </c:pt>
                <c:pt idx="1">
                  <c:v>Balanced words
+ structure</c:v>
                </c:pt>
                <c:pt idx="2">
                  <c:v>Balanced full
PseKNC</c:v>
                </c:pt>
              </c:strCache>
            </c:strRef>
          </c:cat>
          <c:val>
            <c:numRef>
              <c:f>'Chart Data'!$B$2:$B$4</c:f>
              <c:numCache>
                <c:formatCode>0"%"</c:formatCode>
                <c:ptCount val="3"/>
                <c:pt idx="0">
                  <c:v>62.8</c:v>
                </c:pt>
                <c:pt idx="1">
                  <c:v>63.14</c:v>
                </c:pt>
                <c:pt idx="2">
                  <c:v>61.19</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1875" b="1">
                  <a:solidFill>
                    <a:srgbClr val="173344"/>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3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D9"/>
            </a:solidFill>
          </a:ln>
        </c:spPr>
        <c:txPr>
          <a:bodyPr xmlns:a="http://schemas.openxmlformats.org/drawingml/2006/main" anchorCtr="1"/>
          <a:lstStyle xmlns:a="http://schemas.openxmlformats.org/drawingml/2006/main"/>
          <a:p xmlns:a="http://schemas.openxmlformats.org/drawingml/2006/main">
            <a:pPr>
              <a:defRPr sz="1725">
                <a:solidFill>
                  <a:srgbClr val="173344"/>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CED8D9"/>
              </a:solidFill>
            </a:ln>
          </c:spPr>
        </c:majorGridlines>
        <c:numFmt formatCode="0&quot;%&quot;"/>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2646E"/>
                </a:solidFill>
                <a:latin typeface="Helvetica Neue"/>
                <a:ea typeface="Helvetica Neue"/>
                <a:cs typeface="Helvetica Neue"/>
              </a:defRPr>
            </a:pPr>
          </a:p>
        </c:txPr>
        <c:crossAx val="48650112"/>
        <c:crossBetween val="between"/>
        <c:majorUnit val="20"/>
      </c:valAx>
      <c:spPr>
        <a:solidFill xmlns:a="http://schemas.openxmlformats.org/drawingml/2006/main">
          <a:srgbClr val="F7F6F2"/>
        </a:solidFill>
        <a:ln xmlns:a="http://schemas.openxmlformats.org/drawingml/2006/main">
          <a:noFill/>
        </a:ln>
      </c:spPr>
    </c:plotArea>
    <c:plotVisOnly val="1"/>
  </c:chart>
  <c:spPr>
    <a:solidFill xmlns:a="http://schemas.openxmlformats.org/drawingml/2006/main">
      <a:srgbClr val="F7F6F2"/>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3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579B578-82B4-4C07-8210-0B3B4DD82FEC}"/>
              </a:ext>
            </a:extLst>
          </p:cNvPr>
          <p:cNvPicPr>
            <a:picLocks xmlns:a="http://schemas.openxmlformats.org/drawingml/2006/main" noChangeAspect="1"/>
          </p:cNvPicPr>
          <p:nvPr/>
        </p:nvPicPr>
        <p:blipFill>
          <a:blip xmlns:r="http://schemas.openxmlformats.org/officeDocument/2006/relationships" xmlns:a="http://schemas.openxmlformats.org/drawingml/2006/main" r:embed="R7313c57f0b534734"/>
          <a:stretch xmlns:a="http://schemas.openxmlformats.org/drawingml/2006/main"/>
        </p:blipFill>
        <p:spPr>
          <a:xfrm xmlns:a="http://schemas.openxmlformats.org/drawingml/2006/main">
            <a:off x="6191779" y="1695450"/>
            <a:ext cx="5571067" cy="3133725"/>
          </a:xfrm>
          <a:prstGeom xmlns:a="http://schemas.openxmlformats.org/drawingml/2006/main" prst="rect">
            <a:avLst/>
          </a:prstGeom>
        </p:spPr>
      </p:pic>
      <p:sp>
        <p:nvSpPr>
          <p:cNvPr id="2" name="ENHANCER PREDICTION">
            <a:extLst xmlns:a="http://schemas.openxmlformats.org/drawingml/2006/main">
              <a:ext uri="{FF2B5EF4-FFF2-40B4-BE49-F238E27FC236}">
                <a16:creationId xmlns:a16="http://schemas.microsoft.com/office/drawing/2014/main" id="{C34FBC65-E3CC-421C-B011-A88C97A42033}"/>
              </a:ext>
            </a:extLst>
          </p:cNvPr>
          <p:cNvSpPr>
            <a:spLocks xmlns:a="http://schemas.openxmlformats.org/drawingml/2006/main" noGrp="1"/>
          </p:cNvSpPr>
          <p:nvPr/>
        </p:nvSpPr>
        <p:spPr>
          <a:xfrm xmlns:a="http://schemas.openxmlformats.org/drawingml/2006/main">
            <a:off x="609600" y="714375"/>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9BCAC5"/>
                </a:solidFill>
                <a:latin typeface="Helvetica Neue"/>
                <a:ea typeface="Helvetica Neue"/>
                <a:cs typeface="Helvetica Neue"/>
              </a:defRPr>
            </a:defPPr>
            <a:lvl1pPr algn="l">
              <a:defRPr sz="1500" b="1">
                <a:solidFill>
                  <a:srgbClr val="9BCAC5"/>
                </a:solidFill>
                <a:latin typeface="Helvetica Neue"/>
                <a:ea typeface="Helvetica Neue"/>
                <a:cs typeface="Helvetica Neue"/>
              </a:defRPr>
            </a:lvl1pPr>
            <a:lvl2pPr algn="l">
              <a:defRPr sz="1500" b="1">
                <a:solidFill>
                  <a:srgbClr val="9BCAC5"/>
                </a:solidFill>
                <a:latin typeface="Helvetica Neue"/>
                <a:ea typeface="Helvetica Neue"/>
                <a:cs typeface="Helvetica Neue"/>
              </a:defRPr>
            </a:lvl2pPr>
            <a:lvl3pPr algn="l">
              <a:defRPr sz="1500" b="1">
                <a:solidFill>
                  <a:srgbClr val="9BCAC5"/>
                </a:solidFill>
                <a:latin typeface="Helvetica Neue"/>
                <a:ea typeface="Helvetica Neue"/>
                <a:cs typeface="Helvetica Neue"/>
              </a:defRPr>
            </a:lvl3pPr>
            <a:lvl4pPr algn="l">
              <a:defRPr sz="1500" b="1">
                <a:solidFill>
                  <a:srgbClr val="9BCAC5"/>
                </a:solidFill>
                <a:latin typeface="Helvetica Neue"/>
                <a:ea typeface="Helvetica Neue"/>
                <a:cs typeface="Helvetica Neue"/>
              </a:defRPr>
            </a:lvl4pPr>
            <a:lvl5pPr algn="l">
              <a:defRPr sz="1500" b="1">
                <a:solidFill>
                  <a:srgbClr val="9BCAC5"/>
                </a:solidFill>
                <a:latin typeface="Helvetica Neue"/>
                <a:ea typeface="Helvetica Neue"/>
                <a:cs typeface="Helvetica Neue"/>
              </a:defRPr>
            </a:lvl5pPr>
            <a:lvl6pPr algn="l">
              <a:defRPr sz="1500" b="1">
                <a:solidFill>
                  <a:srgbClr val="9BCAC5"/>
                </a:solidFill>
                <a:latin typeface="Helvetica Neue"/>
                <a:ea typeface="Helvetica Neue"/>
                <a:cs typeface="Helvetica Neue"/>
              </a:defRPr>
            </a:lvl6pPr>
            <a:lvl7pPr algn="l">
              <a:defRPr sz="1500" b="1">
                <a:solidFill>
                  <a:srgbClr val="9BCAC5"/>
                </a:solidFill>
                <a:latin typeface="Helvetica Neue"/>
                <a:ea typeface="Helvetica Neue"/>
                <a:cs typeface="Helvetica Neue"/>
              </a:defRPr>
            </a:lvl7pPr>
            <a:lvl8pPr algn="l">
              <a:defRPr sz="1500" b="1">
                <a:solidFill>
                  <a:srgbClr val="9BCAC5"/>
                </a:solidFill>
                <a:latin typeface="Helvetica Neue"/>
                <a:ea typeface="Helvetica Neue"/>
                <a:cs typeface="Helvetica Neue"/>
              </a:defRPr>
            </a:lvl8pPr>
            <a:lvl9pPr algn="l">
              <a:defRPr sz="1500" b="1">
                <a:solidFill>
                  <a:srgbClr val="9BCAC5"/>
                </a:solidFill>
                <a:latin typeface="Helvetica Neue"/>
                <a:ea typeface="Helvetica Neue"/>
                <a:cs typeface="Helvetica Neue"/>
              </a:defRPr>
            </a:lvl9pPr>
          </a:lstStyle>
          <a:p xmlns:a="http://schemas.openxmlformats.org/drawingml/2006/main">
            <a:pPr algn="l">
              <a:defRPr sz="1500" b="1">
                <a:solidFill>
                  <a:srgbClr val="9BCAC5"/>
                </a:solidFill>
                <a:latin typeface="Helvetica Neue"/>
                <a:ea typeface="Helvetica Neue"/>
                <a:cs typeface="Helvetica Neue"/>
              </a:defRPr>
            </a:pPr>
            <a:r>
              <a:rPr sz="1500" b="1">
                <a:solidFill>
                  <a:srgbClr val="9BCAC5"/>
                </a:solidFill>
                <a:latin typeface="Helvetica Neue"/>
                <a:ea typeface="Helvetica Neue"/>
                <a:cs typeface="Helvetica Neue"/>
              </a:rPr>
              <a:t>ENHANCER PREDICTION</a:t>
            </a:r>
          </a:p>
        </p:txBody>
      </p:sp>
      <p:sp>
        <p:nvSpPr>
          <p:cNvPr id="3" name="iEnhancer-2L">
            <a:extLst xmlns:a="http://schemas.openxmlformats.org/drawingml/2006/main">
              <a:ext uri="{FF2B5EF4-FFF2-40B4-BE49-F238E27FC236}">
                <a16:creationId xmlns:a16="http://schemas.microsoft.com/office/drawing/2014/main" id="{424F03AC-791C-4234-BFA5-0F31DB2FEAA6}"/>
              </a:ext>
            </a:extLst>
          </p:cNvPr>
          <p:cNvSpPr>
            <a:spLocks xmlns:a="http://schemas.openxmlformats.org/drawingml/2006/main" noGrp="1"/>
          </p:cNvSpPr>
          <p:nvPr/>
        </p:nvSpPr>
        <p:spPr>
          <a:xfrm xmlns:a="http://schemas.openxmlformats.org/drawingml/2006/main">
            <a:off x="609600" y="1952625"/>
            <a:ext cx="5905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Helvetica Neue"/>
                <a:ea typeface="Helvetica Neue"/>
                <a:cs typeface="Helvetica Neue"/>
              </a:defRPr>
            </a:defPPr>
            <a:lvl1pPr algn="l">
              <a:defRPr sz="5700" b="1">
                <a:solidFill>
                  <a:srgbClr val="FFFFFF"/>
                </a:solidFill>
                <a:latin typeface="Helvetica Neue"/>
                <a:ea typeface="Helvetica Neue"/>
                <a:cs typeface="Helvetica Neue"/>
              </a:defRPr>
            </a:lvl1pPr>
            <a:lvl2pPr algn="l">
              <a:defRPr sz="5700" b="1">
                <a:solidFill>
                  <a:srgbClr val="FFFFFF"/>
                </a:solidFill>
                <a:latin typeface="Helvetica Neue"/>
                <a:ea typeface="Helvetica Neue"/>
                <a:cs typeface="Helvetica Neue"/>
              </a:defRPr>
            </a:lvl2pPr>
            <a:lvl3pPr algn="l">
              <a:defRPr sz="5700" b="1">
                <a:solidFill>
                  <a:srgbClr val="FFFFFF"/>
                </a:solidFill>
                <a:latin typeface="Helvetica Neue"/>
                <a:ea typeface="Helvetica Neue"/>
                <a:cs typeface="Helvetica Neue"/>
              </a:defRPr>
            </a:lvl3pPr>
            <a:lvl4pPr algn="l">
              <a:defRPr sz="5700" b="1">
                <a:solidFill>
                  <a:srgbClr val="FFFFFF"/>
                </a:solidFill>
                <a:latin typeface="Helvetica Neue"/>
                <a:ea typeface="Helvetica Neue"/>
                <a:cs typeface="Helvetica Neue"/>
              </a:defRPr>
            </a:lvl4pPr>
            <a:lvl5pPr algn="l">
              <a:defRPr sz="5700" b="1">
                <a:solidFill>
                  <a:srgbClr val="FFFFFF"/>
                </a:solidFill>
                <a:latin typeface="Helvetica Neue"/>
                <a:ea typeface="Helvetica Neue"/>
                <a:cs typeface="Helvetica Neue"/>
              </a:defRPr>
            </a:lvl5pPr>
            <a:lvl6pPr algn="l">
              <a:defRPr sz="5700" b="1">
                <a:solidFill>
                  <a:srgbClr val="FFFFFF"/>
                </a:solidFill>
                <a:latin typeface="Helvetica Neue"/>
                <a:ea typeface="Helvetica Neue"/>
                <a:cs typeface="Helvetica Neue"/>
              </a:defRPr>
            </a:lvl6pPr>
            <a:lvl7pPr algn="l">
              <a:defRPr sz="5700" b="1">
                <a:solidFill>
                  <a:srgbClr val="FFFFFF"/>
                </a:solidFill>
                <a:latin typeface="Helvetica Neue"/>
                <a:ea typeface="Helvetica Neue"/>
                <a:cs typeface="Helvetica Neue"/>
              </a:defRPr>
            </a:lvl7pPr>
            <a:lvl8pPr algn="l">
              <a:defRPr sz="5700" b="1">
                <a:solidFill>
                  <a:srgbClr val="FFFFFF"/>
                </a:solidFill>
                <a:latin typeface="Helvetica Neue"/>
                <a:ea typeface="Helvetica Neue"/>
                <a:cs typeface="Helvetica Neue"/>
              </a:defRPr>
            </a:lvl8pPr>
            <a:lvl9pPr algn="l">
              <a:defRPr sz="5700" b="1">
                <a:solidFill>
                  <a:srgbClr val="FFFFFF"/>
                </a:solidFill>
                <a:latin typeface="Helvetica Neue"/>
                <a:ea typeface="Helvetica Neue"/>
                <a:cs typeface="Helvetica Neue"/>
              </a:defRPr>
            </a:lvl9pPr>
          </a:lstStyle>
          <a:p xmlns:a="http://schemas.openxmlformats.org/drawingml/2006/main">
            <a:pPr algn="l">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iEnhancer-2L</a:t>
            </a:r>
          </a:p>
        </p:txBody>
      </p:sp>
      <p:sp>
        <p:nvSpPr>
          <p:cNvPr id="4" name="Reconstruction&#10;and evaluation">
            <a:extLst xmlns:a="http://schemas.openxmlformats.org/drawingml/2006/main">
              <a:ext uri="{FF2B5EF4-FFF2-40B4-BE49-F238E27FC236}">
                <a16:creationId xmlns:a16="http://schemas.microsoft.com/office/drawing/2014/main" id="{8CAFA7DA-131C-4720-8515-0CD088F83CCE}"/>
              </a:ext>
            </a:extLst>
          </p:cNvPr>
          <p:cNvSpPr>
            <a:spLocks xmlns:a="http://schemas.openxmlformats.org/drawingml/2006/main" noGrp="1"/>
          </p:cNvSpPr>
          <p:nvPr/>
        </p:nvSpPr>
        <p:spPr>
          <a:xfrm xmlns:a="http://schemas.openxmlformats.org/drawingml/2006/main">
            <a:off x="609600" y="2981325"/>
            <a:ext cx="5619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FFFFFF"/>
                </a:solidFill>
                <a:latin typeface="Helvetica Neue"/>
                <a:ea typeface="Helvetica Neue"/>
                <a:cs typeface="Helvetica Neue"/>
              </a:defRPr>
            </a:defPPr>
            <a:lvl1pPr algn="l">
              <a:defRPr sz="3900" b="0">
                <a:solidFill>
                  <a:srgbClr val="FFFFFF"/>
                </a:solidFill>
                <a:latin typeface="Helvetica Neue"/>
                <a:ea typeface="Helvetica Neue"/>
                <a:cs typeface="Helvetica Neue"/>
              </a:defRPr>
            </a:lvl1pPr>
            <a:lvl2pPr algn="l">
              <a:defRPr sz="3900" b="0">
                <a:solidFill>
                  <a:srgbClr val="FFFFFF"/>
                </a:solidFill>
                <a:latin typeface="Helvetica Neue"/>
                <a:ea typeface="Helvetica Neue"/>
                <a:cs typeface="Helvetica Neue"/>
              </a:defRPr>
            </a:lvl2pPr>
            <a:lvl3pPr algn="l">
              <a:defRPr sz="3900" b="0">
                <a:solidFill>
                  <a:srgbClr val="FFFFFF"/>
                </a:solidFill>
                <a:latin typeface="Helvetica Neue"/>
                <a:ea typeface="Helvetica Neue"/>
                <a:cs typeface="Helvetica Neue"/>
              </a:defRPr>
            </a:lvl3pPr>
            <a:lvl4pPr algn="l">
              <a:defRPr sz="3900" b="0">
                <a:solidFill>
                  <a:srgbClr val="FFFFFF"/>
                </a:solidFill>
                <a:latin typeface="Helvetica Neue"/>
                <a:ea typeface="Helvetica Neue"/>
                <a:cs typeface="Helvetica Neue"/>
              </a:defRPr>
            </a:lvl4pPr>
            <a:lvl5pPr algn="l">
              <a:defRPr sz="3900" b="0">
                <a:solidFill>
                  <a:srgbClr val="FFFFFF"/>
                </a:solidFill>
                <a:latin typeface="Helvetica Neue"/>
                <a:ea typeface="Helvetica Neue"/>
                <a:cs typeface="Helvetica Neue"/>
              </a:defRPr>
            </a:lvl5pPr>
            <a:lvl6pPr algn="l">
              <a:defRPr sz="3900" b="0">
                <a:solidFill>
                  <a:srgbClr val="FFFFFF"/>
                </a:solidFill>
                <a:latin typeface="Helvetica Neue"/>
                <a:ea typeface="Helvetica Neue"/>
                <a:cs typeface="Helvetica Neue"/>
              </a:defRPr>
            </a:lvl6pPr>
            <a:lvl7pPr algn="l">
              <a:defRPr sz="3900" b="0">
                <a:solidFill>
                  <a:srgbClr val="FFFFFF"/>
                </a:solidFill>
                <a:latin typeface="Helvetica Neue"/>
                <a:ea typeface="Helvetica Neue"/>
                <a:cs typeface="Helvetica Neue"/>
              </a:defRPr>
            </a:lvl7pPr>
            <a:lvl8pPr algn="l">
              <a:defRPr sz="3900" b="0">
                <a:solidFill>
                  <a:srgbClr val="FFFFFF"/>
                </a:solidFill>
                <a:latin typeface="Helvetica Neue"/>
                <a:ea typeface="Helvetica Neue"/>
                <a:cs typeface="Helvetica Neue"/>
              </a:defRPr>
            </a:lvl8pPr>
            <a:lvl9pPr algn="l">
              <a:defRPr sz="3900" b="0">
                <a:solidFill>
                  <a:srgbClr val="FFFFFF"/>
                </a:solidFill>
                <a:latin typeface="Helvetica Neue"/>
                <a:ea typeface="Helvetica Neue"/>
                <a:cs typeface="Helvetica Neue"/>
              </a:defRPr>
            </a:lvl9pPr>
          </a:lstStyle>
          <a:p xmlns:a="http://schemas.openxmlformats.org/drawingml/2006/main">
            <a:pPr algn="l">
              <a:defRPr sz="3900" b="0">
                <a:solidFill>
                  <a:srgbClr val="FFFFFF"/>
                </a:solidFill>
                <a:latin typeface="Helvetica Neue"/>
                <a:ea typeface="Helvetica Neue"/>
                <a:cs typeface="Helvetica Neue"/>
              </a:defRPr>
            </a:pPr>
            <a:r>
              <a:rPr sz="3900" b="0">
                <a:solidFill>
                  <a:srgbClr val="FFFFFF"/>
                </a:solidFill>
                <a:latin typeface="Helvetica Neue"/>
                <a:ea typeface="Helvetica Neue"/>
                <a:cs typeface="Helvetica Neue"/>
              </a:rPr>
              <a:t>Reconstruction</a:t>
            </a:r>
          </a:p>
          <a:p xmlns:a="http://schemas.openxmlformats.org/drawingml/2006/main">
            <a:pPr algn="l">
              <a:defRPr sz="3900" b="0">
                <a:solidFill>
                  <a:srgbClr val="FFFFFF"/>
                </a:solidFill>
                <a:latin typeface="Helvetica Neue"/>
                <a:ea typeface="Helvetica Neue"/>
                <a:cs typeface="Helvetica Neue"/>
              </a:defRPr>
            </a:pPr>
            <a:r>
              <a:rPr sz="3900" b="0">
                <a:solidFill>
                  <a:srgbClr val="FFFFFF"/>
                </a:solidFill>
                <a:latin typeface="Helvetica Neue"/>
                <a:ea typeface="Helvetica Neue"/>
                <a:cs typeface="Helvetica Neue"/>
              </a:rPr>
              <a:t>and evaluation</a:t>
            </a:r>
          </a:p>
        </p:txBody>
      </p:sp>
      <p:sp>
        <p:nvSpPr>
          <p:cNvPr id="5" name="Research update&#10;25 October 2026">
            <a:extLst xmlns:a="http://schemas.openxmlformats.org/drawingml/2006/main">
              <a:ext uri="{FF2B5EF4-FFF2-40B4-BE49-F238E27FC236}">
                <a16:creationId xmlns:a16="http://schemas.microsoft.com/office/drawing/2014/main" id="{534AD0D3-FF38-44BC-88A2-D964614B345F}"/>
              </a:ext>
            </a:extLst>
          </p:cNvPr>
          <p:cNvSpPr>
            <a:spLocks xmlns:a="http://schemas.openxmlformats.org/drawingml/2006/main" noGrp="1"/>
          </p:cNvSpPr>
          <p:nvPr/>
        </p:nvSpPr>
        <p:spPr>
          <a:xfrm xmlns:a="http://schemas.openxmlformats.org/drawingml/2006/main">
            <a:off x="609600" y="5324475"/>
            <a:ext cx="5715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0D0D8"/>
                </a:solidFill>
                <a:latin typeface="Helvetica Neue"/>
                <a:ea typeface="Helvetica Neue"/>
                <a:cs typeface="Helvetica Neue"/>
              </a:defRPr>
            </a:defPPr>
            <a:lvl1pPr algn="l">
              <a:defRPr sz="1950" b="0">
                <a:solidFill>
                  <a:srgbClr val="C0D0D8"/>
                </a:solidFill>
                <a:latin typeface="Helvetica Neue"/>
                <a:ea typeface="Helvetica Neue"/>
                <a:cs typeface="Helvetica Neue"/>
              </a:defRPr>
            </a:lvl1pPr>
            <a:lvl2pPr algn="l">
              <a:defRPr sz="1950" b="0">
                <a:solidFill>
                  <a:srgbClr val="C0D0D8"/>
                </a:solidFill>
                <a:latin typeface="Helvetica Neue"/>
                <a:ea typeface="Helvetica Neue"/>
                <a:cs typeface="Helvetica Neue"/>
              </a:defRPr>
            </a:lvl2pPr>
            <a:lvl3pPr algn="l">
              <a:defRPr sz="1950" b="0">
                <a:solidFill>
                  <a:srgbClr val="C0D0D8"/>
                </a:solidFill>
                <a:latin typeface="Helvetica Neue"/>
                <a:ea typeface="Helvetica Neue"/>
                <a:cs typeface="Helvetica Neue"/>
              </a:defRPr>
            </a:lvl3pPr>
            <a:lvl4pPr algn="l">
              <a:defRPr sz="1950" b="0">
                <a:solidFill>
                  <a:srgbClr val="C0D0D8"/>
                </a:solidFill>
                <a:latin typeface="Helvetica Neue"/>
                <a:ea typeface="Helvetica Neue"/>
                <a:cs typeface="Helvetica Neue"/>
              </a:defRPr>
            </a:lvl4pPr>
            <a:lvl5pPr algn="l">
              <a:defRPr sz="1950" b="0">
                <a:solidFill>
                  <a:srgbClr val="C0D0D8"/>
                </a:solidFill>
                <a:latin typeface="Helvetica Neue"/>
                <a:ea typeface="Helvetica Neue"/>
                <a:cs typeface="Helvetica Neue"/>
              </a:defRPr>
            </a:lvl5pPr>
            <a:lvl6pPr algn="l">
              <a:defRPr sz="1950" b="0">
                <a:solidFill>
                  <a:srgbClr val="C0D0D8"/>
                </a:solidFill>
                <a:latin typeface="Helvetica Neue"/>
                <a:ea typeface="Helvetica Neue"/>
                <a:cs typeface="Helvetica Neue"/>
              </a:defRPr>
            </a:lvl6pPr>
            <a:lvl7pPr algn="l">
              <a:defRPr sz="1950" b="0">
                <a:solidFill>
                  <a:srgbClr val="C0D0D8"/>
                </a:solidFill>
                <a:latin typeface="Helvetica Neue"/>
                <a:ea typeface="Helvetica Neue"/>
                <a:cs typeface="Helvetica Neue"/>
              </a:defRPr>
            </a:lvl7pPr>
            <a:lvl8pPr algn="l">
              <a:defRPr sz="1950" b="0">
                <a:solidFill>
                  <a:srgbClr val="C0D0D8"/>
                </a:solidFill>
                <a:latin typeface="Helvetica Neue"/>
                <a:ea typeface="Helvetica Neue"/>
                <a:cs typeface="Helvetica Neue"/>
              </a:defRPr>
            </a:lvl8pPr>
            <a:lvl9pPr algn="l">
              <a:defRPr sz="1950" b="0">
                <a:solidFill>
                  <a:srgbClr val="C0D0D8"/>
                </a:solidFill>
                <a:latin typeface="Helvetica Neue"/>
                <a:ea typeface="Helvetica Neue"/>
                <a:cs typeface="Helvetica Neue"/>
              </a:defRPr>
            </a:lvl9pPr>
          </a:lstStyle>
          <a:p xmlns:a="http://schemas.openxmlformats.org/drawingml/2006/main">
            <a:pPr algn="l">
              <a:defRPr sz="1950" b="0">
                <a:solidFill>
                  <a:srgbClr val="C0D0D8"/>
                </a:solidFill>
                <a:latin typeface="Helvetica Neue"/>
                <a:ea typeface="Helvetica Neue"/>
                <a:cs typeface="Helvetica Neue"/>
              </a:defRPr>
            </a:pPr>
            <a:r>
              <a:rPr sz="1950" b="0">
                <a:solidFill>
                  <a:srgbClr val="C0D0D8"/>
                </a:solidFill>
                <a:latin typeface="Helvetica Neue"/>
                <a:ea typeface="Helvetica Neue"/>
                <a:cs typeface="Helvetica Neue"/>
              </a:rPr>
              <a:t>Research update</a:t>
            </a:r>
          </a:p>
          <a:p xmlns:a="http://schemas.openxmlformats.org/drawingml/2006/main">
            <a:pPr algn="l">
              <a:defRPr sz="1950" b="0">
                <a:solidFill>
                  <a:srgbClr val="C0D0D8"/>
                </a:solidFill>
                <a:latin typeface="Helvetica Neue"/>
                <a:ea typeface="Helvetica Neue"/>
                <a:cs typeface="Helvetica Neue"/>
              </a:defRPr>
            </a:pPr>
            <a:r>
              <a:rPr sz="1950" b="0">
                <a:solidFill>
                  <a:srgbClr val="C0D0D8"/>
                </a:solidFill>
                <a:latin typeface="Helvetica Neue"/>
                <a:ea typeface="Helvetica Neue"/>
                <a:cs typeface="Helvetica Neue"/>
              </a:rPr>
              <a:t>25 October 2026</a:t>
            </a:r>
          </a:p>
        </p:txBody>
      </p:sp>
      <p:sp>
        <p:nvSpPr>
          <p:cNvPr id="6" name="Research website">
            <a:extLst xmlns:a="http://schemas.openxmlformats.org/drawingml/2006/main">
              <a:ext uri="{FF2B5EF4-FFF2-40B4-BE49-F238E27FC236}">
                <a16:creationId xmlns:a16="http://schemas.microsoft.com/office/drawing/2014/main" id="{4541D382-4833-466F-806F-9981DAD02731}"/>
              </a:ext>
            </a:extLst>
          </p:cNvPr>
          <p:cNvSpPr>
            <a:spLocks xmlns:a="http://schemas.openxmlformats.org/drawingml/2006/main" noGrp="1"/>
          </p:cNvSpPr>
          <p:nvPr/>
        </p:nvSpPr>
        <p:spPr>
          <a:xfrm xmlns:a="http://schemas.openxmlformats.org/drawingml/2006/main">
            <a:off x="9525000" y="6181725"/>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9BCAC5"/>
                </a:solidFill>
                <a:latin typeface="Helvetica Neue"/>
                <a:ea typeface="Helvetica Neue"/>
                <a:cs typeface="Helvetica Neue"/>
              </a:defRPr>
            </a:defPPr>
            <a:lvl1pPr algn="r">
              <a:defRPr sz="1500" b="0">
                <a:solidFill>
                  <a:srgbClr val="9BCAC5"/>
                </a:solidFill>
                <a:latin typeface="Helvetica Neue"/>
                <a:ea typeface="Helvetica Neue"/>
                <a:cs typeface="Helvetica Neue"/>
              </a:defRPr>
            </a:lvl1pPr>
            <a:lvl2pPr algn="r">
              <a:defRPr sz="1500" b="0">
                <a:solidFill>
                  <a:srgbClr val="9BCAC5"/>
                </a:solidFill>
                <a:latin typeface="Helvetica Neue"/>
                <a:ea typeface="Helvetica Neue"/>
                <a:cs typeface="Helvetica Neue"/>
              </a:defRPr>
            </a:lvl2pPr>
            <a:lvl3pPr algn="r">
              <a:defRPr sz="1500" b="0">
                <a:solidFill>
                  <a:srgbClr val="9BCAC5"/>
                </a:solidFill>
                <a:latin typeface="Helvetica Neue"/>
                <a:ea typeface="Helvetica Neue"/>
                <a:cs typeface="Helvetica Neue"/>
              </a:defRPr>
            </a:lvl3pPr>
            <a:lvl4pPr algn="r">
              <a:defRPr sz="1500" b="0">
                <a:solidFill>
                  <a:srgbClr val="9BCAC5"/>
                </a:solidFill>
                <a:latin typeface="Helvetica Neue"/>
                <a:ea typeface="Helvetica Neue"/>
                <a:cs typeface="Helvetica Neue"/>
              </a:defRPr>
            </a:lvl4pPr>
            <a:lvl5pPr algn="r">
              <a:defRPr sz="1500" b="0">
                <a:solidFill>
                  <a:srgbClr val="9BCAC5"/>
                </a:solidFill>
                <a:latin typeface="Helvetica Neue"/>
                <a:ea typeface="Helvetica Neue"/>
                <a:cs typeface="Helvetica Neue"/>
              </a:defRPr>
            </a:lvl5pPr>
            <a:lvl6pPr algn="r">
              <a:defRPr sz="1500" b="0">
                <a:solidFill>
                  <a:srgbClr val="9BCAC5"/>
                </a:solidFill>
                <a:latin typeface="Helvetica Neue"/>
                <a:ea typeface="Helvetica Neue"/>
                <a:cs typeface="Helvetica Neue"/>
              </a:defRPr>
            </a:lvl6pPr>
            <a:lvl7pPr algn="r">
              <a:defRPr sz="1500" b="0">
                <a:solidFill>
                  <a:srgbClr val="9BCAC5"/>
                </a:solidFill>
                <a:latin typeface="Helvetica Neue"/>
                <a:ea typeface="Helvetica Neue"/>
                <a:cs typeface="Helvetica Neue"/>
              </a:defRPr>
            </a:lvl7pPr>
            <a:lvl8pPr algn="r">
              <a:defRPr sz="1500" b="0">
                <a:solidFill>
                  <a:srgbClr val="9BCAC5"/>
                </a:solidFill>
                <a:latin typeface="Helvetica Neue"/>
                <a:ea typeface="Helvetica Neue"/>
                <a:cs typeface="Helvetica Neue"/>
              </a:defRPr>
            </a:lvl8pPr>
            <a:lvl9pPr algn="r">
              <a:defRPr sz="1500" b="0">
                <a:solidFill>
                  <a:srgbClr val="9BCAC5"/>
                </a:solidFill>
                <a:latin typeface="Helvetica Neue"/>
                <a:ea typeface="Helvetica Neue"/>
                <a:cs typeface="Helvetica Neue"/>
              </a:defRPr>
            </a:lvl9pPr>
          </a:lstStyle>
          <a:p xmlns:a="http://schemas.openxmlformats.org/drawingml/2006/main">
            <a:pPr algn="r">
              <a:defRPr sz="1500" b="0">
                <a:solidFill>
                  <a:srgbClr val="9BCAC5"/>
                </a:solidFill>
                <a:latin typeface="Helvetica Neue"/>
                <a:ea typeface="Helvetica Neue"/>
                <a:cs typeface="Helvetica Neue"/>
              </a:defRPr>
            </a:pPr>
            <a:r>
              <a:rPr sz="1500" b="0">
                <a:solidFill>
                  <a:srgbClr val="9BCAC5"/>
                </a:solidFill>
                <a:latin typeface="Helvetica Neue"/>
                <a:ea typeface="Helvetica Neue"/>
                <a:cs typeface="Helvetica Neue"/>
                <a:hlinkClick xmlns:r="http://schemas.openxmlformats.org/officeDocument/2006/relationships" r:id="Re80e9d8b06cb43f7"/>
              </a:rPr>
              <a:t>Research website</a:t>
            </a:r>
          </a:p>
        </p:txBody>
      </p:sp>
    </p:spTree>
    <p:extLst>
      <p:ext uri="{BB962C8B-B14F-4D97-AF65-F5344CB8AC3E}">
        <p14:creationId xmlns:p14="http://schemas.microsoft.com/office/powerpoint/2010/main" val="763778439"/>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RESEARCH UPDATE">
            <a:extLst xmlns:a="http://schemas.openxmlformats.org/drawingml/2006/main">
              <a:ext uri="{FF2B5EF4-FFF2-40B4-BE49-F238E27FC236}">
                <a16:creationId xmlns:a16="http://schemas.microsoft.com/office/drawing/2014/main" id="{A86C1620-D031-43F1-A1DC-443EBC742CF4}"/>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RESEARCH UPDATE</a:t>
            </a:r>
          </a:p>
        </p:txBody>
      </p:sp>
      <p:sp>
        <p:nvSpPr>
          <p:cNvPr id="2" name="Research question and scope">
            <a:extLst xmlns:a="http://schemas.openxmlformats.org/drawingml/2006/main">
              <a:ext uri="{FF2B5EF4-FFF2-40B4-BE49-F238E27FC236}">
                <a16:creationId xmlns:a16="http://schemas.microsoft.com/office/drawing/2014/main" id="{F9C3B76B-FC7D-4644-A317-B6738232E2C3}"/>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Research question and scope</a:t>
            </a:r>
          </a:p>
        </p:txBody>
      </p:sp>
      <p:sp>
        <p:nvSpPr>
          <p:cNvPr id="3" name="iEnhancer-2L reconstruction">
            <a:extLst xmlns:a="http://schemas.openxmlformats.org/drawingml/2006/main">
              <a:ext uri="{FF2B5EF4-FFF2-40B4-BE49-F238E27FC236}">
                <a16:creationId xmlns:a16="http://schemas.microsoft.com/office/drawing/2014/main" id="{E7F71191-8713-4ED8-8C78-F7B652AC8FEC}"/>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2">
            <a:extLst xmlns:a="http://schemas.openxmlformats.org/drawingml/2006/main">
              <a:ext uri="{FF2B5EF4-FFF2-40B4-BE49-F238E27FC236}">
                <a16:creationId xmlns:a16="http://schemas.microsoft.com/office/drawing/2014/main" id="{3EBACE65-0BFA-4222-9A91-E1BA66DD88AF}"/>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02</a:t>
            </a:r>
          </a:p>
        </p:txBody>
      </p:sp>
      <p:sp>
        <p:nvSpPr>
          <p:cNvPr id="5" name="What does the DNA sequence tell us?">
            <a:extLst xmlns:a="http://schemas.openxmlformats.org/drawingml/2006/main">
              <a:ext uri="{FF2B5EF4-FFF2-40B4-BE49-F238E27FC236}">
                <a16:creationId xmlns:a16="http://schemas.microsoft.com/office/drawing/2014/main" id="{DBC35E14-3125-4921-ABBC-B202982B6BFD}"/>
              </a:ext>
            </a:extLst>
          </p:cNvPr>
          <p:cNvSpPr>
            <a:spLocks xmlns:a="http://schemas.openxmlformats.org/drawingml/2006/main" noGrp="1"/>
          </p:cNvSpPr>
          <p:nvPr/>
        </p:nvSpPr>
        <p:spPr>
          <a:xfrm xmlns:a="http://schemas.openxmlformats.org/drawingml/2006/main">
            <a:off x="609600" y="179070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07F7A"/>
                </a:solidFill>
                <a:latin typeface="Helvetica Neue"/>
                <a:ea typeface="Helvetica Neue"/>
                <a:cs typeface="Helvetica Neue"/>
              </a:defRPr>
            </a:defPPr>
            <a:lvl1pPr algn="l">
              <a:defRPr sz="2475" b="1">
                <a:solidFill>
                  <a:srgbClr val="007F7A"/>
                </a:solidFill>
                <a:latin typeface="Helvetica Neue"/>
                <a:ea typeface="Helvetica Neue"/>
                <a:cs typeface="Helvetica Neue"/>
              </a:defRPr>
            </a:lvl1pPr>
            <a:lvl2pPr algn="l">
              <a:defRPr sz="2475" b="1">
                <a:solidFill>
                  <a:srgbClr val="007F7A"/>
                </a:solidFill>
                <a:latin typeface="Helvetica Neue"/>
                <a:ea typeface="Helvetica Neue"/>
                <a:cs typeface="Helvetica Neue"/>
              </a:defRPr>
            </a:lvl2pPr>
            <a:lvl3pPr algn="l">
              <a:defRPr sz="2475" b="1">
                <a:solidFill>
                  <a:srgbClr val="007F7A"/>
                </a:solidFill>
                <a:latin typeface="Helvetica Neue"/>
                <a:ea typeface="Helvetica Neue"/>
                <a:cs typeface="Helvetica Neue"/>
              </a:defRPr>
            </a:lvl3pPr>
            <a:lvl4pPr algn="l">
              <a:defRPr sz="2475" b="1">
                <a:solidFill>
                  <a:srgbClr val="007F7A"/>
                </a:solidFill>
                <a:latin typeface="Helvetica Neue"/>
                <a:ea typeface="Helvetica Neue"/>
                <a:cs typeface="Helvetica Neue"/>
              </a:defRPr>
            </a:lvl4pPr>
            <a:lvl5pPr algn="l">
              <a:defRPr sz="2475" b="1">
                <a:solidFill>
                  <a:srgbClr val="007F7A"/>
                </a:solidFill>
                <a:latin typeface="Helvetica Neue"/>
                <a:ea typeface="Helvetica Neue"/>
                <a:cs typeface="Helvetica Neue"/>
              </a:defRPr>
            </a:lvl5pPr>
            <a:lvl6pPr algn="l">
              <a:defRPr sz="2475" b="1">
                <a:solidFill>
                  <a:srgbClr val="007F7A"/>
                </a:solidFill>
                <a:latin typeface="Helvetica Neue"/>
                <a:ea typeface="Helvetica Neue"/>
                <a:cs typeface="Helvetica Neue"/>
              </a:defRPr>
            </a:lvl6pPr>
            <a:lvl7pPr algn="l">
              <a:defRPr sz="2475" b="1">
                <a:solidFill>
                  <a:srgbClr val="007F7A"/>
                </a:solidFill>
                <a:latin typeface="Helvetica Neue"/>
                <a:ea typeface="Helvetica Neue"/>
                <a:cs typeface="Helvetica Neue"/>
              </a:defRPr>
            </a:lvl7pPr>
            <a:lvl8pPr algn="l">
              <a:defRPr sz="2475" b="1">
                <a:solidFill>
                  <a:srgbClr val="007F7A"/>
                </a:solidFill>
                <a:latin typeface="Helvetica Neue"/>
                <a:ea typeface="Helvetica Neue"/>
                <a:cs typeface="Helvetica Neue"/>
              </a:defRPr>
            </a:lvl8pPr>
            <a:lvl9pPr algn="l">
              <a:defRPr sz="2475" b="1">
                <a:solidFill>
                  <a:srgbClr val="007F7A"/>
                </a:solidFill>
                <a:latin typeface="Helvetica Neue"/>
                <a:ea typeface="Helvetica Neue"/>
                <a:cs typeface="Helvetica Neue"/>
              </a:defRPr>
            </a:lvl9pPr>
          </a:lstStyle>
          <a:p xmlns:a="http://schemas.openxmlformats.org/drawingml/2006/main">
            <a:pPr algn="l">
              <a:defRPr sz="2475" b="1">
                <a:solidFill>
                  <a:srgbClr val="007F7A"/>
                </a:solidFill>
                <a:latin typeface="Helvetica Neue"/>
                <a:ea typeface="Helvetica Neue"/>
                <a:cs typeface="Helvetica Neue"/>
              </a:defRPr>
            </a:pPr>
            <a:r>
              <a:rPr sz="2475" b="1">
                <a:solidFill>
                  <a:srgbClr val="007F7A"/>
                </a:solidFill>
                <a:latin typeface="Helvetica Neue"/>
                <a:ea typeface="Helvetica Neue"/>
                <a:cs typeface="Helvetica Neue"/>
              </a:rPr>
              <a:t>What does the DNA sequence tell us?</a:t>
            </a:r>
          </a:p>
        </p:txBody>
      </p:sp>
      <p:sp>
        <p:nvSpPr>
          <p:cNvPr id="6" name="An enhancer is a DNA region that can increase">
            <a:extLst xmlns:a="http://schemas.openxmlformats.org/drawingml/2006/main">
              <a:ext uri="{FF2B5EF4-FFF2-40B4-BE49-F238E27FC236}">
                <a16:creationId xmlns:a16="http://schemas.microsoft.com/office/drawing/2014/main" id="{C0057A3D-E0FC-4DDF-B122-4987352FA59B}"/>
              </a:ext>
            </a:extLst>
          </p:cNvPr>
          <p:cNvSpPr>
            <a:spLocks xmlns:a="http://schemas.openxmlformats.org/drawingml/2006/main" noGrp="1"/>
          </p:cNvSpPr>
          <p:nvPr/>
        </p:nvSpPr>
        <p:spPr>
          <a:xfrm xmlns:a="http://schemas.openxmlformats.org/drawingml/2006/main">
            <a:off x="609600" y="2476500"/>
            <a:ext cx="60769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An enhancer is a DNA region that can increase gene expression. Its activity can depend on the cellular setting.</a:t>
            </a:r>
          </a:p>
        </p:txBody>
      </p:sp>
      <p:sp>
        <p:nvSpPr>
          <p:cNvPr id="7" name="The completed work reconstructs a historical ">
            <a:extLst xmlns:a="http://schemas.openxmlformats.org/drawingml/2006/main">
              <a:ext uri="{FF2B5EF4-FFF2-40B4-BE49-F238E27FC236}">
                <a16:creationId xmlns:a16="http://schemas.microsoft.com/office/drawing/2014/main" id="{30C889B8-09BD-42C2-97E7-1C358168D4F9}"/>
              </a:ext>
            </a:extLst>
          </p:cNvPr>
          <p:cNvSpPr>
            <a:spLocks xmlns:a="http://schemas.openxmlformats.org/drawingml/2006/main" noGrp="1"/>
          </p:cNvSpPr>
          <p:nvPr/>
        </p:nvSpPr>
        <p:spPr>
          <a:xfrm xmlns:a="http://schemas.openxmlformats.org/drawingml/2006/main">
            <a:off x="609600" y="4019550"/>
            <a:ext cx="60769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The completed work reconstructs a historical sequence classifier and checks its behavior against published results and the authors’ server.</a:t>
            </a:r>
          </a:p>
        </p:txBody>
      </p:sp>
      <p:sp>
        <p:nvSpPr>
          <p:cNvPr id="8" name="Completed">
            <a:extLst xmlns:a="http://schemas.openxmlformats.org/drawingml/2006/main">
              <a:ext uri="{FF2B5EF4-FFF2-40B4-BE49-F238E27FC236}">
                <a16:creationId xmlns:a16="http://schemas.microsoft.com/office/drawing/2014/main" id="{0B570DD1-10A2-455E-8680-C9783782D3AF}"/>
              </a:ext>
            </a:extLst>
          </p:cNvPr>
          <p:cNvSpPr>
            <a:spLocks xmlns:a="http://schemas.openxmlformats.org/drawingml/2006/main" noGrp="1"/>
          </p:cNvSpPr>
          <p:nvPr/>
        </p:nvSpPr>
        <p:spPr>
          <a:xfrm xmlns:a="http://schemas.openxmlformats.org/drawingml/2006/main">
            <a:off x="7524750" y="183832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A"/>
                </a:solidFill>
                <a:latin typeface="Helvetica Neue"/>
                <a:ea typeface="Helvetica Neue"/>
                <a:cs typeface="Helvetica Neue"/>
              </a:defRPr>
            </a:defPPr>
            <a:lvl1pPr algn="l">
              <a:defRPr sz="2025" b="1">
                <a:solidFill>
                  <a:srgbClr val="007F7A"/>
                </a:solidFill>
                <a:latin typeface="Helvetica Neue"/>
                <a:ea typeface="Helvetica Neue"/>
                <a:cs typeface="Helvetica Neue"/>
              </a:defRPr>
            </a:lvl1pPr>
            <a:lvl2pPr algn="l">
              <a:defRPr sz="2025" b="1">
                <a:solidFill>
                  <a:srgbClr val="007F7A"/>
                </a:solidFill>
                <a:latin typeface="Helvetica Neue"/>
                <a:ea typeface="Helvetica Neue"/>
                <a:cs typeface="Helvetica Neue"/>
              </a:defRPr>
            </a:lvl2pPr>
            <a:lvl3pPr algn="l">
              <a:defRPr sz="2025" b="1">
                <a:solidFill>
                  <a:srgbClr val="007F7A"/>
                </a:solidFill>
                <a:latin typeface="Helvetica Neue"/>
                <a:ea typeface="Helvetica Neue"/>
                <a:cs typeface="Helvetica Neue"/>
              </a:defRPr>
            </a:lvl3pPr>
            <a:lvl4pPr algn="l">
              <a:defRPr sz="2025" b="1">
                <a:solidFill>
                  <a:srgbClr val="007F7A"/>
                </a:solidFill>
                <a:latin typeface="Helvetica Neue"/>
                <a:ea typeface="Helvetica Neue"/>
                <a:cs typeface="Helvetica Neue"/>
              </a:defRPr>
            </a:lvl4pPr>
            <a:lvl5pPr algn="l">
              <a:defRPr sz="2025" b="1">
                <a:solidFill>
                  <a:srgbClr val="007F7A"/>
                </a:solidFill>
                <a:latin typeface="Helvetica Neue"/>
                <a:ea typeface="Helvetica Neue"/>
                <a:cs typeface="Helvetica Neue"/>
              </a:defRPr>
            </a:lvl5pPr>
            <a:lvl6pPr algn="l">
              <a:defRPr sz="2025" b="1">
                <a:solidFill>
                  <a:srgbClr val="007F7A"/>
                </a:solidFill>
                <a:latin typeface="Helvetica Neue"/>
                <a:ea typeface="Helvetica Neue"/>
                <a:cs typeface="Helvetica Neue"/>
              </a:defRPr>
            </a:lvl6pPr>
            <a:lvl7pPr algn="l">
              <a:defRPr sz="2025" b="1">
                <a:solidFill>
                  <a:srgbClr val="007F7A"/>
                </a:solidFill>
                <a:latin typeface="Helvetica Neue"/>
                <a:ea typeface="Helvetica Neue"/>
                <a:cs typeface="Helvetica Neue"/>
              </a:defRPr>
            </a:lvl7pPr>
            <a:lvl8pPr algn="l">
              <a:defRPr sz="2025" b="1">
                <a:solidFill>
                  <a:srgbClr val="007F7A"/>
                </a:solidFill>
                <a:latin typeface="Helvetica Neue"/>
                <a:ea typeface="Helvetica Neue"/>
                <a:cs typeface="Helvetica Neue"/>
              </a:defRPr>
            </a:lvl8pPr>
            <a:lvl9pPr algn="l">
              <a:defRPr sz="2025" b="1">
                <a:solidFill>
                  <a:srgbClr val="007F7A"/>
                </a:solidFill>
                <a:latin typeface="Helvetica Neue"/>
                <a:ea typeface="Helvetica Neue"/>
                <a:cs typeface="Helvetica Neue"/>
              </a:defRPr>
            </a:lvl9pPr>
          </a:lstStyle>
          <a:p xmlns:a="http://schemas.openxmlformats.org/drawingml/2006/main">
            <a:pPr algn="l">
              <a:defRPr sz="2025" b="1">
                <a:solidFill>
                  <a:srgbClr val="007F7A"/>
                </a:solidFill>
                <a:latin typeface="Helvetica Neue"/>
                <a:ea typeface="Helvetica Neue"/>
                <a:cs typeface="Helvetica Neue"/>
              </a:defRPr>
            </a:pPr>
            <a:r>
              <a:rPr sz="2025" b="1">
                <a:solidFill>
                  <a:srgbClr val="007F7A"/>
                </a:solidFill>
                <a:latin typeface="Helvetica Neue"/>
                <a:ea typeface="Helvetica Neue"/>
                <a:cs typeface="Helvetica Neue"/>
              </a:rPr>
              <a:t>Completed</a:t>
            </a:r>
          </a:p>
        </p:txBody>
      </p:sp>
      <p:sp>
        <p:nvSpPr>
          <p:cNvPr id="9" name="Historical benchmark&#10;Feature comparisons&#10;Serv">
            <a:extLst xmlns:a="http://schemas.openxmlformats.org/drawingml/2006/main">
              <a:ext uri="{FF2B5EF4-FFF2-40B4-BE49-F238E27FC236}">
                <a16:creationId xmlns:a16="http://schemas.microsoft.com/office/drawing/2014/main" id="{A5C59ECE-2D95-4974-929D-EC9279EB03A5}"/>
              </a:ext>
            </a:extLst>
          </p:cNvPr>
          <p:cNvSpPr>
            <a:spLocks xmlns:a="http://schemas.openxmlformats.org/drawingml/2006/main" noGrp="1"/>
          </p:cNvSpPr>
          <p:nvPr/>
        </p:nvSpPr>
        <p:spPr>
          <a:xfrm xmlns:a="http://schemas.openxmlformats.org/drawingml/2006/main">
            <a:off x="7524750" y="2305050"/>
            <a:ext cx="3905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Historical benchmark</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Feature comparisons</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Server agreement checks</a:t>
            </a:r>
          </a:p>
        </p:txBody>
      </p:sp>
      <p:sp>
        <p:nvSpPr>
          <p:cNvPr id="10" name="Planned">
            <a:extLst xmlns:a="http://schemas.openxmlformats.org/drawingml/2006/main">
              <a:ext uri="{FF2B5EF4-FFF2-40B4-BE49-F238E27FC236}">
                <a16:creationId xmlns:a16="http://schemas.microsoft.com/office/drawing/2014/main" id="{A302BBD9-9CF4-4420-A3F2-7EBBDB7E1A0F}"/>
              </a:ext>
            </a:extLst>
          </p:cNvPr>
          <p:cNvSpPr>
            <a:spLocks xmlns:a="http://schemas.openxmlformats.org/drawingml/2006/main" noGrp="1"/>
          </p:cNvSpPr>
          <p:nvPr/>
        </p:nvSpPr>
        <p:spPr>
          <a:xfrm xmlns:a="http://schemas.openxmlformats.org/drawingml/2006/main">
            <a:off x="7524750" y="41052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A5C12"/>
                </a:solidFill>
                <a:latin typeface="Helvetica Neue"/>
                <a:ea typeface="Helvetica Neue"/>
                <a:cs typeface="Helvetica Neue"/>
              </a:defRPr>
            </a:defPPr>
            <a:lvl1pPr algn="l">
              <a:defRPr sz="2025" b="1">
                <a:solidFill>
                  <a:srgbClr val="9A5C12"/>
                </a:solidFill>
                <a:latin typeface="Helvetica Neue"/>
                <a:ea typeface="Helvetica Neue"/>
                <a:cs typeface="Helvetica Neue"/>
              </a:defRPr>
            </a:lvl1pPr>
            <a:lvl2pPr algn="l">
              <a:defRPr sz="2025" b="1">
                <a:solidFill>
                  <a:srgbClr val="9A5C12"/>
                </a:solidFill>
                <a:latin typeface="Helvetica Neue"/>
                <a:ea typeface="Helvetica Neue"/>
                <a:cs typeface="Helvetica Neue"/>
              </a:defRPr>
            </a:lvl2pPr>
            <a:lvl3pPr algn="l">
              <a:defRPr sz="2025" b="1">
                <a:solidFill>
                  <a:srgbClr val="9A5C12"/>
                </a:solidFill>
                <a:latin typeface="Helvetica Neue"/>
                <a:ea typeface="Helvetica Neue"/>
                <a:cs typeface="Helvetica Neue"/>
              </a:defRPr>
            </a:lvl3pPr>
            <a:lvl4pPr algn="l">
              <a:defRPr sz="2025" b="1">
                <a:solidFill>
                  <a:srgbClr val="9A5C12"/>
                </a:solidFill>
                <a:latin typeface="Helvetica Neue"/>
                <a:ea typeface="Helvetica Neue"/>
                <a:cs typeface="Helvetica Neue"/>
              </a:defRPr>
            </a:lvl4pPr>
            <a:lvl5pPr algn="l">
              <a:defRPr sz="2025" b="1">
                <a:solidFill>
                  <a:srgbClr val="9A5C12"/>
                </a:solidFill>
                <a:latin typeface="Helvetica Neue"/>
                <a:ea typeface="Helvetica Neue"/>
                <a:cs typeface="Helvetica Neue"/>
              </a:defRPr>
            </a:lvl5pPr>
            <a:lvl6pPr algn="l">
              <a:defRPr sz="2025" b="1">
                <a:solidFill>
                  <a:srgbClr val="9A5C12"/>
                </a:solidFill>
                <a:latin typeface="Helvetica Neue"/>
                <a:ea typeface="Helvetica Neue"/>
                <a:cs typeface="Helvetica Neue"/>
              </a:defRPr>
            </a:lvl6pPr>
            <a:lvl7pPr algn="l">
              <a:defRPr sz="2025" b="1">
                <a:solidFill>
                  <a:srgbClr val="9A5C12"/>
                </a:solidFill>
                <a:latin typeface="Helvetica Neue"/>
                <a:ea typeface="Helvetica Neue"/>
                <a:cs typeface="Helvetica Neue"/>
              </a:defRPr>
            </a:lvl7pPr>
            <a:lvl8pPr algn="l">
              <a:defRPr sz="2025" b="1">
                <a:solidFill>
                  <a:srgbClr val="9A5C12"/>
                </a:solidFill>
                <a:latin typeface="Helvetica Neue"/>
                <a:ea typeface="Helvetica Neue"/>
                <a:cs typeface="Helvetica Neue"/>
              </a:defRPr>
            </a:lvl8pPr>
            <a:lvl9pPr algn="l">
              <a:defRPr sz="2025" b="1">
                <a:solidFill>
                  <a:srgbClr val="9A5C12"/>
                </a:solidFill>
                <a:latin typeface="Helvetica Neue"/>
                <a:ea typeface="Helvetica Neue"/>
                <a:cs typeface="Helvetica Neue"/>
              </a:defRPr>
            </a:lvl9pPr>
          </a:lstStyle>
          <a:p xmlns:a="http://schemas.openxmlformats.org/drawingml/2006/main">
            <a:pPr algn="l">
              <a:defRPr sz="2025" b="1">
                <a:solidFill>
                  <a:srgbClr val="9A5C12"/>
                </a:solidFill>
                <a:latin typeface="Helvetica Neue"/>
                <a:ea typeface="Helvetica Neue"/>
                <a:cs typeface="Helvetica Neue"/>
              </a:defRPr>
            </a:pPr>
            <a:r>
              <a:rPr sz="2025" b="1">
                <a:solidFill>
                  <a:srgbClr val="9A5C12"/>
                </a:solidFill>
                <a:latin typeface="Helvetica Neue"/>
                <a:ea typeface="Helvetica Neue"/>
                <a:cs typeface="Helvetica Neue"/>
              </a:rPr>
              <a:t>Planned</a:t>
            </a:r>
          </a:p>
        </p:txBody>
      </p:sp>
      <p:sp>
        <p:nvSpPr>
          <p:cNvPr id="11" name="Independent assay evaluation&#10;Activity in thre">
            <a:extLst xmlns:a="http://schemas.openxmlformats.org/drawingml/2006/main">
              <a:ext uri="{FF2B5EF4-FFF2-40B4-BE49-F238E27FC236}">
                <a16:creationId xmlns:a16="http://schemas.microsoft.com/office/drawing/2014/main" id="{D82D3836-1B4E-42C1-BF40-5E1AE3AC8C6D}"/>
              </a:ext>
            </a:extLst>
          </p:cNvPr>
          <p:cNvSpPr>
            <a:spLocks xmlns:a="http://schemas.openxmlformats.org/drawingml/2006/main" noGrp="1"/>
          </p:cNvSpPr>
          <p:nvPr/>
        </p:nvSpPr>
        <p:spPr>
          <a:xfrm xmlns:a="http://schemas.openxmlformats.org/drawingml/2006/main">
            <a:off x="7524750" y="457200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Independent assay evaluation</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Activity in three cell types</a:t>
            </a:r>
          </a:p>
        </p:txBody>
      </p:sp>
      <p:sp>
        <p:nvSpPr>
          <p:cNvPr id="12" name="The original complete author code has not bee">
            <a:extLst xmlns:a="http://schemas.openxmlformats.org/drawingml/2006/main">
              <a:ext uri="{FF2B5EF4-FFF2-40B4-BE49-F238E27FC236}">
                <a16:creationId xmlns:a16="http://schemas.microsoft.com/office/drawing/2014/main" id="{B07F6B96-893D-4FAD-8390-B40731673AE6}"/>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The original complete author code has not been recovered. Our implementation is a reconstruction.</a:t>
            </a:r>
          </a:p>
        </p:txBody>
      </p:sp>
    </p:spTree>
    <p:extLst>
      <p:ext uri="{BB962C8B-B14F-4D97-AF65-F5344CB8AC3E}">
        <p14:creationId xmlns:p14="http://schemas.microsoft.com/office/powerpoint/2010/main" val="1576922622"/>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ORIGINAL METHOD">
            <a:extLst xmlns:a="http://schemas.openxmlformats.org/drawingml/2006/main">
              <a:ext uri="{FF2B5EF4-FFF2-40B4-BE49-F238E27FC236}">
                <a16:creationId xmlns:a16="http://schemas.microsoft.com/office/drawing/2014/main" id="{15072258-AE4D-42A9-8E05-285DBA9646DD}"/>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ORIGINAL METHOD</a:t>
            </a:r>
          </a:p>
        </p:txBody>
      </p:sp>
      <p:sp>
        <p:nvSpPr>
          <p:cNvPr id="2" name="The published two-layer method">
            <a:extLst xmlns:a="http://schemas.openxmlformats.org/drawingml/2006/main">
              <a:ext uri="{FF2B5EF4-FFF2-40B4-BE49-F238E27FC236}">
                <a16:creationId xmlns:a16="http://schemas.microsoft.com/office/drawing/2014/main" id="{CAEAB207-B265-4B21-98B8-199451029C87}"/>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The published two-layer method</a:t>
            </a:r>
          </a:p>
        </p:txBody>
      </p:sp>
      <p:sp>
        <p:nvSpPr>
          <p:cNvPr id="3" name="iEnhancer-2L reconstruction">
            <a:extLst xmlns:a="http://schemas.openxmlformats.org/drawingml/2006/main">
              <a:ext uri="{FF2B5EF4-FFF2-40B4-BE49-F238E27FC236}">
                <a16:creationId xmlns:a16="http://schemas.microsoft.com/office/drawing/2014/main" id="{3A704CAC-1380-4D95-B603-7BCAB2025162}"/>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3">
            <a:extLst xmlns:a="http://schemas.openxmlformats.org/drawingml/2006/main">
              <a:ext uri="{FF2B5EF4-FFF2-40B4-BE49-F238E27FC236}">
                <a16:creationId xmlns:a16="http://schemas.microsoft.com/office/drawing/2014/main" id="{78C28D87-2A0B-42A0-A371-FA0DC0D3481F}"/>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03</a:t>
            </a:r>
          </a:p>
        </p:txBody>
      </p:sp>
      <p:pic>
        <p:nvPicPr>
          <p:cNvPr id="5" name="">
            <a:extLst xmlns:a="http://schemas.openxmlformats.org/drawingml/2006/main">
              <a:ext uri="{FF2B5EF4-FFF2-40B4-BE49-F238E27FC236}">
                <a16:creationId xmlns:a16="http://schemas.microsoft.com/office/drawing/2014/main" id="{B3CD5CA5-4E75-472E-A54E-CC850B403E9B}"/>
              </a:ext>
            </a:extLst>
          </p:cNvPr>
          <p:cNvPicPr>
            <a:picLocks xmlns:a="http://schemas.openxmlformats.org/drawingml/2006/main" noChangeAspect="1"/>
          </p:cNvPicPr>
          <p:nvPr/>
        </p:nvPicPr>
        <p:blipFill>
          <a:blip xmlns:r="http://schemas.openxmlformats.org/officeDocument/2006/relationships" xmlns:a="http://schemas.openxmlformats.org/drawingml/2006/main" r:embed="Re1761ee16a344d54"/>
          <a:stretch xmlns:a="http://schemas.openxmlformats.org/drawingml/2006/main"/>
        </p:blipFill>
        <p:spPr>
          <a:xfrm xmlns:a="http://schemas.openxmlformats.org/drawingml/2006/main">
            <a:off x="609600" y="1771962"/>
            <a:ext cx="4953000" cy="3504577"/>
          </a:xfrm>
          <a:prstGeom xmlns:a="http://schemas.openxmlformats.org/drawingml/2006/main" prst="rect">
            <a:avLst/>
          </a:prstGeom>
        </p:spPr>
      </p:pic>
      <p:sp>
        <p:nvSpPr>
          <p:cNvPr id="6" name="Input">
            <a:extLst xmlns:a="http://schemas.openxmlformats.org/drawingml/2006/main">
              <a:ext uri="{FF2B5EF4-FFF2-40B4-BE49-F238E27FC236}">
                <a16:creationId xmlns:a16="http://schemas.microsoft.com/office/drawing/2014/main" id="{D38A827C-F13C-4B93-9340-30BDF2FD851B}"/>
              </a:ext>
            </a:extLst>
          </p:cNvPr>
          <p:cNvSpPr>
            <a:spLocks xmlns:a="http://schemas.openxmlformats.org/drawingml/2006/main" noGrp="1"/>
          </p:cNvSpPr>
          <p:nvPr/>
        </p:nvSpPr>
        <p:spPr>
          <a:xfrm xmlns:a="http://schemas.openxmlformats.org/drawingml/2006/main">
            <a:off x="6191250" y="17716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A"/>
                </a:solidFill>
                <a:latin typeface="Helvetica Neue"/>
                <a:ea typeface="Helvetica Neue"/>
                <a:cs typeface="Helvetica Neue"/>
              </a:defRPr>
            </a:defPPr>
            <a:lvl1pPr algn="l">
              <a:defRPr sz="2175" b="1">
                <a:solidFill>
                  <a:srgbClr val="007F7A"/>
                </a:solidFill>
                <a:latin typeface="Helvetica Neue"/>
                <a:ea typeface="Helvetica Neue"/>
                <a:cs typeface="Helvetica Neue"/>
              </a:defRPr>
            </a:lvl1pPr>
            <a:lvl2pPr algn="l">
              <a:defRPr sz="2175" b="1">
                <a:solidFill>
                  <a:srgbClr val="007F7A"/>
                </a:solidFill>
                <a:latin typeface="Helvetica Neue"/>
                <a:ea typeface="Helvetica Neue"/>
                <a:cs typeface="Helvetica Neue"/>
              </a:defRPr>
            </a:lvl2pPr>
            <a:lvl3pPr algn="l">
              <a:defRPr sz="2175" b="1">
                <a:solidFill>
                  <a:srgbClr val="007F7A"/>
                </a:solidFill>
                <a:latin typeface="Helvetica Neue"/>
                <a:ea typeface="Helvetica Neue"/>
                <a:cs typeface="Helvetica Neue"/>
              </a:defRPr>
            </a:lvl3pPr>
            <a:lvl4pPr algn="l">
              <a:defRPr sz="2175" b="1">
                <a:solidFill>
                  <a:srgbClr val="007F7A"/>
                </a:solidFill>
                <a:latin typeface="Helvetica Neue"/>
                <a:ea typeface="Helvetica Neue"/>
                <a:cs typeface="Helvetica Neue"/>
              </a:defRPr>
            </a:lvl4pPr>
            <a:lvl5pPr algn="l">
              <a:defRPr sz="2175" b="1">
                <a:solidFill>
                  <a:srgbClr val="007F7A"/>
                </a:solidFill>
                <a:latin typeface="Helvetica Neue"/>
                <a:ea typeface="Helvetica Neue"/>
                <a:cs typeface="Helvetica Neue"/>
              </a:defRPr>
            </a:lvl5pPr>
            <a:lvl6pPr algn="l">
              <a:defRPr sz="2175" b="1">
                <a:solidFill>
                  <a:srgbClr val="007F7A"/>
                </a:solidFill>
                <a:latin typeface="Helvetica Neue"/>
                <a:ea typeface="Helvetica Neue"/>
                <a:cs typeface="Helvetica Neue"/>
              </a:defRPr>
            </a:lvl6pPr>
            <a:lvl7pPr algn="l">
              <a:defRPr sz="2175" b="1">
                <a:solidFill>
                  <a:srgbClr val="007F7A"/>
                </a:solidFill>
                <a:latin typeface="Helvetica Neue"/>
                <a:ea typeface="Helvetica Neue"/>
                <a:cs typeface="Helvetica Neue"/>
              </a:defRPr>
            </a:lvl7pPr>
            <a:lvl8pPr algn="l">
              <a:defRPr sz="2175" b="1">
                <a:solidFill>
                  <a:srgbClr val="007F7A"/>
                </a:solidFill>
                <a:latin typeface="Helvetica Neue"/>
                <a:ea typeface="Helvetica Neue"/>
                <a:cs typeface="Helvetica Neue"/>
              </a:defRPr>
            </a:lvl8pPr>
            <a:lvl9pPr algn="l">
              <a:defRPr sz="2175" b="1">
                <a:solidFill>
                  <a:srgbClr val="007F7A"/>
                </a:solidFill>
                <a:latin typeface="Helvetica Neue"/>
                <a:ea typeface="Helvetica Neue"/>
                <a:cs typeface="Helvetica Neue"/>
              </a:defRPr>
            </a:lvl9pPr>
          </a:lstStyle>
          <a:p xmlns:a="http://schemas.openxmlformats.org/drawingml/2006/main">
            <a:pPr algn="l">
              <a:defRPr sz="2175" b="1">
                <a:solidFill>
                  <a:srgbClr val="007F7A"/>
                </a:solidFill>
                <a:latin typeface="Helvetica Neue"/>
                <a:ea typeface="Helvetica Neue"/>
                <a:cs typeface="Helvetica Neue"/>
              </a:defRPr>
            </a:pPr>
            <a:r>
              <a:rPr sz="2175" b="1">
                <a:solidFill>
                  <a:srgbClr val="007F7A"/>
                </a:solidFill>
                <a:latin typeface="Helvetica Neue"/>
                <a:ea typeface="Helvetica Neue"/>
                <a:cs typeface="Helvetica Neue"/>
              </a:rPr>
              <a:t>Input</a:t>
            </a:r>
          </a:p>
        </p:txBody>
      </p:sp>
      <p:sp>
        <p:nvSpPr>
          <p:cNvPr id="7" name="DNA sequences of 200 bases">
            <a:extLst xmlns:a="http://schemas.openxmlformats.org/drawingml/2006/main">
              <a:ext uri="{FF2B5EF4-FFF2-40B4-BE49-F238E27FC236}">
                <a16:creationId xmlns:a16="http://schemas.microsoft.com/office/drawing/2014/main" id="{EB0DF487-311C-4703-8C7E-886A678CD287}"/>
              </a:ext>
            </a:extLst>
          </p:cNvPr>
          <p:cNvSpPr>
            <a:spLocks xmlns:a="http://schemas.openxmlformats.org/drawingml/2006/main" noGrp="1"/>
          </p:cNvSpPr>
          <p:nvPr/>
        </p:nvSpPr>
        <p:spPr>
          <a:xfrm xmlns:a="http://schemas.openxmlformats.org/drawingml/2006/main">
            <a:off x="6191250" y="21907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344"/>
                </a:solidFill>
                <a:latin typeface="Helvetica Neue"/>
                <a:ea typeface="Helvetica Neue"/>
                <a:cs typeface="Helvetica Neue"/>
              </a:defRPr>
            </a:defPPr>
            <a:lvl1pPr algn="l">
              <a:defRPr sz="2175" b="0">
                <a:solidFill>
                  <a:srgbClr val="173344"/>
                </a:solidFill>
                <a:latin typeface="Helvetica Neue"/>
                <a:ea typeface="Helvetica Neue"/>
                <a:cs typeface="Helvetica Neue"/>
              </a:defRPr>
            </a:lvl1pPr>
            <a:lvl2pPr algn="l">
              <a:defRPr sz="2175" b="0">
                <a:solidFill>
                  <a:srgbClr val="173344"/>
                </a:solidFill>
                <a:latin typeface="Helvetica Neue"/>
                <a:ea typeface="Helvetica Neue"/>
                <a:cs typeface="Helvetica Neue"/>
              </a:defRPr>
            </a:lvl2pPr>
            <a:lvl3pPr algn="l">
              <a:defRPr sz="2175" b="0">
                <a:solidFill>
                  <a:srgbClr val="173344"/>
                </a:solidFill>
                <a:latin typeface="Helvetica Neue"/>
                <a:ea typeface="Helvetica Neue"/>
                <a:cs typeface="Helvetica Neue"/>
              </a:defRPr>
            </a:lvl3pPr>
            <a:lvl4pPr algn="l">
              <a:defRPr sz="2175" b="0">
                <a:solidFill>
                  <a:srgbClr val="173344"/>
                </a:solidFill>
                <a:latin typeface="Helvetica Neue"/>
                <a:ea typeface="Helvetica Neue"/>
                <a:cs typeface="Helvetica Neue"/>
              </a:defRPr>
            </a:lvl4pPr>
            <a:lvl5pPr algn="l">
              <a:defRPr sz="2175" b="0">
                <a:solidFill>
                  <a:srgbClr val="173344"/>
                </a:solidFill>
                <a:latin typeface="Helvetica Neue"/>
                <a:ea typeface="Helvetica Neue"/>
                <a:cs typeface="Helvetica Neue"/>
              </a:defRPr>
            </a:lvl5pPr>
            <a:lvl6pPr algn="l">
              <a:defRPr sz="2175" b="0">
                <a:solidFill>
                  <a:srgbClr val="173344"/>
                </a:solidFill>
                <a:latin typeface="Helvetica Neue"/>
                <a:ea typeface="Helvetica Neue"/>
                <a:cs typeface="Helvetica Neue"/>
              </a:defRPr>
            </a:lvl6pPr>
            <a:lvl7pPr algn="l">
              <a:defRPr sz="2175" b="0">
                <a:solidFill>
                  <a:srgbClr val="173344"/>
                </a:solidFill>
                <a:latin typeface="Helvetica Neue"/>
                <a:ea typeface="Helvetica Neue"/>
                <a:cs typeface="Helvetica Neue"/>
              </a:defRPr>
            </a:lvl7pPr>
            <a:lvl8pPr algn="l">
              <a:defRPr sz="2175" b="0">
                <a:solidFill>
                  <a:srgbClr val="173344"/>
                </a:solidFill>
                <a:latin typeface="Helvetica Neue"/>
                <a:ea typeface="Helvetica Neue"/>
                <a:cs typeface="Helvetica Neue"/>
              </a:defRPr>
            </a:lvl8pPr>
            <a:lvl9pPr algn="l">
              <a:defRPr sz="2175" b="0">
                <a:solidFill>
                  <a:srgbClr val="173344"/>
                </a:solidFill>
                <a:latin typeface="Helvetica Neue"/>
                <a:ea typeface="Helvetica Neue"/>
                <a:cs typeface="Helvetica Neue"/>
              </a:defRPr>
            </a:lvl9pPr>
          </a:lstStyle>
          <a:p xmlns:a="http://schemas.openxmlformats.org/drawingml/2006/main">
            <a:pPr algn="l">
              <a:defRPr sz="2175" b="0">
                <a:solidFill>
                  <a:srgbClr val="173344"/>
                </a:solidFill>
                <a:latin typeface="Helvetica Neue"/>
                <a:ea typeface="Helvetica Neue"/>
                <a:cs typeface="Helvetica Neue"/>
              </a:defRPr>
            </a:pPr>
            <a:r>
              <a:rPr sz="2175" b="0">
                <a:solidFill>
                  <a:srgbClr val="173344"/>
                </a:solidFill>
                <a:latin typeface="Helvetica Neue"/>
                <a:ea typeface="Helvetica Neue"/>
                <a:cs typeface="Helvetica Neue"/>
              </a:rPr>
              <a:t>DNA sequences of 200 bases</a:t>
            </a:r>
          </a:p>
        </p:txBody>
      </p:sp>
      <p:sp>
        <p:nvSpPr>
          <p:cNvPr id="8" name="Layer I">
            <a:extLst xmlns:a="http://schemas.openxmlformats.org/drawingml/2006/main">
              <a:ext uri="{FF2B5EF4-FFF2-40B4-BE49-F238E27FC236}">
                <a16:creationId xmlns:a16="http://schemas.microsoft.com/office/drawing/2014/main" id="{C0B3DB1E-1D38-422C-BAB8-88882FAAAF4B}"/>
              </a:ext>
            </a:extLst>
          </p:cNvPr>
          <p:cNvSpPr>
            <a:spLocks xmlns:a="http://schemas.openxmlformats.org/drawingml/2006/main" noGrp="1"/>
          </p:cNvSpPr>
          <p:nvPr/>
        </p:nvSpPr>
        <p:spPr>
          <a:xfrm xmlns:a="http://schemas.openxmlformats.org/drawingml/2006/main">
            <a:off x="6191250" y="2886075"/>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A"/>
                </a:solidFill>
                <a:latin typeface="Helvetica Neue"/>
                <a:ea typeface="Helvetica Neue"/>
                <a:cs typeface="Helvetica Neue"/>
              </a:defRPr>
            </a:defPPr>
            <a:lvl1pPr algn="l">
              <a:defRPr sz="2175" b="1">
                <a:solidFill>
                  <a:srgbClr val="007F7A"/>
                </a:solidFill>
                <a:latin typeface="Helvetica Neue"/>
                <a:ea typeface="Helvetica Neue"/>
                <a:cs typeface="Helvetica Neue"/>
              </a:defRPr>
            </a:lvl1pPr>
            <a:lvl2pPr algn="l">
              <a:defRPr sz="2175" b="1">
                <a:solidFill>
                  <a:srgbClr val="007F7A"/>
                </a:solidFill>
                <a:latin typeface="Helvetica Neue"/>
                <a:ea typeface="Helvetica Neue"/>
                <a:cs typeface="Helvetica Neue"/>
              </a:defRPr>
            </a:lvl2pPr>
            <a:lvl3pPr algn="l">
              <a:defRPr sz="2175" b="1">
                <a:solidFill>
                  <a:srgbClr val="007F7A"/>
                </a:solidFill>
                <a:latin typeface="Helvetica Neue"/>
                <a:ea typeface="Helvetica Neue"/>
                <a:cs typeface="Helvetica Neue"/>
              </a:defRPr>
            </a:lvl3pPr>
            <a:lvl4pPr algn="l">
              <a:defRPr sz="2175" b="1">
                <a:solidFill>
                  <a:srgbClr val="007F7A"/>
                </a:solidFill>
                <a:latin typeface="Helvetica Neue"/>
                <a:ea typeface="Helvetica Neue"/>
                <a:cs typeface="Helvetica Neue"/>
              </a:defRPr>
            </a:lvl4pPr>
            <a:lvl5pPr algn="l">
              <a:defRPr sz="2175" b="1">
                <a:solidFill>
                  <a:srgbClr val="007F7A"/>
                </a:solidFill>
                <a:latin typeface="Helvetica Neue"/>
                <a:ea typeface="Helvetica Neue"/>
                <a:cs typeface="Helvetica Neue"/>
              </a:defRPr>
            </a:lvl5pPr>
            <a:lvl6pPr algn="l">
              <a:defRPr sz="2175" b="1">
                <a:solidFill>
                  <a:srgbClr val="007F7A"/>
                </a:solidFill>
                <a:latin typeface="Helvetica Neue"/>
                <a:ea typeface="Helvetica Neue"/>
                <a:cs typeface="Helvetica Neue"/>
              </a:defRPr>
            </a:lvl6pPr>
            <a:lvl7pPr algn="l">
              <a:defRPr sz="2175" b="1">
                <a:solidFill>
                  <a:srgbClr val="007F7A"/>
                </a:solidFill>
                <a:latin typeface="Helvetica Neue"/>
                <a:ea typeface="Helvetica Neue"/>
                <a:cs typeface="Helvetica Neue"/>
              </a:defRPr>
            </a:lvl7pPr>
            <a:lvl8pPr algn="l">
              <a:defRPr sz="2175" b="1">
                <a:solidFill>
                  <a:srgbClr val="007F7A"/>
                </a:solidFill>
                <a:latin typeface="Helvetica Neue"/>
                <a:ea typeface="Helvetica Neue"/>
                <a:cs typeface="Helvetica Neue"/>
              </a:defRPr>
            </a:lvl8pPr>
            <a:lvl9pPr algn="l">
              <a:defRPr sz="2175" b="1">
                <a:solidFill>
                  <a:srgbClr val="007F7A"/>
                </a:solidFill>
                <a:latin typeface="Helvetica Neue"/>
                <a:ea typeface="Helvetica Neue"/>
                <a:cs typeface="Helvetica Neue"/>
              </a:defRPr>
            </a:lvl9pPr>
          </a:lstStyle>
          <a:p xmlns:a="http://schemas.openxmlformats.org/drawingml/2006/main">
            <a:pPr algn="l">
              <a:defRPr sz="2175" b="1">
                <a:solidFill>
                  <a:srgbClr val="007F7A"/>
                </a:solidFill>
                <a:latin typeface="Helvetica Neue"/>
                <a:ea typeface="Helvetica Neue"/>
                <a:cs typeface="Helvetica Neue"/>
              </a:defRPr>
            </a:pPr>
            <a:r>
              <a:rPr sz="2175" b="1">
                <a:solidFill>
                  <a:srgbClr val="007F7A"/>
                </a:solidFill>
                <a:latin typeface="Helvetica Neue"/>
                <a:ea typeface="Helvetica Neue"/>
                <a:cs typeface="Helvetica Neue"/>
              </a:rPr>
              <a:t>Layer I</a:t>
            </a:r>
          </a:p>
        </p:txBody>
      </p:sp>
      <p:sp>
        <p:nvSpPr>
          <p:cNvPr id="9" name="Enhancer or non-enhancer">
            <a:extLst xmlns:a="http://schemas.openxmlformats.org/drawingml/2006/main">
              <a:ext uri="{FF2B5EF4-FFF2-40B4-BE49-F238E27FC236}">
                <a16:creationId xmlns:a16="http://schemas.microsoft.com/office/drawing/2014/main" id="{8DAB6558-E779-46ED-BC1C-EFD36D0B0238}"/>
              </a:ext>
            </a:extLst>
          </p:cNvPr>
          <p:cNvSpPr>
            <a:spLocks xmlns:a="http://schemas.openxmlformats.org/drawingml/2006/main" noGrp="1"/>
          </p:cNvSpPr>
          <p:nvPr/>
        </p:nvSpPr>
        <p:spPr>
          <a:xfrm xmlns:a="http://schemas.openxmlformats.org/drawingml/2006/main">
            <a:off x="6191250" y="33051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344"/>
                </a:solidFill>
                <a:latin typeface="Helvetica Neue"/>
                <a:ea typeface="Helvetica Neue"/>
                <a:cs typeface="Helvetica Neue"/>
              </a:defRPr>
            </a:defPPr>
            <a:lvl1pPr algn="l">
              <a:defRPr sz="2175" b="0">
                <a:solidFill>
                  <a:srgbClr val="173344"/>
                </a:solidFill>
                <a:latin typeface="Helvetica Neue"/>
                <a:ea typeface="Helvetica Neue"/>
                <a:cs typeface="Helvetica Neue"/>
              </a:defRPr>
            </a:lvl1pPr>
            <a:lvl2pPr algn="l">
              <a:defRPr sz="2175" b="0">
                <a:solidFill>
                  <a:srgbClr val="173344"/>
                </a:solidFill>
                <a:latin typeface="Helvetica Neue"/>
                <a:ea typeface="Helvetica Neue"/>
                <a:cs typeface="Helvetica Neue"/>
              </a:defRPr>
            </a:lvl2pPr>
            <a:lvl3pPr algn="l">
              <a:defRPr sz="2175" b="0">
                <a:solidFill>
                  <a:srgbClr val="173344"/>
                </a:solidFill>
                <a:latin typeface="Helvetica Neue"/>
                <a:ea typeface="Helvetica Neue"/>
                <a:cs typeface="Helvetica Neue"/>
              </a:defRPr>
            </a:lvl3pPr>
            <a:lvl4pPr algn="l">
              <a:defRPr sz="2175" b="0">
                <a:solidFill>
                  <a:srgbClr val="173344"/>
                </a:solidFill>
                <a:latin typeface="Helvetica Neue"/>
                <a:ea typeface="Helvetica Neue"/>
                <a:cs typeface="Helvetica Neue"/>
              </a:defRPr>
            </a:lvl4pPr>
            <a:lvl5pPr algn="l">
              <a:defRPr sz="2175" b="0">
                <a:solidFill>
                  <a:srgbClr val="173344"/>
                </a:solidFill>
                <a:latin typeface="Helvetica Neue"/>
                <a:ea typeface="Helvetica Neue"/>
                <a:cs typeface="Helvetica Neue"/>
              </a:defRPr>
            </a:lvl5pPr>
            <a:lvl6pPr algn="l">
              <a:defRPr sz="2175" b="0">
                <a:solidFill>
                  <a:srgbClr val="173344"/>
                </a:solidFill>
                <a:latin typeface="Helvetica Neue"/>
                <a:ea typeface="Helvetica Neue"/>
                <a:cs typeface="Helvetica Neue"/>
              </a:defRPr>
            </a:lvl6pPr>
            <a:lvl7pPr algn="l">
              <a:defRPr sz="2175" b="0">
                <a:solidFill>
                  <a:srgbClr val="173344"/>
                </a:solidFill>
                <a:latin typeface="Helvetica Neue"/>
                <a:ea typeface="Helvetica Neue"/>
                <a:cs typeface="Helvetica Neue"/>
              </a:defRPr>
            </a:lvl7pPr>
            <a:lvl8pPr algn="l">
              <a:defRPr sz="2175" b="0">
                <a:solidFill>
                  <a:srgbClr val="173344"/>
                </a:solidFill>
                <a:latin typeface="Helvetica Neue"/>
                <a:ea typeface="Helvetica Neue"/>
                <a:cs typeface="Helvetica Neue"/>
              </a:defRPr>
            </a:lvl8pPr>
            <a:lvl9pPr algn="l">
              <a:defRPr sz="2175" b="0">
                <a:solidFill>
                  <a:srgbClr val="173344"/>
                </a:solidFill>
                <a:latin typeface="Helvetica Neue"/>
                <a:ea typeface="Helvetica Neue"/>
                <a:cs typeface="Helvetica Neue"/>
              </a:defRPr>
            </a:lvl9pPr>
          </a:lstStyle>
          <a:p xmlns:a="http://schemas.openxmlformats.org/drawingml/2006/main">
            <a:pPr algn="l">
              <a:defRPr sz="2175" b="0">
                <a:solidFill>
                  <a:srgbClr val="173344"/>
                </a:solidFill>
                <a:latin typeface="Helvetica Neue"/>
                <a:ea typeface="Helvetica Neue"/>
                <a:cs typeface="Helvetica Neue"/>
              </a:defRPr>
            </a:pPr>
            <a:r>
              <a:rPr sz="2175" b="0">
                <a:solidFill>
                  <a:srgbClr val="173344"/>
                </a:solidFill>
                <a:latin typeface="Helvetica Neue"/>
                <a:ea typeface="Helvetica Neue"/>
                <a:cs typeface="Helvetica Neue"/>
              </a:rPr>
              <a:t>Enhancer or non-enhancer</a:t>
            </a:r>
          </a:p>
        </p:txBody>
      </p:sp>
      <p:sp>
        <p:nvSpPr>
          <p:cNvPr id="10" name="Layer II">
            <a:extLst xmlns:a="http://schemas.openxmlformats.org/drawingml/2006/main">
              <a:ext uri="{FF2B5EF4-FFF2-40B4-BE49-F238E27FC236}">
                <a16:creationId xmlns:a16="http://schemas.microsoft.com/office/drawing/2014/main" id="{905A9046-D183-4546-A595-BB99E1C70126}"/>
              </a:ext>
            </a:extLst>
          </p:cNvPr>
          <p:cNvSpPr>
            <a:spLocks xmlns:a="http://schemas.openxmlformats.org/drawingml/2006/main" noGrp="1"/>
          </p:cNvSpPr>
          <p:nvPr/>
        </p:nvSpPr>
        <p:spPr>
          <a:xfrm xmlns:a="http://schemas.openxmlformats.org/drawingml/2006/main">
            <a:off x="6191250" y="400050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A"/>
                </a:solidFill>
                <a:latin typeface="Helvetica Neue"/>
                <a:ea typeface="Helvetica Neue"/>
                <a:cs typeface="Helvetica Neue"/>
              </a:defRPr>
            </a:defPPr>
            <a:lvl1pPr algn="l">
              <a:defRPr sz="2175" b="1">
                <a:solidFill>
                  <a:srgbClr val="007F7A"/>
                </a:solidFill>
                <a:latin typeface="Helvetica Neue"/>
                <a:ea typeface="Helvetica Neue"/>
                <a:cs typeface="Helvetica Neue"/>
              </a:defRPr>
            </a:lvl1pPr>
            <a:lvl2pPr algn="l">
              <a:defRPr sz="2175" b="1">
                <a:solidFill>
                  <a:srgbClr val="007F7A"/>
                </a:solidFill>
                <a:latin typeface="Helvetica Neue"/>
                <a:ea typeface="Helvetica Neue"/>
                <a:cs typeface="Helvetica Neue"/>
              </a:defRPr>
            </a:lvl2pPr>
            <a:lvl3pPr algn="l">
              <a:defRPr sz="2175" b="1">
                <a:solidFill>
                  <a:srgbClr val="007F7A"/>
                </a:solidFill>
                <a:latin typeface="Helvetica Neue"/>
                <a:ea typeface="Helvetica Neue"/>
                <a:cs typeface="Helvetica Neue"/>
              </a:defRPr>
            </a:lvl3pPr>
            <a:lvl4pPr algn="l">
              <a:defRPr sz="2175" b="1">
                <a:solidFill>
                  <a:srgbClr val="007F7A"/>
                </a:solidFill>
                <a:latin typeface="Helvetica Neue"/>
                <a:ea typeface="Helvetica Neue"/>
                <a:cs typeface="Helvetica Neue"/>
              </a:defRPr>
            </a:lvl4pPr>
            <a:lvl5pPr algn="l">
              <a:defRPr sz="2175" b="1">
                <a:solidFill>
                  <a:srgbClr val="007F7A"/>
                </a:solidFill>
                <a:latin typeface="Helvetica Neue"/>
                <a:ea typeface="Helvetica Neue"/>
                <a:cs typeface="Helvetica Neue"/>
              </a:defRPr>
            </a:lvl5pPr>
            <a:lvl6pPr algn="l">
              <a:defRPr sz="2175" b="1">
                <a:solidFill>
                  <a:srgbClr val="007F7A"/>
                </a:solidFill>
                <a:latin typeface="Helvetica Neue"/>
                <a:ea typeface="Helvetica Neue"/>
                <a:cs typeface="Helvetica Neue"/>
              </a:defRPr>
            </a:lvl6pPr>
            <a:lvl7pPr algn="l">
              <a:defRPr sz="2175" b="1">
                <a:solidFill>
                  <a:srgbClr val="007F7A"/>
                </a:solidFill>
                <a:latin typeface="Helvetica Neue"/>
                <a:ea typeface="Helvetica Neue"/>
                <a:cs typeface="Helvetica Neue"/>
              </a:defRPr>
            </a:lvl7pPr>
            <a:lvl8pPr algn="l">
              <a:defRPr sz="2175" b="1">
                <a:solidFill>
                  <a:srgbClr val="007F7A"/>
                </a:solidFill>
                <a:latin typeface="Helvetica Neue"/>
                <a:ea typeface="Helvetica Neue"/>
                <a:cs typeface="Helvetica Neue"/>
              </a:defRPr>
            </a:lvl8pPr>
            <a:lvl9pPr algn="l">
              <a:defRPr sz="2175" b="1">
                <a:solidFill>
                  <a:srgbClr val="007F7A"/>
                </a:solidFill>
                <a:latin typeface="Helvetica Neue"/>
                <a:ea typeface="Helvetica Neue"/>
                <a:cs typeface="Helvetica Neue"/>
              </a:defRPr>
            </a:lvl9pPr>
          </a:lstStyle>
          <a:p xmlns:a="http://schemas.openxmlformats.org/drawingml/2006/main">
            <a:pPr algn="l">
              <a:defRPr sz="2175" b="1">
                <a:solidFill>
                  <a:srgbClr val="007F7A"/>
                </a:solidFill>
                <a:latin typeface="Helvetica Neue"/>
                <a:ea typeface="Helvetica Neue"/>
                <a:cs typeface="Helvetica Neue"/>
              </a:defRPr>
            </a:pPr>
            <a:r>
              <a:rPr sz="2175" b="1">
                <a:solidFill>
                  <a:srgbClr val="007F7A"/>
                </a:solidFill>
                <a:latin typeface="Helvetica Neue"/>
                <a:ea typeface="Helvetica Neue"/>
                <a:cs typeface="Helvetica Neue"/>
              </a:rPr>
              <a:t>Layer II</a:t>
            </a:r>
          </a:p>
        </p:txBody>
      </p:sp>
      <p:sp>
        <p:nvSpPr>
          <p:cNvPr id="11" name="Strong or weak, only after&#10;a positive Layer-I">
            <a:extLst xmlns:a="http://schemas.openxmlformats.org/drawingml/2006/main">
              <a:ext uri="{FF2B5EF4-FFF2-40B4-BE49-F238E27FC236}">
                <a16:creationId xmlns:a16="http://schemas.microsoft.com/office/drawing/2014/main" id="{547D5E72-6677-424C-9E20-E6FE856A5D1C}"/>
              </a:ext>
            </a:extLst>
          </p:cNvPr>
          <p:cNvSpPr>
            <a:spLocks xmlns:a="http://schemas.openxmlformats.org/drawingml/2006/main" noGrp="1"/>
          </p:cNvSpPr>
          <p:nvPr/>
        </p:nvSpPr>
        <p:spPr>
          <a:xfrm xmlns:a="http://schemas.openxmlformats.org/drawingml/2006/main">
            <a:off x="6191250" y="44196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344"/>
                </a:solidFill>
                <a:latin typeface="Helvetica Neue"/>
                <a:ea typeface="Helvetica Neue"/>
                <a:cs typeface="Helvetica Neue"/>
              </a:defRPr>
            </a:defPPr>
            <a:lvl1pPr algn="l">
              <a:defRPr sz="2175" b="0">
                <a:solidFill>
                  <a:srgbClr val="173344"/>
                </a:solidFill>
                <a:latin typeface="Helvetica Neue"/>
                <a:ea typeface="Helvetica Neue"/>
                <a:cs typeface="Helvetica Neue"/>
              </a:defRPr>
            </a:lvl1pPr>
            <a:lvl2pPr algn="l">
              <a:defRPr sz="2175" b="0">
                <a:solidFill>
                  <a:srgbClr val="173344"/>
                </a:solidFill>
                <a:latin typeface="Helvetica Neue"/>
                <a:ea typeface="Helvetica Neue"/>
                <a:cs typeface="Helvetica Neue"/>
              </a:defRPr>
            </a:lvl2pPr>
            <a:lvl3pPr algn="l">
              <a:defRPr sz="2175" b="0">
                <a:solidFill>
                  <a:srgbClr val="173344"/>
                </a:solidFill>
                <a:latin typeface="Helvetica Neue"/>
                <a:ea typeface="Helvetica Neue"/>
                <a:cs typeface="Helvetica Neue"/>
              </a:defRPr>
            </a:lvl3pPr>
            <a:lvl4pPr algn="l">
              <a:defRPr sz="2175" b="0">
                <a:solidFill>
                  <a:srgbClr val="173344"/>
                </a:solidFill>
                <a:latin typeface="Helvetica Neue"/>
                <a:ea typeface="Helvetica Neue"/>
                <a:cs typeface="Helvetica Neue"/>
              </a:defRPr>
            </a:lvl4pPr>
            <a:lvl5pPr algn="l">
              <a:defRPr sz="2175" b="0">
                <a:solidFill>
                  <a:srgbClr val="173344"/>
                </a:solidFill>
                <a:latin typeface="Helvetica Neue"/>
                <a:ea typeface="Helvetica Neue"/>
                <a:cs typeface="Helvetica Neue"/>
              </a:defRPr>
            </a:lvl5pPr>
            <a:lvl6pPr algn="l">
              <a:defRPr sz="2175" b="0">
                <a:solidFill>
                  <a:srgbClr val="173344"/>
                </a:solidFill>
                <a:latin typeface="Helvetica Neue"/>
                <a:ea typeface="Helvetica Neue"/>
                <a:cs typeface="Helvetica Neue"/>
              </a:defRPr>
            </a:lvl6pPr>
            <a:lvl7pPr algn="l">
              <a:defRPr sz="2175" b="0">
                <a:solidFill>
                  <a:srgbClr val="173344"/>
                </a:solidFill>
                <a:latin typeface="Helvetica Neue"/>
                <a:ea typeface="Helvetica Neue"/>
                <a:cs typeface="Helvetica Neue"/>
              </a:defRPr>
            </a:lvl7pPr>
            <a:lvl8pPr algn="l">
              <a:defRPr sz="2175" b="0">
                <a:solidFill>
                  <a:srgbClr val="173344"/>
                </a:solidFill>
                <a:latin typeface="Helvetica Neue"/>
                <a:ea typeface="Helvetica Neue"/>
                <a:cs typeface="Helvetica Neue"/>
              </a:defRPr>
            </a:lvl8pPr>
            <a:lvl9pPr algn="l">
              <a:defRPr sz="2175" b="0">
                <a:solidFill>
                  <a:srgbClr val="173344"/>
                </a:solidFill>
                <a:latin typeface="Helvetica Neue"/>
                <a:ea typeface="Helvetica Neue"/>
                <a:cs typeface="Helvetica Neue"/>
              </a:defRPr>
            </a:lvl9pPr>
          </a:lstStyle>
          <a:p xmlns:a="http://schemas.openxmlformats.org/drawingml/2006/main">
            <a:pPr algn="l">
              <a:defRPr sz="2175" b="0">
                <a:solidFill>
                  <a:srgbClr val="173344"/>
                </a:solidFill>
                <a:latin typeface="Helvetica Neue"/>
                <a:ea typeface="Helvetica Neue"/>
                <a:cs typeface="Helvetica Neue"/>
              </a:defRPr>
            </a:pPr>
            <a:r>
              <a:rPr sz="2175" b="0">
                <a:solidFill>
                  <a:srgbClr val="173344"/>
                </a:solidFill>
                <a:latin typeface="Helvetica Neue"/>
                <a:ea typeface="Helvetica Neue"/>
                <a:cs typeface="Helvetica Neue"/>
              </a:rPr>
              <a:t>Strong or weak, only after</a:t>
            </a:r>
          </a:p>
          <a:p xmlns:a="http://schemas.openxmlformats.org/drawingml/2006/main">
            <a:pPr algn="l">
              <a:defRPr sz="2175" b="0">
                <a:solidFill>
                  <a:srgbClr val="173344"/>
                </a:solidFill>
                <a:latin typeface="Helvetica Neue"/>
                <a:ea typeface="Helvetica Neue"/>
                <a:cs typeface="Helvetica Neue"/>
              </a:defRPr>
            </a:pPr>
            <a:r>
              <a:rPr sz="2175" b="0">
                <a:solidFill>
                  <a:srgbClr val="173344"/>
                </a:solidFill>
                <a:latin typeface="Helvetica Neue"/>
                <a:ea typeface="Helvetica Neue"/>
                <a:cs typeface="Helvetica Neue"/>
              </a:rPr>
              <a:t>a positive Layer-I prediction</a:t>
            </a:r>
          </a:p>
        </p:txBody>
      </p:sp>
      <p:sp>
        <p:nvSpPr>
          <p:cNvPr id="12" name="Original Figure 3: Liu et al., Bioinformatics">
            <a:extLst xmlns:a="http://schemas.openxmlformats.org/drawingml/2006/main">
              <a:ext uri="{FF2B5EF4-FFF2-40B4-BE49-F238E27FC236}">
                <a16:creationId xmlns:a16="http://schemas.microsoft.com/office/drawing/2014/main" id="{DFAD4FC3-9D43-4F05-BD13-6C0E8C97C62B}"/>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Original Figure 3: Liu et al., Bioinformatics (2016), doi:10.1093/bioinformatics/btv604.</a:t>
            </a:r>
          </a:p>
        </p:txBody>
      </p:sp>
    </p:spTree>
    <p:extLst>
      <p:ext uri="{BB962C8B-B14F-4D97-AF65-F5344CB8AC3E}">
        <p14:creationId xmlns:p14="http://schemas.microsoft.com/office/powerpoint/2010/main" val="1730593837"/>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METHODS 1 OF 2">
            <a:extLst xmlns:a="http://schemas.openxmlformats.org/drawingml/2006/main">
              <a:ext uri="{FF2B5EF4-FFF2-40B4-BE49-F238E27FC236}">
                <a16:creationId xmlns:a16="http://schemas.microsoft.com/office/drawing/2014/main" id="{CC519E50-5297-429E-8D8F-AD1C3ECCD947}"/>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METHODS 1 OF 2</a:t>
            </a:r>
          </a:p>
        </p:txBody>
      </p:sp>
      <p:sp>
        <p:nvSpPr>
          <p:cNvPr id="2" name="Software and sequence features">
            <a:extLst xmlns:a="http://schemas.openxmlformats.org/drawingml/2006/main">
              <a:ext uri="{FF2B5EF4-FFF2-40B4-BE49-F238E27FC236}">
                <a16:creationId xmlns:a16="http://schemas.microsoft.com/office/drawing/2014/main" id="{5B54C287-88B9-447F-B0FA-391479FFA975}"/>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Software and sequence features</a:t>
            </a:r>
          </a:p>
        </p:txBody>
      </p:sp>
      <p:sp>
        <p:nvSpPr>
          <p:cNvPr id="3" name="iEnhancer-2L reconstruction">
            <a:extLst xmlns:a="http://schemas.openxmlformats.org/drawingml/2006/main">
              <a:ext uri="{FF2B5EF4-FFF2-40B4-BE49-F238E27FC236}">
                <a16:creationId xmlns:a16="http://schemas.microsoft.com/office/drawing/2014/main" id="{CA778FC4-850E-461C-B850-77C1FC15411B}"/>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4">
            <a:extLst xmlns:a="http://schemas.openxmlformats.org/drawingml/2006/main">
              <a:ext uri="{FF2B5EF4-FFF2-40B4-BE49-F238E27FC236}">
                <a16:creationId xmlns:a16="http://schemas.microsoft.com/office/drawing/2014/main" id="{45D13343-607F-4CCD-A0D5-899BA0739CCB}"/>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04</a:t>
            </a:r>
          </a:p>
        </p:txBody>
      </p:sp>
      <p:graphicFrame>
        <p:nvGraphicFramePr>
          <p:cNvPr id="5" name="">
            <a:extLst xmlns:a="http://schemas.openxmlformats.org/drawingml/2006/main">
              <a:ext uri="{FF2B5EF4-FFF2-40B4-BE49-F238E27FC236}">
                <a16:creationId xmlns:a16="http://schemas.microsoft.com/office/drawing/2014/main" id="{0EDBEC15-65AC-4A1A-A03C-BFA1E6D796AE}"/>
              </a:ext>
            </a:extLst>
          </p:cNvPr>
          <p:cNvGraphicFramePr/>
          <p:nvPr/>
        </p:nvGraphicFramePr>
        <p:xfrm>
          <a:off xmlns:a="http://schemas.openxmlformats.org/drawingml/2006/main" x="609600" y="1752600"/>
          <a:ext xmlns:a="http://schemas.openxmlformats.org/drawingml/2006/main" cx="10972800" cy="3619500"/>
        </p:xfrm>
        <a:graphic xmlns:a="http://schemas.openxmlformats.org/drawingml/2006/main">
          <a:graphicData uri="http://schemas.openxmlformats.org/drawingml/2006/table">
            <a:tbl>
              <a:tblPr firstRow="1" bandRow="0"/>
              <a:tblGrid>
                <a:gridCol w="2381250"/>
                <a:gridCol w="3143250"/>
                <a:gridCol w="5448300"/>
              </a:tblGrid>
              <a:tr h="723900">
                <a:tc>
                  <a:txBody>
                    <a:bodyPr lIns="152400" tIns="38100" rIns="133350" bIns="38100">
                      <a:noAutofit/>
                    </a:bodyPr>
                    <a:lstStyle/>
                    <a:p>
                      <a:r>
                        <a:rPr sz="1875" b="1">
                          <a:solidFill>
                            <a:srgbClr val="FFFFFF"/>
                          </a:solidFill>
                          <a:latin typeface="Helvetica Neue"/>
                          <a:ea typeface="Helvetica Neue"/>
                          <a:cs typeface="Helvetica Neue"/>
                        </a:rPr>
                        <a:t>Part</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Software or files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Role in the analysis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Input checks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Python, FASTA data</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Check sequence length, labels and provenance</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Sequence features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NumPy, S2 property table</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4,096 DNA-word frequencies plus 9 structural summaries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Related sequences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RapidFuzz, hg19 records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Find sequence similarity and nearby genomic loci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Prediction model</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scikit-learn, LIBSVM</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Fit a support vector machine with an RBF kernel</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4,105 features per sequence">
            <a:extLst xmlns:a="http://schemas.openxmlformats.org/drawingml/2006/main">
              <a:ext uri="{FF2B5EF4-FFF2-40B4-BE49-F238E27FC236}">
                <a16:creationId xmlns:a16="http://schemas.microsoft.com/office/drawing/2014/main" id="{3F057C34-ACDE-4E1A-8235-F3D52D9BB42E}"/>
              </a:ext>
            </a:extLst>
          </p:cNvPr>
          <p:cNvSpPr>
            <a:spLocks xmlns:a="http://schemas.openxmlformats.org/drawingml/2006/main" noGrp="1"/>
          </p:cNvSpPr>
          <p:nvPr/>
        </p:nvSpPr>
        <p:spPr>
          <a:xfrm xmlns:a="http://schemas.openxmlformats.org/drawingml/2006/main">
            <a:off x="609600" y="56197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4,105 features per sequence</a:t>
            </a:r>
          </a:p>
        </p:txBody>
      </p:sp>
      <p:sp>
        <p:nvSpPr>
          <p:cNvPr id="7" name="Repository and step-by-step guide">
            <a:extLst xmlns:a="http://schemas.openxmlformats.org/drawingml/2006/main">
              <a:ext uri="{FF2B5EF4-FFF2-40B4-BE49-F238E27FC236}">
                <a16:creationId xmlns:a16="http://schemas.microsoft.com/office/drawing/2014/main" id="{DDA3F366-6CC9-46F5-A6F4-B4E168B82B2D}"/>
              </a:ext>
            </a:extLst>
          </p:cNvPr>
          <p:cNvSpPr>
            <a:spLocks xmlns:a="http://schemas.openxmlformats.org/drawingml/2006/main" noGrp="1"/>
          </p:cNvSpPr>
          <p:nvPr/>
        </p:nvSpPr>
        <p:spPr>
          <a:xfrm xmlns:a="http://schemas.openxmlformats.org/drawingml/2006/main">
            <a:off x="7048500" y="5667375"/>
            <a:ext cx="453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6f1685241e8a4496"/>
              </a:rPr>
              <a:t>Repository and step-by-step guide</a:t>
            </a:r>
          </a:p>
        </p:txBody>
      </p:sp>
      <p:sp>
        <p:nvSpPr>
          <p:cNvPr id="8" name="6-mers are six-base DNA words. Structural sum">
            <a:extLst xmlns:a="http://schemas.openxmlformats.org/drawingml/2006/main">
              <a:ext uri="{FF2B5EF4-FFF2-40B4-BE49-F238E27FC236}">
                <a16:creationId xmlns:a16="http://schemas.microsoft.com/office/drawing/2014/main" id="{ED627D31-19FF-4881-A983-C05527AF8CA4}"/>
              </a:ext>
            </a:extLst>
          </p:cNvPr>
          <p:cNvSpPr>
            <a:spLocks xmlns:a="http://schemas.openxmlformats.org/drawingml/2006/main" noGrp="1"/>
          </p:cNvSpPr>
          <p:nvPr/>
        </p:nvSpPr>
        <p:spPr>
          <a:xfrm xmlns:a="http://schemas.openxmlformats.org/drawingml/2006/main">
            <a:off x="609600" y="6134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6-mers are six-base DNA words. Structural summaries use fixed dinucleotide properties.</a:t>
            </a:r>
          </a:p>
        </p:txBody>
      </p:sp>
    </p:spTree>
    <p:extLst>
      <p:ext uri="{BB962C8B-B14F-4D97-AF65-F5344CB8AC3E}">
        <p14:creationId xmlns:p14="http://schemas.microsoft.com/office/powerpoint/2010/main" val="55973432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METHODS 2 OF 2">
            <a:extLst xmlns:a="http://schemas.openxmlformats.org/drawingml/2006/main">
              <a:ext uri="{FF2B5EF4-FFF2-40B4-BE49-F238E27FC236}">
                <a16:creationId xmlns:a16="http://schemas.microsoft.com/office/drawing/2014/main" id="{169CA015-DEF3-411E-87F8-E910FFDAC92C}"/>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METHODS 2 OF 2</a:t>
            </a:r>
          </a:p>
        </p:txBody>
      </p:sp>
      <p:sp>
        <p:nvSpPr>
          <p:cNvPr id="2" name="Grouped evaluation and model fitting">
            <a:extLst xmlns:a="http://schemas.openxmlformats.org/drawingml/2006/main">
              <a:ext uri="{FF2B5EF4-FFF2-40B4-BE49-F238E27FC236}">
                <a16:creationId xmlns:a16="http://schemas.microsoft.com/office/drawing/2014/main" id="{307B0999-BA1D-44E3-A8A0-91ECD2F0D4AB}"/>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Grouped evaluation and model fitting</a:t>
            </a:r>
          </a:p>
        </p:txBody>
      </p:sp>
      <p:sp>
        <p:nvSpPr>
          <p:cNvPr id="3" name="iEnhancer-2L reconstruction">
            <a:extLst xmlns:a="http://schemas.openxmlformats.org/drawingml/2006/main">
              <a:ext uri="{FF2B5EF4-FFF2-40B4-BE49-F238E27FC236}">
                <a16:creationId xmlns:a16="http://schemas.microsoft.com/office/drawing/2014/main" id="{566BFC62-1C21-4134-9249-9EECFB4F7E37}"/>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5">
            <a:extLst xmlns:a="http://schemas.openxmlformats.org/drawingml/2006/main">
              <a:ext uri="{FF2B5EF4-FFF2-40B4-BE49-F238E27FC236}">
                <a16:creationId xmlns:a16="http://schemas.microsoft.com/office/drawing/2014/main" id="{36D3890F-EF82-47A9-812B-E0444829DCE8}"/>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05</a:t>
            </a:r>
          </a:p>
        </p:txBody>
      </p:sp>
      <p:graphicFrame>
        <p:nvGraphicFramePr>
          <p:cNvPr id="5" name="">
            <a:extLst xmlns:a="http://schemas.openxmlformats.org/drawingml/2006/main">
              <a:ext uri="{FF2B5EF4-FFF2-40B4-BE49-F238E27FC236}">
                <a16:creationId xmlns:a16="http://schemas.microsoft.com/office/drawing/2014/main" id="{2FB6CD86-285C-4AF3-9A1E-441D3CF1774F}"/>
              </a:ext>
            </a:extLst>
          </p:cNvPr>
          <p:cNvGraphicFramePr/>
          <p:nvPr/>
        </p:nvGraphicFramePr>
        <p:xfrm>
          <a:off xmlns:a="http://schemas.openxmlformats.org/drawingml/2006/main" x="609600" y="1752600"/>
          <a:ext xmlns:a="http://schemas.openxmlformats.org/drawingml/2006/main" cx="10972800" cy="3619500"/>
        </p:xfrm>
        <a:graphic xmlns:a="http://schemas.openxmlformats.org/drawingml/2006/main">
          <a:graphicData uri="http://schemas.openxmlformats.org/drawingml/2006/table">
            <a:tbl>
              <a:tblPr firstRow="1" bandRow="0"/>
              <a:tblGrid>
                <a:gridCol w="2038350"/>
                <a:gridCol w="4095750"/>
                <a:gridCol w="4838700"/>
              </a:tblGrid>
              <a:tr h="723900">
                <a:tc>
                  <a:txBody>
                    <a:bodyPr lIns="152400" tIns="38100" rIns="133350" bIns="38100">
                      <a:noAutofit/>
                    </a:bodyPr>
                    <a:lstStyle/>
                    <a:p>
                      <a:r>
                        <a:rPr sz="1875" b="1">
                          <a:solidFill>
                            <a:srgbClr val="FFFFFF"/>
                          </a:solidFill>
                          <a:latin typeface="Helvetica Neue"/>
                          <a:ea typeface="Helvetica Neue"/>
                          <a:cs typeface="Helvetica Neue"/>
                        </a:rPr>
                        <a:t>Step</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Implementation</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Purpose</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1. Prepare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2,968 sequences of 200 bases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742 strong, 742 weak, 1,484 non-enhancers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2. Group</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2,451 related-sequence groups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Keep related sequences in the same fold</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3. Evaluate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5 outer folds and 3 inner folds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Tune on training data, predict held-out groups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4. Preserve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Saved predictions, models and audits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Fit final models on all training records for later queries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Historical test-set overlap">
            <a:extLst xmlns:a="http://schemas.openxmlformats.org/drawingml/2006/main">
              <a:ext uri="{FF2B5EF4-FFF2-40B4-BE49-F238E27FC236}">
                <a16:creationId xmlns:a16="http://schemas.microsoft.com/office/drawing/2014/main" id="{DA176529-F19F-45E5-BD63-D2742F9B09DB}"/>
              </a:ext>
            </a:extLst>
          </p:cNvPr>
          <p:cNvSpPr>
            <a:spLocks xmlns:a="http://schemas.openxmlformats.org/drawingml/2006/main" noGrp="1"/>
          </p:cNvSpPr>
          <p:nvPr/>
        </p:nvSpPr>
        <p:spPr>
          <a:xfrm xmlns:a="http://schemas.openxmlformats.org/drawingml/2006/main">
            <a:off x="609600" y="5610225"/>
            <a:ext cx="504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A5C12"/>
                </a:solidFill>
                <a:latin typeface="Helvetica Neue"/>
                <a:ea typeface="Helvetica Neue"/>
                <a:cs typeface="Helvetica Neue"/>
              </a:defRPr>
            </a:defPPr>
            <a:lvl1pPr algn="l">
              <a:defRPr sz="2175" b="1">
                <a:solidFill>
                  <a:srgbClr val="9A5C12"/>
                </a:solidFill>
                <a:latin typeface="Helvetica Neue"/>
                <a:ea typeface="Helvetica Neue"/>
                <a:cs typeface="Helvetica Neue"/>
              </a:defRPr>
            </a:lvl1pPr>
            <a:lvl2pPr algn="l">
              <a:defRPr sz="2175" b="1">
                <a:solidFill>
                  <a:srgbClr val="9A5C12"/>
                </a:solidFill>
                <a:latin typeface="Helvetica Neue"/>
                <a:ea typeface="Helvetica Neue"/>
                <a:cs typeface="Helvetica Neue"/>
              </a:defRPr>
            </a:lvl2pPr>
            <a:lvl3pPr algn="l">
              <a:defRPr sz="2175" b="1">
                <a:solidFill>
                  <a:srgbClr val="9A5C12"/>
                </a:solidFill>
                <a:latin typeface="Helvetica Neue"/>
                <a:ea typeface="Helvetica Neue"/>
                <a:cs typeface="Helvetica Neue"/>
              </a:defRPr>
            </a:lvl3pPr>
            <a:lvl4pPr algn="l">
              <a:defRPr sz="2175" b="1">
                <a:solidFill>
                  <a:srgbClr val="9A5C12"/>
                </a:solidFill>
                <a:latin typeface="Helvetica Neue"/>
                <a:ea typeface="Helvetica Neue"/>
                <a:cs typeface="Helvetica Neue"/>
              </a:defRPr>
            </a:lvl4pPr>
            <a:lvl5pPr algn="l">
              <a:defRPr sz="2175" b="1">
                <a:solidFill>
                  <a:srgbClr val="9A5C12"/>
                </a:solidFill>
                <a:latin typeface="Helvetica Neue"/>
                <a:ea typeface="Helvetica Neue"/>
                <a:cs typeface="Helvetica Neue"/>
              </a:defRPr>
            </a:lvl5pPr>
            <a:lvl6pPr algn="l">
              <a:defRPr sz="2175" b="1">
                <a:solidFill>
                  <a:srgbClr val="9A5C12"/>
                </a:solidFill>
                <a:latin typeface="Helvetica Neue"/>
                <a:ea typeface="Helvetica Neue"/>
                <a:cs typeface="Helvetica Neue"/>
              </a:defRPr>
            </a:lvl6pPr>
            <a:lvl7pPr algn="l">
              <a:defRPr sz="2175" b="1">
                <a:solidFill>
                  <a:srgbClr val="9A5C12"/>
                </a:solidFill>
                <a:latin typeface="Helvetica Neue"/>
                <a:ea typeface="Helvetica Neue"/>
                <a:cs typeface="Helvetica Neue"/>
              </a:defRPr>
            </a:lvl7pPr>
            <a:lvl8pPr algn="l">
              <a:defRPr sz="2175" b="1">
                <a:solidFill>
                  <a:srgbClr val="9A5C12"/>
                </a:solidFill>
                <a:latin typeface="Helvetica Neue"/>
                <a:ea typeface="Helvetica Neue"/>
                <a:cs typeface="Helvetica Neue"/>
              </a:defRPr>
            </a:lvl8pPr>
            <a:lvl9pPr algn="l">
              <a:defRPr sz="2175" b="1">
                <a:solidFill>
                  <a:srgbClr val="9A5C12"/>
                </a:solidFill>
                <a:latin typeface="Helvetica Neue"/>
                <a:ea typeface="Helvetica Neue"/>
                <a:cs typeface="Helvetica Neue"/>
              </a:defRPr>
            </a:lvl9pPr>
          </a:lstStyle>
          <a:p xmlns:a="http://schemas.openxmlformats.org/drawingml/2006/main">
            <a:pPr algn="l">
              <a:defRPr sz="2175" b="1">
                <a:solidFill>
                  <a:srgbClr val="9A5C12"/>
                </a:solidFill>
                <a:latin typeface="Helvetica Neue"/>
                <a:ea typeface="Helvetica Neue"/>
                <a:cs typeface="Helvetica Neue"/>
              </a:defRPr>
            </a:pPr>
            <a:r>
              <a:rPr sz="2175" b="1">
                <a:solidFill>
                  <a:srgbClr val="9A5C12"/>
                </a:solidFill>
                <a:latin typeface="Helvetica Neue"/>
                <a:ea typeface="Helvetica Neue"/>
                <a:cs typeface="Helvetica Neue"/>
              </a:rPr>
              <a:t>Historical test-set overlap</a:t>
            </a:r>
          </a:p>
        </p:txBody>
      </p:sp>
      <p:sp>
        <p:nvSpPr>
          <p:cNvPr id="7" name="100 of 400 test records also appear in traini">
            <a:extLst xmlns:a="http://schemas.openxmlformats.org/drawingml/2006/main">
              <a:ext uri="{FF2B5EF4-FFF2-40B4-BE49-F238E27FC236}">
                <a16:creationId xmlns:a16="http://schemas.microsoft.com/office/drawing/2014/main" id="{A828D2FA-C2EB-47BA-974B-A0CD203F68F6}"/>
              </a:ext>
            </a:extLst>
          </p:cNvPr>
          <p:cNvSpPr>
            <a:spLocks xmlns:a="http://schemas.openxmlformats.org/drawingml/2006/main" noGrp="1"/>
          </p:cNvSpPr>
          <p:nvPr/>
        </p:nvSpPr>
        <p:spPr>
          <a:xfrm xmlns:a="http://schemas.openxmlformats.org/drawingml/2006/main">
            <a:off x="5095875" y="5572125"/>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100 of 400 test records also appear in training.</a:t>
            </a:r>
          </a:p>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We excluded this test set from these evaluations.</a:t>
            </a:r>
          </a:p>
        </p:txBody>
      </p:sp>
    </p:spTree>
    <p:extLst>
      <p:ext uri="{BB962C8B-B14F-4D97-AF65-F5344CB8AC3E}">
        <p14:creationId xmlns:p14="http://schemas.microsoft.com/office/powerpoint/2010/main" val="1538320186"/>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INITIAL GROUPED RESULTS">
            <a:extLst xmlns:a="http://schemas.openxmlformats.org/drawingml/2006/main">
              <a:ext uri="{FF2B5EF4-FFF2-40B4-BE49-F238E27FC236}">
                <a16:creationId xmlns:a16="http://schemas.microsoft.com/office/drawing/2014/main" id="{1501234C-7D23-4708-81E3-BC828327939A}"/>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INITIAL GROUPED RESULTS</a:t>
            </a:r>
          </a:p>
        </p:txBody>
      </p:sp>
      <p:sp>
        <p:nvSpPr>
          <p:cNvPr id="2" name="Accuracy was close to the published values">
            <a:extLst xmlns:a="http://schemas.openxmlformats.org/drawingml/2006/main">
              <a:ext uri="{FF2B5EF4-FFF2-40B4-BE49-F238E27FC236}">
                <a16:creationId xmlns:a16="http://schemas.microsoft.com/office/drawing/2014/main" id="{C2F86908-3A42-4707-B3F3-079DDDA2C3F5}"/>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Accuracy was close to the published values</a:t>
            </a:r>
          </a:p>
        </p:txBody>
      </p:sp>
      <p:sp>
        <p:nvSpPr>
          <p:cNvPr id="3" name="iEnhancer-2L reconstruction">
            <a:extLst xmlns:a="http://schemas.openxmlformats.org/drawingml/2006/main">
              <a:ext uri="{FF2B5EF4-FFF2-40B4-BE49-F238E27FC236}">
                <a16:creationId xmlns:a16="http://schemas.microsoft.com/office/drawing/2014/main" id="{5F9FA65F-E3EE-4342-9451-E3103D29637A}"/>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6">
            <a:extLst xmlns:a="http://schemas.openxmlformats.org/drawingml/2006/main">
              <a:ext uri="{FF2B5EF4-FFF2-40B4-BE49-F238E27FC236}">
                <a16:creationId xmlns:a16="http://schemas.microsoft.com/office/drawing/2014/main" id="{BAE68221-2DCD-48D6-B6B7-4E9FAD0BBAFD}"/>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06</a:t>
            </a:r>
          </a:p>
        </p:txBody>
      </p:sp>
      <p:sp>
        <p:nvSpPr>
          <p:cNvPr id="5" name="Classification accuracy">
            <a:extLst xmlns:a="http://schemas.openxmlformats.org/drawingml/2006/main">
              <a:ext uri="{FF2B5EF4-FFF2-40B4-BE49-F238E27FC236}">
                <a16:creationId xmlns:a16="http://schemas.microsoft.com/office/drawing/2014/main" id="{28EE7041-CE2E-4FEF-9B57-32D5FD10C6AA}"/>
              </a:ext>
            </a:extLst>
          </p:cNvPr>
          <p:cNvSpPr>
            <a:spLocks xmlns:a="http://schemas.openxmlformats.org/drawingml/2006/main" noGrp="1"/>
          </p:cNvSpPr>
          <p:nvPr/>
        </p:nvSpPr>
        <p:spPr>
          <a:xfrm xmlns:a="http://schemas.openxmlformats.org/drawingml/2006/main">
            <a:off x="609600" y="16954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F7A"/>
                </a:solidFill>
                <a:latin typeface="Helvetica Neue"/>
                <a:ea typeface="Helvetica Neue"/>
                <a:cs typeface="Helvetica Neue"/>
              </a:defRPr>
            </a:defPPr>
            <a:lvl1pPr algn="l">
              <a:defRPr sz="1950" b="1">
                <a:solidFill>
                  <a:srgbClr val="007F7A"/>
                </a:solidFill>
                <a:latin typeface="Helvetica Neue"/>
                <a:ea typeface="Helvetica Neue"/>
                <a:cs typeface="Helvetica Neue"/>
              </a:defRPr>
            </a:lvl1pPr>
            <a:lvl2pPr algn="l">
              <a:defRPr sz="1950" b="1">
                <a:solidFill>
                  <a:srgbClr val="007F7A"/>
                </a:solidFill>
                <a:latin typeface="Helvetica Neue"/>
                <a:ea typeface="Helvetica Neue"/>
                <a:cs typeface="Helvetica Neue"/>
              </a:defRPr>
            </a:lvl2pPr>
            <a:lvl3pPr algn="l">
              <a:defRPr sz="1950" b="1">
                <a:solidFill>
                  <a:srgbClr val="007F7A"/>
                </a:solidFill>
                <a:latin typeface="Helvetica Neue"/>
                <a:ea typeface="Helvetica Neue"/>
                <a:cs typeface="Helvetica Neue"/>
              </a:defRPr>
            </a:lvl3pPr>
            <a:lvl4pPr algn="l">
              <a:defRPr sz="1950" b="1">
                <a:solidFill>
                  <a:srgbClr val="007F7A"/>
                </a:solidFill>
                <a:latin typeface="Helvetica Neue"/>
                <a:ea typeface="Helvetica Neue"/>
                <a:cs typeface="Helvetica Neue"/>
              </a:defRPr>
            </a:lvl4pPr>
            <a:lvl5pPr algn="l">
              <a:defRPr sz="1950" b="1">
                <a:solidFill>
                  <a:srgbClr val="007F7A"/>
                </a:solidFill>
                <a:latin typeface="Helvetica Neue"/>
                <a:ea typeface="Helvetica Neue"/>
                <a:cs typeface="Helvetica Neue"/>
              </a:defRPr>
            </a:lvl5pPr>
            <a:lvl6pPr algn="l">
              <a:defRPr sz="1950" b="1">
                <a:solidFill>
                  <a:srgbClr val="007F7A"/>
                </a:solidFill>
                <a:latin typeface="Helvetica Neue"/>
                <a:ea typeface="Helvetica Neue"/>
                <a:cs typeface="Helvetica Neue"/>
              </a:defRPr>
            </a:lvl6pPr>
            <a:lvl7pPr algn="l">
              <a:defRPr sz="1950" b="1">
                <a:solidFill>
                  <a:srgbClr val="007F7A"/>
                </a:solidFill>
                <a:latin typeface="Helvetica Neue"/>
                <a:ea typeface="Helvetica Neue"/>
                <a:cs typeface="Helvetica Neue"/>
              </a:defRPr>
            </a:lvl7pPr>
            <a:lvl8pPr algn="l">
              <a:defRPr sz="1950" b="1">
                <a:solidFill>
                  <a:srgbClr val="007F7A"/>
                </a:solidFill>
                <a:latin typeface="Helvetica Neue"/>
                <a:ea typeface="Helvetica Neue"/>
                <a:cs typeface="Helvetica Neue"/>
              </a:defRPr>
            </a:lvl8pPr>
            <a:lvl9pPr algn="l">
              <a:defRPr sz="1950" b="1">
                <a:solidFill>
                  <a:srgbClr val="007F7A"/>
                </a:solidFill>
                <a:latin typeface="Helvetica Neue"/>
                <a:ea typeface="Helvetica Neue"/>
                <a:cs typeface="Helvetica Neue"/>
              </a:defRPr>
            </a:lvl9pPr>
          </a:lstStyle>
          <a:p xmlns:a="http://schemas.openxmlformats.org/drawingml/2006/main">
            <a:pPr algn="l">
              <a:defRPr sz="1950" b="1">
                <a:solidFill>
                  <a:srgbClr val="007F7A"/>
                </a:solidFill>
                <a:latin typeface="Helvetica Neue"/>
                <a:ea typeface="Helvetica Neue"/>
                <a:cs typeface="Helvetica Neue"/>
              </a:defRPr>
            </a:pPr>
            <a:r>
              <a:rPr sz="1950" b="1">
                <a:solidFill>
                  <a:srgbClr val="007F7A"/>
                </a:solidFill>
                <a:latin typeface="Helvetica Neue"/>
                <a:ea typeface="Helvetica Neue"/>
                <a:cs typeface="Helvetica Neue"/>
              </a:rPr>
              <a:t>Classification accuracy</a:t>
            </a:r>
          </a:p>
        </p:txBody>
      </p:sp>
      <p:graphicFrame>
        <p:nvGraphicFramePr>
          <p:cNvPr id="6" name="Chart">
            <a:extLst xmlns:a="http://schemas.openxmlformats.org/drawingml/2006/main">
              <a:ext uri="{FF2B5EF4-FFF2-40B4-BE49-F238E27FC236}">
                <a16:creationId xmlns:a16="http://schemas.microsoft.com/office/drawing/2014/main" id="{1CC46E8A-643A-440C-93D4-B545E25492BF}"/>
              </a:ext>
            </a:extLst>
          </p:cNvPr>
          <p:cNvGraphicFramePr/>
          <p:nvPr/>
        </p:nvGraphicFramePr>
        <p:xfrm>
          <a:off xmlns:a="http://schemas.openxmlformats.org/drawingml/2006/main" x="514350" y="2105025"/>
          <a:ext xmlns:a="http://schemas.openxmlformats.org/drawingml/2006/main" cx="7239000" cy="3333750"/>
        </p:xfrm>
        <a:graphic xmlns:a="http://schemas.openxmlformats.org/drawingml/2006/main">
          <a:graphicData uri="http://schemas.openxmlformats.org/drawingml/2006/chart">
            <c:chart xmlns:r="http://schemas.openxmlformats.org/officeDocument/2006/relationships" xmlns:c="http://schemas.openxmlformats.org/drawingml/2006/chart" r:id="Rb5b54c7d1d9f4230"/>
          </a:graphicData>
        </a:graphic>
      </p:graphicFrame>
      <p:graphicFrame>
        <p:nvGraphicFramePr>
          <p:cNvPr id="7" name="">
            <a:extLst xmlns:a="http://schemas.openxmlformats.org/drawingml/2006/main">
              <a:ext uri="{FF2B5EF4-FFF2-40B4-BE49-F238E27FC236}">
                <a16:creationId xmlns:a16="http://schemas.microsoft.com/office/drawing/2014/main" id="{91793F69-70AE-4799-8604-F30A9391D7FE}"/>
              </a:ext>
            </a:extLst>
          </p:cNvPr>
          <p:cNvGraphicFramePr/>
          <p:nvPr/>
        </p:nvGraphicFramePr>
        <p:xfrm>
          <a:off xmlns:a="http://schemas.openxmlformats.org/drawingml/2006/main" x="8096250" y="2133600"/>
          <a:ext xmlns:a="http://schemas.openxmlformats.org/drawingml/2006/main" cx="3486150" cy="2057400"/>
        </p:xfrm>
        <a:graphic xmlns:a="http://schemas.openxmlformats.org/drawingml/2006/main">
          <a:graphicData uri="http://schemas.openxmlformats.org/drawingml/2006/table">
            <a:tbl>
              <a:tblPr firstRow="1" bandRow="0"/>
              <a:tblGrid>
                <a:gridCol w="1238250"/>
                <a:gridCol w="1123950"/>
                <a:gridCol w="1123950"/>
              </a:tblGrid>
              <a:tr h="685800">
                <a:tc>
                  <a:txBody>
                    <a:bodyPr lIns="152400" tIns="38100" rIns="133350" bIns="38100">
                      <a:noAutofit/>
                    </a:bodyPr>
                    <a:lstStyle/>
                    <a:p>
                      <a:r>
                        <a:rPr sz="1725" b="1">
                          <a:solidFill>
                            <a:srgbClr val="FFFFFF"/>
                          </a:solidFill>
                          <a:latin typeface="Helvetica Neue"/>
                          <a:ea typeface="Helvetica Neue"/>
                          <a:cs typeface="Helvetica Neue"/>
                        </a:rPr>
                        <a:t>Metric</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Layer I</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Layer II</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685800">
                <a:tc>
                  <a:txBody>
                    <a:bodyPr lIns="152400" tIns="38100" rIns="133350" bIns="38100">
                      <a:noAutofit/>
                    </a:bodyPr>
                    <a:lstStyle/>
                    <a:p>
                      <a:r>
                        <a:rPr sz="1725" b="0">
                          <a:solidFill>
                            <a:srgbClr val="173344"/>
                          </a:solidFill>
                          <a:latin typeface="Helvetica Neue"/>
                          <a:ea typeface="Helvetica Neue"/>
                          <a:cs typeface="Helvetica Neue"/>
                        </a:rPr>
                        <a:t>ROC AUC</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0.841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0.668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685800">
                <a:tc>
                  <a:txBody>
                    <a:bodyPr lIns="152400" tIns="38100" rIns="133350" bIns="38100">
                      <a:noAutofit/>
                    </a:bodyPr>
                    <a:lstStyle/>
                    <a:p>
                      <a:r>
                        <a:rPr sz="1725" b="0">
                          <a:solidFill>
                            <a:srgbClr val="173344"/>
                          </a:solidFill>
                          <a:latin typeface="Helvetica Neue"/>
                          <a:ea typeface="Helvetica Neue"/>
                          <a:cs typeface="Helvetica Neue"/>
                        </a:rPr>
                        <a:t>MCC</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0.527</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0.220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8" name="ROC AUC measures ranking.&#10;0.5 is chance and 1">
            <a:extLst xmlns:a="http://schemas.openxmlformats.org/drawingml/2006/main">
              <a:ext uri="{FF2B5EF4-FFF2-40B4-BE49-F238E27FC236}">
                <a16:creationId xmlns:a16="http://schemas.microsoft.com/office/drawing/2014/main" id="{13A0A51B-EF1C-4329-829D-0002A6DA0023}"/>
              </a:ext>
            </a:extLst>
          </p:cNvPr>
          <p:cNvSpPr>
            <a:spLocks xmlns:a="http://schemas.openxmlformats.org/drawingml/2006/main" noGrp="1"/>
          </p:cNvSpPr>
          <p:nvPr/>
        </p:nvSpPr>
        <p:spPr>
          <a:xfrm xmlns:a="http://schemas.openxmlformats.org/drawingml/2006/main">
            <a:off x="8096250" y="4448175"/>
            <a:ext cx="348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3344"/>
                </a:solidFill>
                <a:latin typeface="Helvetica Neue"/>
                <a:ea typeface="Helvetica Neue"/>
                <a:cs typeface="Helvetica Neue"/>
              </a:defRPr>
            </a:defPPr>
            <a:lvl1pPr algn="l">
              <a:defRPr sz="1800" b="0">
                <a:solidFill>
                  <a:srgbClr val="173344"/>
                </a:solidFill>
                <a:latin typeface="Helvetica Neue"/>
                <a:ea typeface="Helvetica Neue"/>
                <a:cs typeface="Helvetica Neue"/>
              </a:defRPr>
            </a:lvl1pPr>
            <a:lvl2pPr algn="l">
              <a:defRPr sz="1800" b="0">
                <a:solidFill>
                  <a:srgbClr val="173344"/>
                </a:solidFill>
                <a:latin typeface="Helvetica Neue"/>
                <a:ea typeface="Helvetica Neue"/>
                <a:cs typeface="Helvetica Neue"/>
              </a:defRPr>
            </a:lvl2pPr>
            <a:lvl3pPr algn="l">
              <a:defRPr sz="1800" b="0">
                <a:solidFill>
                  <a:srgbClr val="173344"/>
                </a:solidFill>
                <a:latin typeface="Helvetica Neue"/>
                <a:ea typeface="Helvetica Neue"/>
                <a:cs typeface="Helvetica Neue"/>
              </a:defRPr>
            </a:lvl3pPr>
            <a:lvl4pPr algn="l">
              <a:defRPr sz="1800" b="0">
                <a:solidFill>
                  <a:srgbClr val="173344"/>
                </a:solidFill>
                <a:latin typeface="Helvetica Neue"/>
                <a:ea typeface="Helvetica Neue"/>
                <a:cs typeface="Helvetica Neue"/>
              </a:defRPr>
            </a:lvl4pPr>
            <a:lvl5pPr algn="l">
              <a:defRPr sz="1800" b="0">
                <a:solidFill>
                  <a:srgbClr val="173344"/>
                </a:solidFill>
                <a:latin typeface="Helvetica Neue"/>
                <a:ea typeface="Helvetica Neue"/>
                <a:cs typeface="Helvetica Neue"/>
              </a:defRPr>
            </a:lvl5pPr>
            <a:lvl6pPr algn="l">
              <a:defRPr sz="1800" b="0">
                <a:solidFill>
                  <a:srgbClr val="173344"/>
                </a:solidFill>
                <a:latin typeface="Helvetica Neue"/>
                <a:ea typeface="Helvetica Neue"/>
                <a:cs typeface="Helvetica Neue"/>
              </a:defRPr>
            </a:lvl6pPr>
            <a:lvl7pPr algn="l">
              <a:defRPr sz="1800" b="0">
                <a:solidFill>
                  <a:srgbClr val="173344"/>
                </a:solidFill>
                <a:latin typeface="Helvetica Neue"/>
                <a:ea typeface="Helvetica Neue"/>
                <a:cs typeface="Helvetica Neue"/>
              </a:defRPr>
            </a:lvl7pPr>
            <a:lvl8pPr algn="l">
              <a:defRPr sz="1800" b="0">
                <a:solidFill>
                  <a:srgbClr val="173344"/>
                </a:solidFill>
                <a:latin typeface="Helvetica Neue"/>
                <a:ea typeface="Helvetica Neue"/>
                <a:cs typeface="Helvetica Neue"/>
              </a:defRPr>
            </a:lvl8pPr>
            <a:lvl9pPr algn="l">
              <a:defRPr sz="1800" b="0">
                <a:solidFill>
                  <a:srgbClr val="173344"/>
                </a:solidFill>
                <a:latin typeface="Helvetica Neue"/>
                <a:ea typeface="Helvetica Neue"/>
                <a:cs typeface="Helvetica Neue"/>
              </a:defRPr>
            </a:lvl9pPr>
          </a:lstStyle>
          <a:p xmlns:a="http://schemas.openxmlformats.org/drawingml/2006/main">
            <a:pPr algn="l">
              <a:defRPr sz="1800" b="0">
                <a:solidFill>
                  <a:srgbClr val="173344"/>
                </a:solidFill>
                <a:latin typeface="Helvetica Neue"/>
                <a:ea typeface="Helvetica Neue"/>
                <a:cs typeface="Helvetica Neue"/>
              </a:defRPr>
            </a:pPr>
            <a:r>
              <a:rPr sz="1800" b="0">
                <a:solidFill>
                  <a:srgbClr val="173344"/>
                </a:solidFill>
                <a:latin typeface="Helvetica Neue"/>
                <a:ea typeface="Helvetica Neue"/>
                <a:cs typeface="Helvetica Neue"/>
              </a:rPr>
              <a:t>ROC AUC measures ranking.</a:t>
            </a:r>
          </a:p>
          <a:p xmlns:a="http://schemas.openxmlformats.org/drawingml/2006/main">
            <a:pPr algn="l">
              <a:defRPr sz="1800" b="0">
                <a:solidFill>
                  <a:srgbClr val="173344"/>
                </a:solidFill>
                <a:latin typeface="Helvetica Neue"/>
                <a:ea typeface="Helvetica Neue"/>
                <a:cs typeface="Helvetica Neue"/>
              </a:defRPr>
            </a:pPr>
            <a:r>
              <a:rPr sz="1800" b="0">
                <a:solidFill>
                  <a:srgbClr val="173344"/>
                </a:solidFill>
                <a:latin typeface="Helvetica Neue"/>
                <a:ea typeface="Helvetica Neue"/>
                <a:cs typeface="Helvetica Neue"/>
              </a:rPr>
              <a:t>0.5 is chance and 1.0 is perfect.</a:t>
            </a:r>
          </a:p>
        </p:txBody>
      </p:sp>
      <p:sp>
        <p:nvSpPr>
          <p:cNvPr id="9" name="Published: leave-one-out. Ours: grouped neste">
            <a:extLst xmlns:a="http://schemas.openxmlformats.org/drawingml/2006/main">
              <a:ext uri="{FF2B5EF4-FFF2-40B4-BE49-F238E27FC236}">
                <a16:creationId xmlns:a16="http://schemas.microsoft.com/office/drawing/2014/main" id="{AF76B4F1-FC6A-4CE6-9F54-FC6671AFF63C}"/>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Published: leave-one-out. Ours: grouped nested validation. Layer II uses known enhancers.</a:t>
            </a:r>
          </a:p>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Close values do not establish exact reproduction.</a:t>
            </a:r>
          </a:p>
        </p:txBody>
      </p:sp>
    </p:spTree>
    <p:extLst>
      <p:ext uri="{BB962C8B-B14F-4D97-AF65-F5344CB8AC3E}">
        <p14:creationId xmlns:p14="http://schemas.microsoft.com/office/powerpoint/2010/main" val="193567720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FEATURE COMPARISONS">
            <a:extLst xmlns:a="http://schemas.openxmlformats.org/drawingml/2006/main">
              <a:ext uri="{FF2B5EF4-FFF2-40B4-BE49-F238E27FC236}">
                <a16:creationId xmlns:a16="http://schemas.microsoft.com/office/drawing/2014/main" id="{94D4B742-AB4D-4554-A507-3E50E91E719C}"/>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FEATURE COMPARISONS</a:t>
            </a:r>
          </a:p>
        </p:txBody>
      </p:sp>
      <p:sp>
        <p:nvSpPr>
          <p:cNvPr id="2" name="Structural features showed no clear gain">
            <a:extLst xmlns:a="http://schemas.openxmlformats.org/drawingml/2006/main">
              <a:ext uri="{FF2B5EF4-FFF2-40B4-BE49-F238E27FC236}">
                <a16:creationId xmlns:a16="http://schemas.microsoft.com/office/drawing/2014/main" id="{99C1DFAC-A5F1-4A4D-A393-DD3655980169}"/>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Structural features showed no clear gain</a:t>
            </a:r>
          </a:p>
        </p:txBody>
      </p:sp>
      <p:sp>
        <p:nvSpPr>
          <p:cNvPr id="3" name="iEnhancer-2L reconstruction">
            <a:extLst xmlns:a="http://schemas.openxmlformats.org/drawingml/2006/main">
              <a:ext uri="{FF2B5EF4-FFF2-40B4-BE49-F238E27FC236}">
                <a16:creationId xmlns:a16="http://schemas.microsoft.com/office/drawing/2014/main" id="{2D5EE97A-22A4-4669-8806-43FB052BAE24}"/>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7">
            <a:extLst xmlns:a="http://schemas.openxmlformats.org/drawingml/2006/main">
              <a:ext uri="{FF2B5EF4-FFF2-40B4-BE49-F238E27FC236}">
                <a16:creationId xmlns:a16="http://schemas.microsoft.com/office/drawing/2014/main" id="{8643A57F-8338-4A54-A332-9BC5832FDAAF}"/>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07</a:t>
            </a:r>
          </a:p>
        </p:txBody>
      </p:sp>
      <p:sp>
        <p:nvSpPr>
          <p:cNvPr id="5" name="Layer-II accuracy in the latest controlled co">
            <a:extLst xmlns:a="http://schemas.openxmlformats.org/drawingml/2006/main">
              <a:ext uri="{FF2B5EF4-FFF2-40B4-BE49-F238E27FC236}">
                <a16:creationId xmlns:a16="http://schemas.microsoft.com/office/drawing/2014/main" id="{CD7BD669-907B-4771-926A-4750AF06B604}"/>
              </a:ext>
            </a:extLst>
          </p:cNvPr>
          <p:cNvSpPr>
            <a:spLocks xmlns:a="http://schemas.openxmlformats.org/drawingml/2006/main" noGrp="1"/>
          </p:cNvSpPr>
          <p:nvPr/>
        </p:nvSpPr>
        <p:spPr>
          <a:xfrm xmlns:a="http://schemas.openxmlformats.org/drawingml/2006/main">
            <a:off x="609600" y="17049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F7A"/>
                </a:solidFill>
                <a:latin typeface="Helvetica Neue"/>
                <a:ea typeface="Helvetica Neue"/>
                <a:cs typeface="Helvetica Neue"/>
              </a:defRPr>
            </a:defPPr>
            <a:lvl1pPr algn="l">
              <a:defRPr sz="1950" b="1">
                <a:solidFill>
                  <a:srgbClr val="007F7A"/>
                </a:solidFill>
                <a:latin typeface="Helvetica Neue"/>
                <a:ea typeface="Helvetica Neue"/>
                <a:cs typeface="Helvetica Neue"/>
              </a:defRPr>
            </a:lvl1pPr>
            <a:lvl2pPr algn="l">
              <a:defRPr sz="1950" b="1">
                <a:solidFill>
                  <a:srgbClr val="007F7A"/>
                </a:solidFill>
                <a:latin typeface="Helvetica Neue"/>
                <a:ea typeface="Helvetica Neue"/>
                <a:cs typeface="Helvetica Neue"/>
              </a:defRPr>
            </a:lvl2pPr>
            <a:lvl3pPr algn="l">
              <a:defRPr sz="1950" b="1">
                <a:solidFill>
                  <a:srgbClr val="007F7A"/>
                </a:solidFill>
                <a:latin typeface="Helvetica Neue"/>
                <a:ea typeface="Helvetica Neue"/>
                <a:cs typeface="Helvetica Neue"/>
              </a:defRPr>
            </a:lvl3pPr>
            <a:lvl4pPr algn="l">
              <a:defRPr sz="1950" b="1">
                <a:solidFill>
                  <a:srgbClr val="007F7A"/>
                </a:solidFill>
                <a:latin typeface="Helvetica Neue"/>
                <a:ea typeface="Helvetica Neue"/>
                <a:cs typeface="Helvetica Neue"/>
              </a:defRPr>
            </a:lvl4pPr>
            <a:lvl5pPr algn="l">
              <a:defRPr sz="1950" b="1">
                <a:solidFill>
                  <a:srgbClr val="007F7A"/>
                </a:solidFill>
                <a:latin typeface="Helvetica Neue"/>
                <a:ea typeface="Helvetica Neue"/>
                <a:cs typeface="Helvetica Neue"/>
              </a:defRPr>
            </a:lvl5pPr>
            <a:lvl6pPr algn="l">
              <a:defRPr sz="1950" b="1">
                <a:solidFill>
                  <a:srgbClr val="007F7A"/>
                </a:solidFill>
                <a:latin typeface="Helvetica Neue"/>
                <a:ea typeface="Helvetica Neue"/>
                <a:cs typeface="Helvetica Neue"/>
              </a:defRPr>
            </a:lvl6pPr>
            <a:lvl7pPr algn="l">
              <a:defRPr sz="1950" b="1">
                <a:solidFill>
                  <a:srgbClr val="007F7A"/>
                </a:solidFill>
                <a:latin typeface="Helvetica Neue"/>
                <a:ea typeface="Helvetica Neue"/>
                <a:cs typeface="Helvetica Neue"/>
              </a:defRPr>
            </a:lvl7pPr>
            <a:lvl8pPr algn="l">
              <a:defRPr sz="1950" b="1">
                <a:solidFill>
                  <a:srgbClr val="007F7A"/>
                </a:solidFill>
                <a:latin typeface="Helvetica Neue"/>
                <a:ea typeface="Helvetica Neue"/>
                <a:cs typeface="Helvetica Neue"/>
              </a:defRPr>
            </a:lvl8pPr>
            <a:lvl9pPr algn="l">
              <a:defRPr sz="1950" b="1">
                <a:solidFill>
                  <a:srgbClr val="007F7A"/>
                </a:solidFill>
                <a:latin typeface="Helvetica Neue"/>
                <a:ea typeface="Helvetica Neue"/>
                <a:cs typeface="Helvetica Neue"/>
              </a:defRPr>
            </a:lvl9pPr>
          </a:lstStyle>
          <a:p xmlns:a="http://schemas.openxmlformats.org/drawingml/2006/main">
            <a:pPr algn="l">
              <a:defRPr sz="1950" b="1">
                <a:solidFill>
                  <a:srgbClr val="007F7A"/>
                </a:solidFill>
                <a:latin typeface="Helvetica Neue"/>
                <a:ea typeface="Helvetica Neue"/>
                <a:cs typeface="Helvetica Neue"/>
              </a:defRPr>
            </a:pPr>
            <a:r>
              <a:rPr sz="1950" b="1">
                <a:solidFill>
                  <a:srgbClr val="007F7A"/>
                </a:solidFill>
                <a:latin typeface="Helvetica Neue"/>
                <a:ea typeface="Helvetica Neue"/>
                <a:cs typeface="Helvetica Neue"/>
              </a:rPr>
              <a:t>Layer-II accuracy in the latest controlled comparison</a:t>
            </a:r>
          </a:p>
        </p:txBody>
      </p:sp>
      <p:graphicFrame>
        <p:nvGraphicFramePr>
          <p:cNvPr id="6" name="Chart">
            <a:extLst xmlns:a="http://schemas.openxmlformats.org/drawingml/2006/main">
              <a:ext uri="{FF2B5EF4-FFF2-40B4-BE49-F238E27FC236}">
                <a16:creationId xmlns:a16="http://schemas.microsoft.com/office/drawing/2014/main" id="{B90868C9-6FC7-4D89-89B2-32A5D5C8AAC7}"/>
              </a:ext>
            </a:extLst>
          </p:cNvPr>
          <p:cNvGraphicFramePr/>
          <p:nvPr/>
        </p:nvGraphicFramePr>
        <p:xfrm>
          <a:off xmlns:a="http://schemas.openxmlformats.org/drawingml/2006/main" x="495300" y="2181225"/>
          <a:ext xmlns:a="http://schemas.openxmlformats.org/drawingml/2006/main" cx="7048500" cy="3305175"/>
        </p:xfrm>
        <a:graphic xmlns:a="http://schemas.openxmlformats.org/drawingml/2006/main">
          <a:graphicData uri="http://schemas.openxmlformats.org/drawingml/2006/chart">
            <c:chart xmlns:r="http://schemas.openxmlformats.org/officeDocument/2006/relationships" xmlns:c="http://schemas.openxmlformats.org/drawingml/2006/chart" r:id="R8ae1d2b1b9e2485a"/>
          </a:graphicData>
        </a:graphic>
      </p:graphicFrame>
      <p:sp>
        <p:nvSpPr>
          <p:cNvPr id="7" name="+0.34">
            <a:extLst xmlns:a="http://schemas.openxmlformats.org/drawingml/2006/main">
              <a:ext uri="{FF2B5EF4-FFF2-40B4-BE49-F238E27FC236}">
                <a16:creationId xmlns:a16="http://schemas.microsoft.com/office/drawing/2014/main" id="{A366BBB3-517E-4197-B2AC-64A1EEAF6C6D}"/>
              </a:ext>
            </a:extLst>
          </p:cNvPr>
          <p:cNvSpPr>
            <a:spLocks xmlns:a="http://schemas.openxmlformats.org/drawingml/2006/main" noGrp="1"/>
          </p:cNvSpPr>
          <p:nvPr/>
        </p:nvSpPr>
        <p:spPr>
          <a:xfrm xmlns:a="http://schemas.openxmlformats.org/drawingml/2006/main">
            <a:off x="8039100" y="2371725"/>
            <a:ext cx="3543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007F7A"/>
                </a:solidFill>
                <a:latin typeface="Helvetica Neue"/>
                <a:ea typeface="Helvetica Neue"/>
                <a:cs typeface="Helvetica Neue"/>
              </a:defRPr>
            </a:defPPr>
            <a:lvl1pPr algn="l">
              <a:defRPr sz="4875" b="1">
                <a:solidFill>
                  <a:srgbClr val="007F7A"/>
                </a:solidFill>
                <a:latin typeface="Helvetica Neue"/>
                <a:ea typeface="Helvetica Neue"/>
                <a:cs typeface="Helvetica Neue"/>
              </a:defRPr>
            </a:lvl1pPr>
            <a:lvl2pPr algn="l">
              <a:defRPr sz="4875" b="1">
                <a:solidFill>
                  <a:srgbClr val="007F7A"/>
                </a:solidFill>
                <a:latin typeface="Helvetica Neue"/>
                <a:ea typeface="Helvetica Neue"/>
                <a:cs typeface="Helvetica Neue"/>
              </a:defRPr>
            </a:lvl2pPr>
            <a:lvl3pPr algn="l">
              <a:defRPr sz="4875" b="1">
                <a:solidFill>
                  <a:srgbClr val="007F7A"/>
                </a:solidFill>
                <a:latin typeface="Helvetica Neue"/>
                <a:ea typeface="Helvetica Neue"/>
                <a:cs typeface="Helvetica Neue"/>
              </a:defRPr>
            </a:lvl3pPr>
            <a:lvl4pPr algn="l">
              <a:defRPr sz="4875" b="1">
                <a:solidFill>
                  <a:srgbClr val="007F7A"/>
                </a:solidFill>
                <a:latin typeface="Helvetica Neue"/>
                <a:ea typeface="Helvetica Neue"/>
                <a:cs typeface="Helvetica Neue"/>
              </a:defRPr>
            </a:lvl4pPr>
            <a:lvl5pPr algn="l">
              <a:defRPr sz="4875" b="1">
                <a:solidFill>
                  <a:srgbClr val="007F7A"/>
                </a:solidFill>
                <a:latin typeface="Helvetica Neue"/>
                <a:ea typeface="Helvetica Neue"/>
                <a:cs typeface="Helvetica Neue"/>
              </a:defRPr>
            </a:lvl5pPr>
            <a:lvl6pPr algn="l">
              <a:defRPr sz="4875" b="1">
                <a:solidFill>
                  <a:srgbClr val="007F7A"/>
                </a:solidFill>
                <a:latin typeface="Helvetica Neue"/>
                <a:ea typeface="Helvetica Neue"/>
                <a:cs typeface="Helvetica Neue"/>
              </a:defRPr>
            </a:lvl6pPr>
            <a:lvl7pPr algn="l">
              <a:defRPr sz="4875" b="1">
                <a:solidFill>
                  <a:srgbClr val="007F7A"/>
                </a:solidFill>
                <a:latin typeface="Helvetica Neue"/>
                <a:ea typeface="Helvetica Neue"/>
                <a:cs typeface="Helvetica Neue"/>
              </a:defRPr>
            </a:lvl7pPr>
            <a:lvl8pPr algn="l">
              <a:defRPr sz="4875" b="1">
                <a:solidFill>
                  <a:srgbClr val="007F7A"/>
                </a:solidFill>
                <a:latin typeface="Helvetica Neue"/>
                <a:ea typeface="Helvetica Neue"/>
                <a:cs typeface="Helvetica Neue"/>
              </a:defRPr>
            </a:lvl8pPr>
            <a:lvl9pPr algn="l">
              <a:defRPr sz="4875" b="1">
                <a:solidFill>
                  <a:srgbClr val="007F7A"/>
                </a:solidFill>
                <a:latin typeface="Helvetica Neue"/>
                <a:ea typeface="Helvetica Neue"/>
                <a:cs typeface="Helvetica Neue"/>
              </a:defRPr>
            </a:lvl9pPr>
          </a:lstStyle>
          <a:p xmlns:a="http://schemas.openxmlformats.org/drawingml/2006/main">
            <a:pPr algn="l">
              <a:defRPr sz="4875" b="1">
                <a:solidFill>
                  <a:srgbClr val="007F7A"/>
                </a:solidFill>
                <a:latin typeface="Helvetica Neue"/>
                <a:ea typeface="Helvetica Neue"/>
                <a:cs typeface="Helvetica Neue"/>
              </a:defRPr>
            </a:pPr>
            <a:r>
              <a:rPr sz="4875" b="1">
                <a:solidFill>
                  <a:srgbClr val="007F7A"/>
                </a:solidFill>
                <a:latin typeface="Helvetica Neue"/>
                <a:ea typeface="Helvetica Neue"/>
                <a:cs typeface="Helvetica Neue"/>
              </a:rPr>
              <a:t>+0.34</a:t>
            </a:r>
          </a:p>
        </p:txBody>
      </p:sp>
      <p:sp>
        <p:nvSpPr>
          <p:cNvPr id="8" name="percentage points">
            <a:extLst xmlns:a="http://schemas.openxmlformats.org/drawingml/2006/main">
              <a:ext uri="{FF2B5EF4-FFF2-40B4-BE49-F238E27FC236}">
                <a16:creationId xmlns:a16="http://schemas.microsoft.com/office/drawing/2014/main" id="{DA12D2D5-F2CB-47A9-B0D2-B91C5957A3B3}"/>
              </a:ext>
            </a:extLst>
          </p:cNvPr>
          <p:cNvSpPr>
            <a:spLocks xmlns:a="http://schemas.openxmlformats.org/drawingml/2006/main" noGrp="1"/>
          </p:cNvSpPr>
          <p:nvPr/>
        </p:nvSpPr>
        <p:spPr>
          <a:xfrm xmlns:a="http://schemas.openxmlformats.org/drawingml/2006/main">
            <a:off x="8039100" y="3200400"/>
            <a:ext cx="3543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7F7A"/>
                </a:solidFill>
                <a:latin typeface="Helvetica Neue"/>
                <a:ea typeface="Helvetica Neue"/>
                <a:cs typeface="Helvetica Neue"/>
              </a:defRPr>
            </a:defPPr>
            <a:lvl1pPr algn="l">
              <a:defRPr sz="2025" b="0">
                <a:solidFill>
                  <a:srgbClr val="007F7A"/>
                </a:solidFill>
                <a:latin typeface="Helvetica Neue"/>
                <a:ea typeface="Helvetica Neue"/>
                <a:cs typeface="Helvetica Neue"/>
              </a:defRPr>
            </a:lvl1pPr>
            <a:lvl2pPr algn="l">
              <a:defRPr sz="2025" b="0">
                <a:solidFill>
                  <a:srgbClr val="007F7A"/>
                </a:solidFill>
                <a:latin typeface="Helvetica Neue"/>
                <a:ea typeface="Helvetica Neue"/>
                <a:cs typeface="Helvetica Neue"/>
              </a:defRPr>
            </a:lvl2pPr>
            <a:lvl3pPr algn="l">
              <a:defRPr sz="2025" b="0">
                <a:solidFill>
                  <a:srgbClr val="007F7A"/>
                </a:solidFill>
                <a:latin typeface="Helvetica Neue"/>
                <a:ea typeface="Helvetica Neue"/>
                <a:cs typeface="Helvetica Neue"/>
              </a:defRPr>
            </a:lvl3pPr>
            <a:lvl4pPr algn="l">
              <a:defRPr sz="2025" b="0">
                <a:solidFill>
                  <a:srgbClr val="007F7A"/>
                </a:solidFill>
                <a:latin typeface="Helvetica Neue"/>
                <a:ea typeface="Helvetica Neue"/>
                <a:cs typeface="Helvetica Neue"/>
              </a:defRPr>
            </a:lvl4pPr>
            <a:lvl5pPr algn="l">
              <a:defRPr sz="2025" b="0">
                <a:solidFill>
                  <a:srgbClr val="007F7A"/>
                </a:solidFill>
                <a:latin typeface="Helvetica Neue"/>
                <a:ea typeface="Helvetica Neue"/>
                <a:cs typeface="Helvetica Neue"/>
              </a:defRPr>
            </a:lvl5pPr>
            <a:lvl6pPr algn="l">
              <a:defRPr sz="2025" b="0">
                <a:solidFill>
                  <a:srgbClr val="007F7A"/>
                </a:solidFill>
                <a:latin typeface="Helvetica Neue"/>
                <a:ea typeface="Helvetica Neue"/>
                <a:cs typeface="Helvetica Neue"/>
              </a:defRPr>
            </a:lvl6pPr>
            <a:lvl7pPr algn="l">
              <a:defRPr sz="2025" b="0">
                <a:solidFill>
                  <a:srgbClr val="007F7A"/>
                </a:solidFill>
                <a:latin typeface="Helvetica Neue"/>
                <a:ea typeface="Helvetica Neue"/>
                <a:cs typeface="Helvetica Neue"/>
              </a:defRPr>
            </a:lvl7pPr>
            <a:lvl8pPr algn="l">
              <a:defRPr sz="2025" b="0">
                <a:solidFill>
                  <a:srgbClr val="007F7A"/>
                </a:solidFill>
                <a:latin typeface="Helvetica Neue"/>
                <a:ea typeface="Helvetica Neue"/>
                <a:cs typeface="Helvetica Neue"/>
              </a:defRPr>
            </a:lvl8pPr>
            <a:lvl9pPr algn="l">
              <a:defRPr sz="2025" b="0">
                <a:solidFill>
                  <a:srgbClr val="007F7A"/>
                </a:solidFill>
                <a:latin typeface="Helvetica Neue"/>
                <a:ea typeface="Helvetica Neue"/>
                <a:cs typeface="Helvetica Neue"/>
              </a:defRPr>
            </a:lvl9pPr>
          </a:lstStyle>
          <a:p xmlns:a="http://schemas.openxmlformats.org/drawingml/2006/main">
            <a:pPr algn="l">
              <a:defRPr sz="2025" b="0">
                <a:solidFill>
                  <a:srgbClr val="007F7A"/>
                </a:solidFill>
                <a:latin typeface="Helvetica Neue"/>
                <a:ea typeface="Helvetica Neue"/>
                <a:cs typeface="Helvetica Neue"/>
              </a:defRPr>
            </a:pPr>
            <a:r>
              <a:rPr sz="2025" b="0">
                <a:solidFill>
                  <a:srgbClr val="007F7A"/>
                </a:solidFill>
                <a:latin typeface="Helvetica Neue"/>
                <a:ea typeface="Helvetica Neue"/>
                <a:cs typeface="Helvetica Neue"/>
              </a:rPr>
              <a:t>percentage points</a:t>
            </a:r>
          </a:p>
        </p:txBody>
      </p:sp>
      <p:sp>
        <p:nvSpPr>
          <p:cNvPr id="9" name="Balanced words + structure&#10;compared with word">
            <a:extLst xmlns:a="http://schemas.openxmlformats.org/drawingml/2006/main">
              <a:ext uri="{FF2B5EF4-FFF2-40B4-BE49-F238E27FC236}">
                <a16:creationId xmlns:a16="http://schemas.microsoft.com/office/drawing/2014/main" id="{71C3CCE7-B7B0-4574-8C60-7BD8E1EB5099}"/>
              </a:ext>
            </a:extLst>
          </p:cNvPr>
          <p:cNvSpPr>
            <a:spLocks xmlns:a="http://schemas.openxmlformats.org/drawingml/2006/main" noGrp="1"/>
          </p:cNvSpPr>
          <p:nvPr/>
        </p:nvSpPr>
        <p:spPr>
          <a:xfrm xmlns:a="http://schemas.openxmlformats.org/drawingml/2006/main">
            <a:off x="8039100" y="3819525"/>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Balanced words + structure</a:t>
            </a:r>
          </a:p>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compared with words alone</a:t>
            </a:r>
          </a:p>
        </p:txBody>
      </p:sp>
      <p:sp>
        <p:nvSpPr>
          <p:cNvPr id="10" name="95% interval&#10;−1.86 to +2.57 points">
            <a:extLst xmlns:a="http://schemas.openxmlformats.org/drawingml/2006/main">
              <a:ext uri="{FF2B5EF4-FFF2-40B4-BE49-F238E27FC236}">
                <a16:creationId xmlns:a16="http://schemas.microsoft.com/office/drawing/2014/main" id="{F50E90EB-1622-40AF-AD86-EC670309CEA5}"/>
              </a:ext>
            </a:extLst>
          </p:cNvPr>
          <p:cNvSpPr>
            <a:spLocks xmlns:a="http://schemas.openxmlformats.org/drawingml/2006/main" noGrp="1"/>
          </p:cNvSpPr>
          <p:nvPr/>
        </p:nvSpPr>
        <p:spPr>
          <a:xfrm xmlns:a="http://schemas.openxmlformats.org/drawingml/2006/main">
            <a:off x="8039100" y="4905375"/>
            <a:ext cx="3543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344"/>
                </a:solidFill>
                <a:latin typeface="Helvetica Neue"/>
                <a:ea typeface="Helvetica Neue"/>
                <a:cs typeface="Helvetica Neue"/>
              </a:defRPr>
            </a:defPPr>
            <a:lvl1pPr algn="l">
              <a:defRPr sz="1950" b="0">
                <a:solidFill>
                  <a:srgbClr val="173344"/>
                </a:solidFill>
                <a:latin typeface="Helvetica Neue"/>
                <a:ea typeface="Helvetica Neue"/>
                <a:cs typeface="Helvetica Neue"/>
              </a:defRPr>
            </a:lvl1pPr>
            <a:lvl2pPr algn="l">
              <a:defRPr sz="1950" b="0">
                <a:solidFill>
                  <a:srgbClr val="173344"/>
                </a:solidFill>
                <a:latin typeface="Helvetica Neue"/>
                <a:ea typeface="Helvetica Neue"/>
                <a:cs typeface="Helvetica Neue"/>
              </a:defRPr>
            </a:lvl2pPr>
            <a:lvl3pPr algn="l">
              <a:defRPr sz="1950" b="0">
                <a:solidFill>
                  <a:srgbClr val="173344"/>
                </a:solidFill>
                <a:latin typeface="Helvetica Neue"/>
                <a:ea typeface="Helvetica Neue"/>
                <a:cs typeface="Helvetica Neue"/>
              </a:defRPr>
            </a:lvl3pPr>
            <a:lvl4pPr algn="l">
              <a:defRPr sz="1950" b="0">
                <a:solidFill>
                  <a:srgbClr val="173344"/>
                </a:solidFill>
                <a:latin typeface="Helvetica Neue"/>
                <a:ea typeface="Helvetica Neue"/>
                <a:cs typeface="Helvetica Neue"/>
              </a:defRPr>
            </a:lvl4pPr>
            <a:lvl5pPr algn="l">
              <a:defRPr sz="1950" b="0">
                <a:solidFill>
                  <a:srgbClr val="173344"/>
                </a:solidFill>
                <a:latin typeface="Helvetica Neue"/>
                <a:ea typeface="Helvetica Neue"/>
                <a:cs typeface="Helvetica Neue"/>
              </a:defRPr>
            </a:lvl5pPr>
            <a:lvl6pPr algn="l">
              <a:defRPr sz="1950" b="0">
                <a:solidFill>
                  <a:srgbClr val="173344"/>
                </a:solidFill>
                <a:latin typeface="Helvetica Neue"/>
                <a:ea typeface="Helvetica Neue"/>
                <a:cs typeface="Helvetica Neue"/>
              </a:defRPr>
            </a:lvl6pPr>
            <a:lvl7pPr algn="l">
              <a:defRPr sz="1950" b="0">
                <a:solidFill>
                  <a:srgbClr val="173344"/>
                </a:solidFill>
                <a:latin typeface="Helvetica Neue"/>
                <a:ea typeface="Helvetica Neue"/>
                <a:cs typeface="Helvetica Neue"/>
              </a:defRPr>
            </a:lvl7pPr>
            <a:lvl8pPr algn="l">
              <a:defRPr sz="1950" b="0">
                <a:solidFill>
                  <a:srgbClr val="173344"/>
                </a:solidFill>
                <a:latin typeface="Helvetica Neue"/>
                <a:ea typeface="Helvetica Neue"/>
                <a:cs typeface="Helvetica Neue"/>
              </a:defRPr>
            </a:lvl8pPr>
            <a:lvl9pPr algn="l">
              <a:defRPr sz="1950" b="0">
                <a:solidFill>
                  <a:srgbClr val="173344"/>
                </a:solidFill>
                <a:latin typeface="Helvetica Neue"/>
                <a:ea typeface="Helvetica Neue"/>
                <a:cs typeface="Helvetica Neue"/>
              </a:defRPr>
            </a:lvl9pPr>
          </a:lstStyle>
          <a:p xmlns:a="http://schemas.openxmlformats.org/drawingml/2006/main">
            <a:pPr algn="l">
              <a:defRPr sz="1950" b="0">
                <a:solidFill>
                  <a:srgbClr val="173344"/>
                </a:solidFill>
                <a:latin typeface="Helvetica Neue"/>
                <a:ea typeface="Helvetica Neue"/>
                <a:cs typeface="Helvetica Neue"/>
              </a:defRPr>
            </a:pPr>
            <a:r>
              <a:rPr sz="1950" b="0">
                <a:solidFill>
                  <a:srgbClr val="173344"/>
                </a:solidFill>
                <a:latin typeface="Helvetica Neue"/>
                <a:ea typeface="Helvetica Neue"/>
                <a:cs typeface="Helvetica Neue"/>
              </a:rPr>
              <a:t>95% interval</a:t>
            </a:r>
          </a:p>
          <a:p xmlns:a="http://schemas.openxmlformats.org/drawingml/2006/main">
            <a:pPr algn="l">
              <a:defRPr sz="1950" b="0">
                <a:solidFill>
                  <a:srgbClr val="173344"/>
                </a:solidFill>
                <a:latin typeface="Helvetica Neue"/>
                <a:ea typeface="Helvetica Neue"/>
                <a:cs typeface="Helvetica Neue"/>
              </a:defRPr>
            </a:pPr>
            <a:r>
              <a:rPr sz="1950" b="0">
                <a:solidFill>
                  <a:srgbClr val="173344"/>
                </a:solidFill>
                <a:latin typeface="Helvetica Neue"/>
                <a:ea typeface="Helvetica Neue"/>
                <a:cs typeface="Helvetica Neue"/>
              </a:rPr>
              <a:t>−1.86 to +2.57 points</a:t>
            </a:r>
          </a:p>
        </p:txBody>
      </p:sp>
      <p:sp>
        <p:nvSpPr>
          <p:cNvPr id="11" name="Training-only block scaling and scale-aware t">
            <a:extLst xmlns:a="http://schemas.openxmlformats.org/drawingml/2006/main">
              <a:ext uri="{FF2B5EF4-FFF2-40B4-BE49-F238E27FC236}">
                <a16:creationId xmlns:a16="http://schemas.microsoft.com/office/drawing/2014/main" id="{DC6D9562-5B58-4461-A457-BF5F08157B3C}"/>
              </a:ext>
            </a:extLst>
          </p:cNvPr>
          <p:cNvSpPr>
            <a:spLocks xmlns:a="http://schemas.openxmlformats.org/drawingml/2006/main" noGrp="1"/>
          </p:cNvSpPr>
          <p:nvPr/>
        </p:nvSpPr>
        <p:spPr>
          <a:xfrm xmlns:a="http://schemas.openxmlformats.org/drawingml/2006/main">
            <a:off x="609600" y="6057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Training-only block scaling and scale-aware tuning. Reused benchmark comparisons remain exploratory.</a:t>
            </a:r>
          </a:p>
        </p:txBody>
      </p:sp>
    </p:spTree>
    <p:extLst>
      <p:ext uri="{BB962C8B-B14F-4D97-AF65-F5344CB8AC3E}">
        <p14:creationId xmlns:p14="http://schemas.microsoft.com/office/powerpoint/2010/main" val="1191648479"/>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AUTHOR-SERVER COMPARISON">
            <a:extLst xmlns:a="http://schemas.openxmlformats.org/drawingml/2006/main">
              <a:ext uri="{FF2B5EF4-FFF2-40B4-BE49-F238E27FC236}">
                <a16:creationId xmlns:a16="http://schemas.microsoft.com/office/drawing/2014/main" id="{74016ECC-C727-47AF-B599-39D5AA2D53C6}"/>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AUTHOR-SERVER COMPARISON</a:t>
            </a:r>
          </a:p>
        </p:txBody>
      </p:sp>
      <p:sp>
        <p:nvSpPr>
          <p:cNvPr id="2" name="Authors’ server agreed on 192 of 200 inputs">
            <a:extLst xmlns:a="http://schemas.openxmlformats.org/drawingml/2006/main">
              <a:ext uri="{FF2B5EF4-FFF2-40B4-BE49-F238E27FC236}">
                <a16:creationId xmlns:a16="http://schemas.microsoft.com/office/drawing/2014/main" id="{74D95CE4-21A2-4030-B979-6EA02FF0D218}"/>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Authors’ server agreed on 192 of 200 inputs</a:t>
            </a:r>
          </a:p>
        </p:txBody>
      </p:sp>
      <p:sp>
        <p:nvSpPr>
          <p:cNvPr id="3" name="iEnhancer-2L reconstruction">
            <a:extLst xmlns:a="http://schemas.openxmlformats.org/drawingml/2006/main">
              <a:ext uri="{FF2B5EF4-FFF2-40B4-BE49-F238E27FC236}">
                <a16:creationId xmlns:a16="http://schemas.microsoft.com/office/drawing/2014/main" id="{6DBAA7D9-8E97-4F86-9591-F0B2418BB8E6}"/>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8">
            <a:extLst xmlns:a="http://schemas.openxmlformats.org/drawingml/2006/main">
              <a:ext uri="{FF2B5EF4-FFF2-40B4-BE49-F238E27FC236}">
                <a16:creationId xmlns:a16="http://schemas.microsoft.com/office/drawing/2014/main" id="{454E85C4-9531-4F80-8D42-7B5294CCC95E}"/>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08</a:t>
            </a:r>
          </a:p>
        </p:txBody>
      </p:sp>
      <p:sp>
        <p:nvSpPr>
          <p:cNvPr id="5" name="96%">
            <a:extLst xmlns:a="http://schemas.openxmlformats.org/drawingml/2006/main">
              <a:ext uri="{FF2B5EF4-FFF2-40B4-BE49-F238E27FC236}">
                <a16:creationId xmlns:a16="http://schemas.microsoft.com/office/drawing/2014/main" id="{D4A97F1C-DC1A-442C-B3BA-0BD6F6768A47}"/>
              </a:ext>
            </a:extLst>
          </p:cNvPr>
          <p:cNvSpPr>
            <a:spLocks xmlns:a="http://schemas.openxmlformats.org/drawingml/2006/main" noGrp="1"/>
          </p:cNvSpPr>
          <p:nvPr/>
        </p:nvSpPr>
        <p:spPr>
          <a:xfrm xmlns:a="http://schemas.openxmlformats.org/drawingml/2006/main">
            <a:off x="609600" y="1924050"/>
            <a:ext cx="4429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07F7A"/>
                </a:solidFill>
                <a:latin typeface="Helvetica Neue"/>
                <a:ea typeface="Helvetica Neue"/>
                <a:cs typeface="Helvetica Neue"/>
              </a:defRPr>
            </a:defPPr>
            <a:lvl1pPr algn="l">
              <a:defRPr sz="6900" b="1">
                <a:solidFill>
                  <a:srgbClr val="007F7A"/>
                </a:solidFill>
                <a:latin typeface="Helvetica Neue"/>
                <a:ea typeface="Helvetica Neue"/>
                <a:cs typeface="Helvetica Neue"/>
              </a:defRPr>
            </a:lvl1pPr>
            <a:lvl2pPr algn="l">
              <a:defRPr sz="6900" b="1">
                <a:solidFill>
                  <a:srgbClr val="007F7A"/>
                </a:solidFill>
                <a:latin typeface="Helvetica Neue"/>
                <a:ea typeface="Helvetica Neue"/>
                <a:cs typeface="Helvetica Neue"/>
              </a:defRPr>
            </a:lvl2pPr>
            <a:lvl3pPr algn="l">
              <a:defRPr sz="6900" b="1">
                <a:solidFill>
                  <a:srgbClr val="007F7A"/>
                </a:solidFill>
                <a:latin typeface="Helvetica Neue"/>
                <a:ea typeface="Helvetica Neue"/>
                <a:cs typeface="Helvetica Neue"/>
              </a:defRPr>
            </a:lvl3pPr>
            <a:lvl4pPr algn="l">
              <a:defRPr sz="6900" b="1">
                <a:solidFill>
                  <a:srgbClr val="007F7A"/>
                </a:solidFill>
                <a:latin typeface="Helvetica Neue"/>
                <a:ea typeface="Helvetica Neue"/>
                <a:cs typeface="Helvetica Neue"/>
              </a:defRPr>
            </a:lvl4pPr>
            <a:lvl5pPr algn="l">
              <a:defRPr sz="6900" b="1">
                <a:solidFill>
                  <a:srgbClr val="007F7A"/>
                </a:solidFill>
                <a:latin typeface="Helvetica Neue"/>
                <a:ea typeface="Helvetica Neue"/>
                <a:cs typeface="Helvetica Neue"/>
              </a:defRPr>
            </a:lvl5pPr>
            <a:lvl6pPr algn="l">
              <a:defRPr sz="6900" b="1">
                <a:solidFill>
                  <a:srgbClr val="007F7A"/>
                </a:solidFill>
                <a:latin typeface="Helvetica Neue"/>
                <a:ea typeface="Helvetica Neue"/>
                <a:cs typeface="Helvetica Neue"/>
              </a:defRPr>
            </a:lvl6pPr>
            <a:lvl7pPr algn="l">
              <a:defRPr sz="6900" b="1">
                <a:solidFill>
                  <a:srgbClr val="007F7A"/>
                </a:solidFill>
                <a:latin typeface="Helvetica Neue"/>
                <a:ea typeface="Helvetica Neue"/>
                <a:cs typeface="Helvetica Neue"/>
              </a:defRPr>
            </a:lvl7pPr>
            <a:lvl8pPr algn="l">
              <a:defRPr sz="6900" b="1">
                <a:solidFill>
                  <a:srgbClr val="007F7A"/>
                </a:solidFill>
                <a:latin typeface="Helvetica Neue"/>
                <a:ea typeface="Helvetica Neue"/>
                <a:cs typeface="Helvetica Neue"/>
              </a:defRPr>
            </a:lvl8pPr>
            <a:lvl9pPr algn="l">
              <a:defRPr sz="6900" b="1">
                <a:solidFill>
                  <a:srgbClr val="007F7A"/>
                </a:solidFill>
                <a:latin typeface="Helvetica Neue"/>
                <a:ea typeface="Helvetica Neue"/>
                <a:cs typeface="Helvetica Neue"/>
              </a:defRPr>
            </a:lvl9pPr>
          </a:lstStyle>
          <a:p xmlns:a="http://schemas.openxmlformats.org/drawingml/2006/main">
            <a:pPr algn="l">
              <a:defRPr sz="6900" b="1">
                <a:solidFill>
                  <a:srgbClr val="007F7A"/>
                </a:solidFill>
                <a:latin typeface="Helvetica Neue"/>
                <a:ea typeface="Helvetica Neue"/>
                <a:cs typeface="Helvetica Neue"/>
              </a:defRPr>
            </a:pPr>
            <a:r>
              <a:rPr sz="6900" b="1">
                <a:solidFill>
                  <a:srgbClr val="007F7A"/>
                </a:solidFill>
                <a:latin typeface="Helvetica Neue"/>
                <a:ea typeface="Helvetica Neue"/>
                <a:cs typeface="Helvetica Neue"/>
              </a:rPr>
              <a:t>96%</a:t>
            </a:r>
          </a:p>
        </p:txBody>
      </p:sp>
      <p:sp>
        <p:nvSpPr>
          <p:cNvPr id="6" name="prediction agreement">
            <a:extLst xmlns:a="http://schemas.openxmlformats.org/drawingml/2006/main">
              <a:ext uri="{FF2B5EF4-FFF2-40B4-BE49-F238E27FC236}">
                <a16:creationId xmlns:a16="http://schemas.microsoft.com/office/drawing/2014/main" id="{9773D303-566B-4BF2-8194-729F6B77EB40}"/>
              </a:ext>
            </a:extLst>
          </p:cNvPr>
          <p:cNvSpPr>
            <a:spLocks xmlns:a="http://schemas.openxmlformats.org/drawingml/2006/main" noGrp="1"/>
          </p:cNvSpPr>
          <p:nvPr/>
        </p:nvSpPr>
        <p:spPr>
          <a:xfrm xmlns:a="http://schemas.openxmlformats.org/drawingml/2006/main">
            <a:off x="609600" y="31527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07F7A"/>
                </a:solidFill>
                <a:latin typeface="Helvetica Neue"/>
                <a:ea typeface="Helvetica Neue"/>
                <a:cs typeface="Helvetica Neue"/>
              </a:defRPr>
            </a:defPPr>
            <a:lvl1pPr algn="l">
              <a:defRPr sz="2325" b="0">
                <a:solidFill>
                  <a:srgbClr val="007F7A"/>
                </a:solidFill>
                <a:latin typeface="Helvetica Neue"/>
                <a:ea typeface="Helvetica Neue"/>
                <a:cs typeface="Helvetica Neue"/>
              </a:defRPr>
            </a:lvl1pPr>
            <a:lvl2pPr algn="l">
              <a:defRPr sz="2325" b="0">
                <a:solidFill>
                  <a:srgbClr val="007F7A"/>
                </a:solidFill>
                <a:latin typeface="Helvetica Neue"/>
                <a:ea typeface="Helvetica Neue"/>
                <a:cs typeface="Helvetica Neue"/>
              </a:defRPr>
            </a:lvl2pPr>
            <a:lvl3pPr algn="l">
              <a:defRPr sz="2325" b="0">
                <a:solidFill>
                  <a:srgbClr val="007F7A"/>
                </a:solidFill>
                <a:latin typeface="Helvetica Neue"/>
                <a:ea typeface="Helvetica Neue"/>
                <a:cs typeface="Helvetica Neue"/>
              </a:defRPr>
            </a:lvl3pPr>
            <a:lvl4pPr algn="l">
              <a:defRPr sz="2325" b="0">
                <a:solidFill>
                  <a:srgbClr val="007F7A"/>
                </a:solidFill>
                <a:latin typeface="Helvetica Neue"/>
                <a:ea typeface="Helvetica Neue"/>
                <a:cs typeface="Helvetica Neue"/>
              </a:defRPr>
            </a:lvl4pPr>
            <a:lvl5pPr algn="l">
              <a:defRPr sz="2325" b="0">
                <a:solidFill>
                  <a:srgbClr val="007F7A"/>
                </a:solidFill>
                <a:latin typeface="Helvetica Neue"/>
                <a:ea typeface="Helvetica Neue"/>
                <a:cs typeface="Helvetica Neue"/>
              </a:defRPr>
            </a:lvl5pPr>
            <a:lvl6pPr algn="l">
              <a:defRPr sz="2325" b="0">
                <a:solidFill>
                  <a:srgbClr val="007F7A"/>
                </a:solidFill>
                <a:latin typeface="Helvetica Neue"/>
                <a:ea typeface="Helvetica Neue"/>
                <a:cs typeface="Helvetica Neue"/>
              </a:defRPr>
            </a:lvl6pPr>
            <a:lvl7pPr algn="l">
              <a:defRPr sz="2325" b="0">
                <a:solidFill>
                  <a:srgbClr val="007F7A"/>
                </a:solidFill>
                <a:latin typeface="Helvetica Neue"/>
                <a:ea typeface="Helvetica Neue"/>
                <a:cs typeface="Helvetica Neue"/>
              </a:defRPr>
            </a:lvl7pPr>
            <a:lvl8pPr algn="l">
              <a:defRPr sz="2325" b="0">
                <a:solidFill>
                  <a:srgbClr val="007F7A"/>
                </a:solidFill>
                <a:latin typeface="Helvetica Neue"/>
                <a:ea typeface="Helvetica Neue"/>
                <a:cs typeface="Helvetica Neue"/>
              </a:defRPr>
            </a:lvl8pPr>
            <a:lvl9pPr algn="l">
              <a:defRPr sz="2325" b="0">
                <a:solidFill>
                  <a:srgbClr val="007F7A"/>
                </a:solidFill>
                <a:latin typeface="Helvetica Neue"/>
                <a:ea typeface="Helvetica Neue"/>
                <a:cs typeface="Helvetica Neue"/>
              </a:defRPr>
            </a:lvl9pPr>
          </a:lstStyle>
          <a:p xmlns:a="http://schemas.openxmlformats.org/drawingml/2006/main">
            <a:pPr algn="l">
              <a:defRPr sz="2325" b="0">
                <a:solidFill>
                  <a:srgbClr val="007F7A"/>
                </a:solidFill>
                <a:latin typeface="Helvetica Neue"/>
                <a:ea typeface="Helvetica Neue"/>
                <a:cs typeface="Helvetica Neue"/>
              </a:defRPr>
            </a:pPr>
            <a:r>
              <a:rPr sz="2325" b="0">
                <a:solidFill>
                  <a:srgbClr val="007F7A"/>
                </a:solidFill>
                <a:latin typeface="Helvetica Neue"/>
                <a:ea typeface="Helvetica Neue"/>
                <a:cs typeface="Helvetica Neue"/>
              </a:rPr>
              <a:t>prediction agreement</a:t>
            </a:r>
          </a:p>
        </p:txBody>
      </p:sp>
      <p:sp>
        <p:nvSpPr>
          <p:cNvPr id="7" name="Frozen local models&#10;No retraining or threshol">
            <a:extLst xmlns:a="http://schemas.openxmlformats.org/drawingml/2006/main">
              <a:ext uri="{FF2B5EF4-FFF2-40B4-BE49-F238E27FC236}">
                <a16:creationId xmlns:a16="http://schemas.microsoft.com/office/drawing/2014/main" id="{6BF35FFA-51C4-44B7-89CF-13A29BFDD7BE}"/>
              </a:ext>
            </a:extLst>
          </p:cNvPr>
          <p:cNvSpPr>
            <a:spLocks xmlns:a="http://schemas.openxmlformats.org/drawingml/2006/main" noGrp="1"/>
          </p:cNvSpPr>
          <p:nvPr/>
        </p:nvSpPr>
        <p:spPr>
          <a:xfrm xmlns:a="http://schemas.openxmlformats.org/drawingml/2006/main">
            <a:off x="609600" y="3971925"/>
            <a:ext cx="4333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Frozen local models</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No retraining or threshold changes</a:t>
            </a:r>
          </a:p>
        </p:txBody>
      </p:sp>
      <p:sp>
        <p:nvSpPr>
          <p:cNvPr id="8" name="Rows: authors’ server. Columns: our model.">
            <a:extLst xmlns:a="http://schemas.openxmlformats.org/drawingml/2006/main">
              <a:ext uri="{FF2B5EF4-FFF2-40B4-BE49-F238E27FC236}">
                <a16:creationId xmlns:a16="http://schemas.microsoft.com/office/drawing/2014/main" id="{34ED8CA9-6E63-44F0-9B77-2B742D942BE2}"/>
              </a:ext>
            </a:extLst>
          </p:cNvPr>
          <p:cNvSpPr>
            <a:spLocks xmlns:a="http://schemas.openxmlformats.org/drawingml/2006/main" noGrp="1"/>
          </p:cNvSpPr>
          <p:nvPr/>
        </p:nvSpPr>
        <p:spPr>
          <a:xfrm xmlns:a="http://schemas.openxmlformats.org/drawingml/2006/main">
            <a:off x="5467350" y="1828800"/>
            <a:ext cx="61150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46E"/>
                </a:solidFill>
                <a:latin typeface="Helvetica Neue"/>
                <a:ea typeface="Helvetica Neue"/>
                <a:cs typeface="Helvetica Neue"/>
              </a:defRPr>
            </a:defPPr>
            <a:lvl1pPr algn="l">
              <a:defRPr sz="1725" b="0">
                <a:solidFill>
                  <a:srgbClr val="52646E"/>
                </a:solidFill>
                <a:latin typeface="Helvetica Neue"/>
                <a:ea typeface="Helvetica Neue"/>
                <a:cs typeface="Helvetica Neue"/>
              </a:defRPr>
            </a:lvl1pPr>
            <a:lvl2pPr algn="l">
              <a:defRPr sz="1725" b="0">
                <a:solidFill>
                  <a:srgbClr val="52646E"/>
                </a:solidFill>
                <a:latin typeface="Helvetica Neue"/>
                <a:ea typeface="Helvetica Neue"/>
                <a:cs typeface="Helvetica Neue"/>
              </a:defRPr>
            </a:lvl2pPr>
            <a:lvl3pPr algn="l">
              <a:defRPr sz="1725" b="0">
                <a:solidFill>
                  <a:srgbClr val="52646E"/>
                </a:solidFill>
                <a:latin typeface="Helvetica Neue"/>
                <a:ea typeface="Helvetica Neue"/>
                <a:cs typeface="Helvetica Neue"/>
              </a:defRPr>
            </a:lvl3pPr>
            <a:lvl4pPr algn="l">
              <a:defRPr sz="1725" b="0">
                <a:solidFill>
                  <a:srgbClr val="52646E"/>
                </a:solidFill>
                <a:latin typeface="Helvetica Neue"/>
                <a:ea typeface="Helvetica Neue"/>
                <a:cs typeface="Helvetica Neue"/>
              </a:defRPr>
            </a:lvl4pPr>
            <a:lvl5pPr algn="l">
              <a:defRPr sz="1725" b="0">
                <a:solidFill>
                  <a:srgbClr val="52646E"/>
                </a:solidFill>
                <a:latin typeface="Helvetica Neue"/>
                <a:ea typeface="Helvetica Neue"/>
                <a:cs typeface="Helvetica Neue"/>
              </a:defRPr>
            </a:lvl5pPr>
            <a:lvl6pPr algn="l">
              <a:defRPr sz="1725" b="0">
                <a:solidFill>
                  <a:srgbClr val="52646E"/>
                </a:solidFill>
                <a:latin typeface="Helvetica Neue"/>
                <a:ea typeface="Helvetica Neue"/>
                <a:cs typeface="Helvetica Neue"/>
              </a:defRPr>
            </a:lvl6pPr>
            <a:lvl7pPr algn="l">
              <a:defRPr sz="1725" b="0">
                <a:solidFill>
                  <a:srgbClr val="52646E"/>
                </a:solidFill>
                <a:latin typeface="Helvetica Neue"/>
                <a:ea typeface="Helvetica Neue"/>
                <a:cs typeface="Helvetica Neue"/>
              </a:defRPr>
            </a:lvl7pPr>
            <a:lvl8pPr algn="l">
              <a:defRPr sz="1725" b="0">
                <a:solidFill>
                  <a:srgbClr val="52646E"/>
                </a:solidFill>
                <a:latin typeface="Helvetica Neue"/>
                <a:ea typeface="Helvetica Neue"/>
                <a:cs typeface="Helvetica Neue"/>
              </a:defRPr>
            </a:lvl8pPr>
            <a:lvl9pPr algn="l">
              <a:defRPr sz="1725" b="0">
                <a:solidFill>
                  <a:srgbClr val="52646E"/>
                </a:solidFill>
                <a:latin typeface="Helvetica Neue"/>
                <a:ea typeface="Helvetica Neue"/>
                <a:cs typeface="Helvetica Neue"/>
              </a:defRPr>
            </a:lvl9pPr>
          </a:lstStyle>
          <a:p xmlns:a="http://schemas.openxmlformats.org/drawingml/2006/main">
            <a:pPr algn="l">
              <a:defRPr sz="1725" b="0">
                <a:solidFill>
                  <a:srgbClr val="52646E"/>
                </a:solidFill>
                <a:latin typeface="Helvetica Neue"/>
                <a:ea typeface="Helvetica Neue"/>
                <a:cs typeface="Helvetica Neue"/>
              </a:defRPr>
            </a:pPr>
            <a:r>
              <a:rPr sz="1725" b="0">
                <a:solidFill>
                  <a:srgbClr val="52646E"/>
                </a:solidFill>
                <a:latin typeface="Helvetica Neue"/>
                <a:ea typeface="Helvetica Neue"/>
                <a:cs typeface="Helvetica Neue"/>
              </a:rPr>
              <a:t>Rows: authors’ server. Columns: our model.</a:t>
            </a:r>
          </a:p>
        </p:txBody>
      </p:sp>
      <p:graphicFrame>
        <p:nvGraphicFramePr>
          <p:cNvPr id="9" name="">
            <a:extLst xmlns:a="http://schemas.openxmlformats.org/drawingml/2006/main">
              <a:ext uri="{FF2B5EF4-FFF2-40B4-BE49-F238E27FC236}">
                <a16:creationId xmlns:a16="http://schemas.microsoft.com/office/drawing/2014/main" id="{F40959B5-EC4E-4E3F-AABE-DB7B92C0969F}"/>
              </a:ext>
            </a:extLst>
          </p:cNvPr>
          <p:cNvGraphicFramePr/>
          <p:nvPr/>
        </p:nvGraphicFramePr>
        <p:xfrm>
          <a:off xmlns:a="http://schemas.openxmlformats.org/drawingml/2006/main" x="5467350" y="2371725"/>
          <a:ext xmlns:a="http://schemas.openxmlformats.org/drawingml/2006/main" cx="6115050" cy="2705100"/>
        </p:xfrm>
        <a:graphic xmlns:a="http://schemas.openxmlformats.org/drawingml/2006/main">
          <a:graphicData uri="http://schemas.openxmlformats.org/drawingml/2006/table">
            <a:tbl>
              <a:tblPr firstRow="1" bandRow="0"/>
              <a:tblGrid>
                <a:gridCol w="2286000"/>
                <a:gridCol w="1276350"/>
                <a:gridCol w="1276350"/>
                <a:gridCol w="1276350"/>
              </a:tblGrid>
              <a:tr h="676275">
                <a:tc>
                  <a:txBody>
                    <a:bodyPr lIns="152400" tIns="38100" rIns="133350" bIns="38100">
                      <a:noAutofit/>
                    </a:bodyPr>
                    <a:lstStyle/>
                    <a:p>
                      <a:r>
                        <a:rPr sz="2025" b="1">
                          <a:solidFill>
                            <a:srgbClr val="FFFFFF"/>
                          </a:solidFill>
                          <a:latin typeface="Helvetica Neue"/>
                          <a:ea typeface="Helvetica Neue"/>
                          <a:cs typeface="Helvetica Neue"/>
                        </a:rPr>
                        <a:t>Authors / ours</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Strong</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Weak</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Non</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676275">
                <a:tc>
                  <a:txBody>
                    <a:bodyPr lIns="152400" tIns="38100" rIns="133350" bIns="38100">
                      <a:noAutofit/>
                    </a:bodyPr>
                    <a:lstStyle/>
                    <a:p>
                      <a:r>
                        <a:rPr sz="2025" b="0">
                          <a:solidFill>
                            <a:srgbClr val="173344"/>
                          </a:solidFill>
                          <a:latin typeface="Helvetica Neue"/>
                          <a:ea typeface="Helvetica Neue"/>
                          <a:cs typeface="Helvetica Neue"/>
                        </a:rPr>
                        <a:t>Strong</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007F7A"/>
                          </a:solidFill>
                          <a:latin typeface="Helvetica Neue"/>
                          <a:ea typeface="Helvetica Neue"/>
                          <a:cs typeface="Helvetica Neue"/>
                        </a:rPr>
                        <a:t>78</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2250" b="1">
                          <a:solidFill>
                            <a:srgbClr val="173344"/>
                          </a:solidFill>
                          <a:latin typeface="Helvetica Neue"/>
                          <a:ea typeface="Helvetica Neue"/>
                          <a:cs typeface="Helvetica Neue"/>
                        </a:rPr>
                        <a:t>3</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2250" b="1">
                          <a:solidFill>
                            <a:srgbClr val="173344"/>
                          </a:solidFill>
                          <a:latin typeface="Helvetica Neue"/>
                          <a:ea typeface="Helvetica Neue"/>
                          <a:cs typeface="Helvetica Neue"/>
                        </a:rPr>
                        <a:t>2</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r>
              <a:tr h="676275">
                <a:tc>
                  <a:txBody>
                    <a:bodyPr lIns="152400" tIns="38100" rIns="133350" bIns="38100">
                      <a:noAutofit/>
                    </a:bodyPr>
                    <a:lstStyle/>
                    <a:p>
                      <a:r>
                        <a:rPr sz="2025" b="0">
                          <a:solidFill>
                            <a:srgbClr val="173344"/>
                          </a:solidFill>
                          <a:latin typeface="Helvetica Neue"/>
                          <a:ea typeface="Helvetica Neue"/>
                          <a:cs typeface="Helvetica Neue"/>
                        </a:rPr>
                        <a:t>Weak</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173344"/>
                          </a:solidFill>
                          <a:latin typeface="Helvetica Neue"/>
                          <a:ea typeface="Helvetica Neue"/>
                          <a:cs typeface="Helvetica Neue"/>
                        </a:rPr>
                        <a:t>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007F7A"/>
                          </a:solidFill>
                          <a:latin typeface="Helvetica Neue"/>
                          <a:ea typeface="Helvetica Neue"/>
                          <a:cs typeface="Helvetica Neue"/>
                        </a:rPr>
                        <a:t>70</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2250" b="1">
                          <a:solidFill>
                            <a:srgbClr val="173344"/>
                          </a:solidFill>
                          <a:latin typeface="Helvetica Neue"/>
                          <a:ea typeface="Helvetica Neue"/>
                          <a:cs typeface="Helvetica Neue"/>
                        </a:rPr>
                        <a:t>3</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r>
              <a:tr h="676275">
                <a:tc>
                  <a:txBody>
                    <a:bodyPr lIns="152400" tIns="38100" rIns="133350" bIns="38100">
                      <a:noAutofit/>
                    </a:bodyPr>
                    <a:lstStyle/>
                    <a:p>
                      <a:r>
                        <a:rPr sz="2025" b="0">
                          <a:solidFill>
                            <a:srgbClr val="173344"/>
                          </a:solidFill>
                          <a:latin typeface="Helvetica Neue"/>
                          <a:ea typeface="Helvetica Neue"/>
                          <a:cs typeface="Helvetica Neue"/>
                        </a:rPr>
                        <a:t>Non</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173344"/>
                          </a:solidFill>
                          <a:latin typeface="Helvetica Neue"/>
                          <a:ea typeface="Helvetica Neue"/>
                          <a:cs typeface="Helvetica Neue"/>
                        </a:rPr>
                        <a:t>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173344"/>
                          </a:solidFill>
                          <a:latin typeface="Helvetica Neue"/>
                          <a:ea typeface="Helvetica Neue"/>
                          <a:cs typeface="Helvetica Neue"/>
                        </a:rPr>
                        <a:t>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007F7A"/>
                          </a:solidFill>
                          <a:latin typeface="Helvetica Neue"/>
                          <a:ea typeface="Helvetica Neue"/>
                          <a:cs typeface="Helvetica Neue"/>
                        </a:rPr>
                        <a:t>44</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r>
            </a:tbl>
          </a:graphicData>
        </a:graphic>
      </p:graphicFrame>
      <p:sp>
        <p:nvSpPr>
          <p:cNvPr id="10" name="200 inputs: 185 HepG2 candidate designs and 1">
            <a:extLst xmlns:a="http://schemas.openxmlformats.org/drawingml/2006/main">
              <a:ext uri="{FF2B5EF4-FFF2-40B4-BE49-F238E27FC236}">
                <a16:creationId xmlns:a16="http://schemas.microsoft.com/office/drawing/2014/main" id="{4EBCBEAA-42BE-4AE6-A2D1-A2E2B2687916}"/>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200 inputs: 185 HepG2 candidate designs and 15 promoters. This measures model agreement, not biological accuracy.</a:t>
            </a:r>
          </a:p>
        </p:txBody>
      </p:sp>
    </p:spTree>
    <p:extLst>
      <p:ext uri="{BB962C8B-B14F-4D97-AF65-F5344CB8AC3E}">
        <p14:creationId xmlns:p14="http://schemas.microsoft.com/office/powerpoint/2010/main" val="793535029"/>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DISAGREEMENT ANALYSIS">
            <a:extLst xmlns:a="http://schemas.openxmlformats.org/drawingml/2006/main">
              <a:ext uri="{FF2B5EF4-FFF2-40B4-BE49-F238E27FC236}">
                <a16:creationId xmlns:a16="http://schemas.microsoft.com/office/drawing/2014/main" id="{2114D2E5-E336-4BD8-8E24-58880B6D1D92}"/>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DISAGREEMENT ANALYSIS</a:t>
            </a:r>
          </a:p>
        </p:txBody>
      </p:sp>
      <p:sp>
        <p:nvSpPr>
          <p:cNvPr id="2" name="The eight differences were near local boundar">
            <a:extLst xmlns:a="http://schemas.openxmlformats.org/drawingml/2006/main">
              <a:ext uri="{FF2B5EF4-FFF2-40B4-BE49-F238E27FC236}">
                <a16:creationId xmlns:a16="http://schemas.microsoft.com/office/drawing/2014/main" id="{85AA2D5E-7FDF-4569-B2C4-0CDA1585E234}"/>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The eight differences were near local boundaries</a:t>
            </a:r>
          </a:p>
        </p:txBody>
      </p:sp>
      <p:sp>
        <p:nvSpPr>
          <p:cNvPr id="3" name="iEnhancer-2L reconstruction">
            <a:extLst xmlns:a="http://schemas.openxmlformats.org/drawingml/2006/main">
              <a:ext uri="{FF2B5EF4-FFF2-40B4-BE49-F238E27FC236}">
                <a16:creationId xmlns:a16="http://schemas.microsoft.com/office/drawing/2014/main" id="{29A31385-635E-4D59-8A55-984E98CA02B2}"/>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9">
            <a:extLst xmlns:a="http://schemas.openxmlformats.org/drawingml/2006/main">
              <a:ext uri="{FF2B5EF4-FFF2-40B4-BE49-F238E27FC236}">
                <a16:creationId xmlns:a16="http://schemas.microsoft.com/office/drawing/2014/main" id="{3DE6223C-1BE3-485F-AE92-728823D6722A}"/>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09</a:t>
            </a:r>
          </a:p>
        </p:txBody>
      </p:sp>
      <p:graphicFrame>
        <p:nvGraphicFramePr>
          <p:cNvPr id="5" name="">
            <a:extLst xmlns:a="http://schemas.openxmlformats.org/drawingml/2006/main">
              <a:ext uri="{FF2B5EF4-FFF2-40B4-BE49-F238E27FC236}">
                <a16:creationId xmlns:a16="http://schemas.microsoft.com/office/drawing/2014/main" id="{C43AF25E-E2D5-4F17-83A1-BEB95D3658E6}"/>
              </a:ext>
            </a:extLst>
          </p:cNvPr>
          <p:cNvGraphicFramePr/>
          <p:nvPr/>
        </p:nvGraphicFramePr>
        <p:xfrm>
          <a:off xmlns:a="http://schemas.openxmlformats.org/drawingml/2006/main" x="609600" y="1809750"/>
          <a:ext xmlns:a="http://schemas.openxmlformats.org/drawingml/2006/main" cx="10972800" cy="2143125"/>
        </p:xfrm>
        <a:graphic xmlns:a="http://schemas.openxmlformats.org/drawingml/2006/main">
          <a:graphicData uri="http://schemas.openxmlformats.org/drawingml/2006/table">
            <a:tbl>
              <a:tblPr firstRow="1" bandRow="0"/>
              <a:tblGrid>
                <a:gridCol w="3238500"/>
                <a:gridCol w="1143000"/>
                <a:gridCol w="6591300"/>
              </a:tblGrid>
              <a:tr h="714375">
                <a:tc>
                  <a:txBody>
                    <a:bodyPr lIns="152400" tIns="38100" rIns="133350" bIns="38100">
                      <a:noAutofit/>
                    </a:bodyPr>
                    <a:lstStyle/>
                    <a:p>
                      <a:r>
                        <a:rPr sz="2025" b="1">
                          <a:solidFill>
                            <a:srgbClr val="FFFFFF"/>
                          </a:solidFill>
                          <a:latin typeface="Helvetica Neue"/>
                          <a:ea typeface="Helvetica Neue"/>
                          <a:cs typeface="Helvetica Neue"/>
                        </a:rPr>
                        <a:t>Stage of disagreement</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Cases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Distance from our decision boundary</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714375">
                <a:tc>
                  <a:txBody>
                    <a:bodyPr lIns="152400" tIns="38100" rIns="133350" bIns="38100">
                      <a:noAutofit/>
                    </a:bodyPr>
                    <a:lstStyle/>
                    <a:p>
                      <a:r>
                        <a:rPr sz="2025" b="0">
                          <a:solidFill>
                            <a:srgbClr val="173344"/>
                          </a:solidFill>
                          <a:latin typeface="Helvetica Neue"/>
                          <a:ea typeface="Helvetica Neue"/>
                          <a:cs typeface="Helvetica Neue"/>
                        </a:rPr>
                        <a:t>Layer I</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025" b="0">
                          <a:solidFill>
                            <a:srgbClr val="173344"/>
                          </a:solidFill>
                          <a:latin typeface="Helvetica Neue"/>
                          <a:ea typeface="Helvetica Neue"/>
                          <a:cs typeface="Helvetica Neue"/>
                        </a:rPr>
                        <a:t>5</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025" b="0">
                          <a:solidFill>
                            <a:srgbClr val="173344"/>
                          </a:solidFill>
                          <a:latin typeface="Helvetica Neue"/>
                          <a:ea typeface="Helvetica Neue"/>
                          <a:cs typeface="Helvetica Neue"/>
                        </a:rPr>
                        <a:t>All within the 8 closest scores among 200 inputs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14375">
                <a:tc>
                  <a:txBody>
                    <a:bodyPr lIns="152400" tIns="38100" rIns="133350" bIns="38100">
                      <a:noAutofit/>
                    </a:bodyPr>
                    <a:lstStyle/>
                    <a:p>
                      <a:r>
                        <a:rPr sz="2025" b="0">
                          <a:solidFill>
                            <a:srgbClr val="173344"/>
                          </a:solidFill>
                          <a:latin typeface="Helvetica Neue"/>
                          <a:ea typeface="Helvetica Neue"/>
                          <a:cs typeface="Helvetica Neue"/>
                        </a:rPr>
                        <a:t>Layer II</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025" b="0">
                          <a:solidFill>
                            <a:srgbClr val="173344"/>
                          </a:solidFill>
                          <a:latin typeface="Helvetica Neue"/>
                          <a:ea typeface="Helvetica Neue"/>
                          <a:cs typeface="Helvetica Neue"/>
                        </a:rPr>
                        <a:t>3</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025" b="0">
                          <a:solidFill>
                            <a:srgbClr val="173344"/>
                          </a:solidFill>
                          <a:latin typeface="Helvetica Neue"/>
                          <a:ea typeface="Helvetica Neue"/>
                          <a:cs typeface="Helvetica Neue"/>
                        </a:rPr>
                        <a:t>All within the 4 closest scores among 151 inputs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A small feature change switched one case">
            <a:extLst xmlns:a="http://schemas.openxmlformats.org/drawingml/2006/main">
              <a:ext uri="{FF2B5EF4-FFF2-40B4-BE49-F238E27FC236}">
                <a16:creationId xmlns:a16="http://schemas.microsoft.com/office/drawing/2014/main" id="{99D45942-8D71-4C6D-B2D3-A52AFCAE2D7E}"/>
              </a:ext>
            </a:extLst>
          </p:cNvPr>
          <p:cNvSpPr>
            <a:spLocks xmlns:a="http://schemas.openxmlformats.org/drawingml/2006/main" noGrp="1"/>
          </p:cNvSpPr>
          <p:nvPr/>
        </p:nvSpPr>
        <p:spPr>
          <a:xfrm xmlns:a="http://schemas.openxmlformats.org/drawingml/2006/main">
            <a:off x="609600" y="427672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A small feature change switched one case</a:t>
            </a:r>
          </a:p>
        </p:txBody>
      </p:sp>
      <p:sp>
        <p:nvSpPr>
          <p:cNvPr id="7" name="Using the printed, rounded S2 property values">
            <a:extLst xmlns:a="http://schemas.openxmlformats.org/drawingml/2006/main">
              <a:ext uri="{FF2B5EF4-FFF2-40B4-BE49-F238E27FC236}">
                <a16:creationId xmlns:a16="http://schemas.microsoft.com/office/drawing/2014/main" id="{52A04501-42D0-4A8F-9AE4-35D5D59F6499}"/>
              </a:ext>
            </a:extLst>
          </p:cNvPr>
          <p:cNvSpPr>
            <a:spLocks xmlns:a="http://schemas.openxmlformats.org/drawingml/2006/main" noGrp="1"/>
          </p:cNvSpPr>
          <p:nvPr/>
        </p:nvSpPr>
        <p:spPr>
          <a:xfrm xmlns:a="http://schemas.openxmlformats.org/drawingml/2006/main">
            <a:off x="609600" y="48672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Using the printed, rounded S2 property values changed one weak call to strong.</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The other seven disagreements remained.</a:t>
            </a:r>
          </a:p>
        </p:txBody>
      </p:sp>
      <p:sp>
        <p:nvSpPr>
          <p:cNvPr id="8" name="The exact cause remains unverified. Sensitivi">
            <a:extLst xmlns:a="http://schemas.openxmlformats.org/drawingml/2006/main">
              <a:ext uri="{FF2B5EF4-FFF2-40B4-BE49-F238E27FC236}">
                <a16:creationId xmlns:a16="http://schemas.microsoft.com/office/drawing/2014/main" id="{8DCAB11C-CD0F-457B-B1D4-9DE3249E8ADE}"/>
              </a:ext>
            </a:extLst>
          </p:cNvPr>
          <p:cNvSpPr>
            <a:spLocks xmlns:a="http://schemas.openxmlformats.org/drawingml/2006/main" noGrp="1"/>
          </p:cNvSpPr>
          <p:nvPr/>
        </p:nvSpPr>
        <p:spPr>
          <a:xfrm xmlns:a="http://schemas.openxmlformats.org/drawingml/2006/main">
            <a:off x="609600" y="6067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The exact cause remains unverified. Sensitivity of one local decision does not establish the authors’ settings.</a:t>
            </a:r>
          </a:p>
        </p:txBody>
      </p:sp>
    </p:spTree>
    <p:extLst>
      <p:ext uri="{BB962C8B-B14F-4D97-AF65-F5344CB8AC3E}">
        <p14:creationId xmlns:p14="http://schemas.microsoft.com/office/powerpoint/2010/main" val="1955863608"/>
      </p:ext>
    </p:extLst>
  </p:cSld>
</p:sld>
</file>

<file path=ppt/slides/slide10.xml><?xml version="1.0" encoding="utf-8"?>
<p:sld xmlns:p="http://schemas.openxmlformats.org/presentationml/2006/main">
  <p:cSld>
    <p:bg>
      <p:bgPr>
        <a:solidFill xmlns:a="http://schemas.openxmlformats.org/drawingml/2006/main">
          <a:srgbClr val="102A3B"/>
        </a:solidFill>
      </p:bgPr>
    </p:bg>
    <p:spTree>
      <p:nvGrpSpPr>
        <p:cNvPr id="1" name=""/>
        <p:cNvGrpSpPr/>
        <p:nvPr/>
      </p:nvGrpSpPr>
      <p:grpSpPr>
        <a:xfrm xmlns:a="http://schemas.openxmlformats.org/drawingml/2006/main"/>
      </p:grpSpPr>
      <p:sp>
        <p:nvSpPr>
          <p:cNvPr id="13" name="PLANNED WORK">
            <a:extLst xmlns:a="http://schemas.openxmlformats.org/drawingml/2006/main">
              <a:ext uri="{FF2B5EF4-FFF2-40B4-BE49-F238E27FC236}">
                <a16:creationId xmlns:a16="http://schemas.microsoft.com/office/drawing/2014/main" id="{575F982F-E55E-4253-88C7-F70EEDF5002B}"/>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9BCAC5"/>
                </a:solidFill>
                <a:latin typeface="Helvetica Neue"/>
                <a:ea typeface="Helvetica Neue"/>
                <a:cs typeface="Helvetica Neue"/>
              </a:defRPr>
            </a:defPPr>
            <a:lvl1pPr algn="l">
              <a:defRPr sz="1275" b="1">
                <a:solidFill>
                  <a:srgbClr val="9BCAC5"/>
                </a:solidFill>
                <a:latin typeface="Helvetica Neue"/>
                <a:ea typeface="Helvetica Neue"/>
                <a:cs typeface="Helvetica Neue"/>
              </a:defRPr>
            </a:lvl1pPr>
            <a:lvl2pPr algn="l">
              <a:defRPr sz="1275" b="1">
                <a:solidFill>
                  <a:srgbClr val="9BCAC5"/>
                </a:solidFill>
                <a:latin typeface="Helvetica Neue"/>
                <a:ea typeface="Helvetica Neue"/>
                <a:cs typeface="Helvetica Neue"/>
              </a:defRPr>
            </a:lvl2pPr>
            <a:lvl3pPr algn="l">
              <a:defRPr sz="1275" b="1">
                <a:solidFill>
                  <a:srgbClr val="9BCAC5"/>
                </a:solidFill>
                <a:latin typeface="Helvetica Neue"/>
                <a:ea typeface="Helvetica Neue"/>
                <a:cs typeface="Helvetica Neue"/>
              </a:defRPr>
            </a:lvl3pPr>
            <a:lvl4pPr algn="l">
              <a:defRPr sz="1275" b="1">
                <a:solidFill>
                  <a:srgbClr val="9BCAC5"/>
                </a:solidFill>
                <a:latin typeface="Helvetica Neue"/>
                <a:ea typeface="Helvetica Neue"/>
                <a:cs typeface="Helvetica Neue"/>
              </a:defRPr>
            </a:lvl4pPr>
            <a:lvl5pPr algn="l">
              <a:defRPr sz="1275" b="1">
                <a:solidFill>
                  <a:srgbClr val="9BCAC5"/>
                </a:solidFill>
                <a:latin typeface="Helvetica Neue"/>
                <a:ea typeface="Helvetica Neue"/>
                <a:cs typeface="Helvetica Neue"/>
              </a:defRPr>
            </a:lvl5pPr>
            <a:lvl6pPr algn="l">
              <a:defRPr sz="1275" b="1">
                <a:solidFill>
                  <a:srgbClr val="9BCAC5"/>
                </a:solidFill>
                <a:latin typeface="Helvetica Neue"/>
                <a:ea typeface="Helvetica Neue"/>
                <a:cs typeface="Helvetica Neue"/>
              </a:defRPr>
            </a:lvl6pPr>
            <a:lvl7pPr algn="l">
              <a:defRPr sz="1275" b="1">
                <a:solidFill>
                  <a:srgbClr val="9BCAC5"/>
                </a:solidFill>
                <a:latin typeface="Helvetica Neue"/>
                <a:ea typeface="Helvetica Neue"/>
                <a:cs typeface="Helvetica Neue"/>
              </a:defRPr>
            </a:lvl7pPr>
            <a:lvl8pPr algn="l">
              <a:defRPr sz="1275" b="1">
                <a:solidFill>
                  <a:srgbClr val="9BCAC5"/>
                </a:solidFill>
                <a:latin typeface="Helvetica Neue"/>
                <a:ea typeface="Helvetica Neue"/>
                <a:cs typeface="Helvetica Neue"/>
              </a:defRPr>
            </a:lvl8pPr>
            <a:lvl9pPr algn="l">
              <a:defRPr sz="1275" b="1">
                <a:solidFill>
                  <a:srgbClr val="9BCAC5"/>
                </a:solidFill>
                <a:latin typeface="Helvetica Neue"/>
                <a:ea typeface="Helvetica Neue"/>
                <a:cs typeface="Helvetica Neue"/>
              </a:defRPr>
            </a:lvl9pPr>
          </a:lstStyle>
          <a:p xmlns:a="http://schemas.openxmlformats.org/drawingml/2006/main">
            <a:pPr algn="l">
              <a:defRPr sz="1275" b="1">
                <a:solidFill>
                  <a:srgbClr val="9BCAC5"/>
                </a:solidFill>
                <a:latin typeface="Helvetica Neue"/>
                <a:ea typeface="Helvetica Neue"/>
                <a:cs typeface="Helvetica Neue"/>
              </a:defRPr>
            </a:pPr>
            <a:r>
              <a:rPr sz="1275" b="1">
                <a:solidFill>
                  <a:srgbClr val="9BCAC5"/>
                </a:solidFill>
                <a:latin typeface="Helvetica Neue"/>
                <a:ea typeface="Helvetica Neue"/>
                <a:cs typeface="Helvetica Neue"/>
              </a:rPr>
              <a:t>PLANNED WORK</a:t>
            </a:r>
          </a:p>
        </p:txBody>
      </p:sp>
      <p:sp>
        <p:nvSpPr>
          <p:cNvPr id="2" name="Independent evaluation plan">
            <a:extLst xmlns:a="http://schemas.openxmlformats.org/drawingml/2006/main">
              <a:ext uri="{FF2B5EF4-FFF2-40B4-BE49-F238E27FC236}">
                <a16:creationId xmlns:a16="http://schemas.microsoft.com/office/drawing/2014/main" id="{E767D053-6035-4981-BC6D-F2C44184B1BE}"/>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Helvetica Neue"/>
                <a:ea typeface="Helvetica Neue"/>
                <a:cs typeface="Helvetica Neue"/>
              </a:defRPr>
            </a:defPPr>
            <a:lvl1pPr algn="l">
              <a:defRPr sz="3375" b="1">
                <a:solidFill>
                  <a:srgbClr val="FFFFFF"/>
                </a:solidFill>
                <a:latin typeface="Helvetica Neue"/>
                <a:ea typeface="Helvetica Neue"/>
                <a:cs typeface="Helvetica Neue"/>
              </a:defRPr>
            </a:lvl1pPr>
            <a:lvl2pPr algn="l">
              <a:defRPr sz="3375" b="1">
                <a:solidFill>
                  <a:srgbClr val="FFFFFF"/>
                </a:solidFill>
                <a:latin typeface="Helvetica Neue"/>
                <a:ea typeface="Helvetica Neue"/>
                <a:cs typeface="Helvetica Neue"/>
              </a:defRPr>
            </a:lvl2pPr>
            <a:lvl3pPr algn="l">
              <a:defRPr sz="3375" b="1">
                <a:solidFill>
                  <a:srgbClr val="FFFFFF"/>
                </a:solidFill>
                <a:latin typeface="Helvetica Neue"/>
                <a:ea typeface="Helvetica Neue"/>
                <a:cs typeface="Helvetica Neue"/>
              </a:defRPr>
            </a:lvl3pPr>
            <a:lvl4pPr algn="l">
              <a:defRPr sz="3375" b="1">
                <a:solidFill>
                  <a:srgbClr val="FFFFFF"/>
                </a:solidFill>
                <a:latin typeface="Helvetica Neue"/>
                <a:ea typeface="Helvetica Neue"/>
                <a:cs typeface="Helvetica Neue"/>
              </a:defRPr>
            </a:lvl4pPr>
            <a:lvl5pPr algn="l">
              <a:defRPr sz="3375" b="1">
                <a:solidFill>
                  <a:srgbClr val="FFFFFF"/>
                </a:solidFill>
                <a:latin typeface="Helvetica Neue"/>
                <a:ea typeface="Helvetica Neue"/>
                <a:cs typeface="Helvetica Neue"/>
              </a:defRPr>
            </a:lvl5pPr>
            <a:lvl6pPr algn="l">
              <a:defRPr sz="3375" b="1">
                <a:solidFill>
                  <a:srgbClr val="FFFFFF"/>
                </a:solidFill>
                <a:latin typeface="Helvetica Neue"/>
                <a:ea typeface="Helvetica Neue"/>
                <a:cs typeface="Helvetica Neue"/>
              </a:defRPr>
            </a:lvl6pPr>
            <a:lvl7pPr algn="l">
              <a:defRPr sz="3375" b="1">
                <a:solidFill>
                  <a:srgbClr val="FFFFFF"/>
                </a:solidFill>
                <a:latin typeface="Helvetica Neue"/>
                <a:ea typeface="Helvetica Neue"/>
                <a:cs typeface="Helvetica Neue"/>
              </a:defRPr>
            </a:lvl7pPr>
            <a:lvl8pPr algn="l">
              <a:defRPr sz="3375" b="1">
                <a:solidFill>
                  <a:srgbClr val="FFFFFF"/>
                </a:solidFill>
                <a:latin typeface="Helvetica Neue"/>
                <a:ea typeface="Helvetica Neue"/>
                <a:cs typeface="Helvetica Neue"/>
              </a:defRPr>
            </a:lvl8pPr>
            <a:lvl9pPr algn="l">
              <a:defRPr sz="3375" b="1">
                <a:solidFill>
                  <a:srgbClr val="FFFFFF"/>
                </a:solidFill>
                <a:latin typeface="Helvetica Neue"/>
                <a:ea typeface="Helvetica Neue"/>
                <a:cs typeface="Helvetica Neue"/>
              </a:defRPr>
            </a:lvl9pPr>
          </a:lstStyle>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Independent evaluation plan</a:t>
            </a:r>
          </a:p>
        </p:txBody>
      </p:sp>
      <p:sp>
        <p:nvSpPr>
          <p:cNvPr id="3" name="iEnhancer-2L reconstruction">
            <a:extLst xmlns:a="http://schemas.openxmlformats.org/drawingml/2006/main">
              <a:ext uri="{FF2B5EF4-FFF2-40B4-BE49-F238E27FC236}">
                <a16:creationId xmlns:a16="http://schemas.microsoft.com/office/drawing/2014/main" id="{E1995759-3EAC-43C4-91AC-A8EB88E631A1}"/>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1C1CB"/>
                </a:solidFill>
                <a:latin typeface="Helvetica Neue"/>
                <a:ea typeface="Helvetica Neue"/>
                <a:cs typeface="Helvetica Neue"/>
              </a:defRPr>
            </a:defPPr>
            <a:lvl1pPr algn="l">
              <a:defRPr sz="1125" b="0">
                <a:solidFill>
                  <a:srgbClr val="B1C1CB"/>
                </a:solidFill>
                <a:latin typeface="Helvetica Neue"/>
                <a:ea typeface="Helvetica Neue"/>
                <a:cs typeface="Helvetica Neue"/>
              </a:defRPr>
            </a:lvl1pPr>
            <a:lvl2pPr algn="l">
              <a:defRPr sz="1125" b="0">
                <a:solidFill>
                  <a:srgbClr val="B1C1CB"/>
                </a:solidFill>
                <a:latin typeface="Helvetica Neue"/>
                <a:ea typeface="Helvetica Neue"/>
                <a:cs typeface="Helvetica Neue"/>
              </a:defRPr>
            </a:lvl2pPr>
            <a:lvl3pPr algn="l">
              <a:defRPr sz="1125" b="0">
                <a:solidFill>
                  <a:srgbClr val="B1C1CB"/>
                </a:solidFill>
                <a:latin typeface="Helvetica Neue"/>
                <a:ea typeface="Helvetica Neue"/>
                <a:cs typeface="Helvetica Neue"/>
              </a:defRPr>
            </a:lvl3pPr>
            <a:lvl4pPr algn="l">
              <a:defRPr sz="1125" b="0">
                <a:solidFill>
                  <a:srgbClr val="B1C1CB"/>
                </a:solidFill>
                <a:latin typeface="Helvetica Neue"/>
                <a:ea typeface="Helvetica Neue"/>
                <a:cs typeface="Helvetica Neue"/>
              </a:defRPr>
            </a:lvl4pPr>
            <a:lvl5pPr algn="l">
              <a:defRPr sz="1125" b="0">
                <a:solidFill>
                  <a:srgbClr val="B1C1CB"/>
                </a:solidFill>
                <a:latin typeface="Helvetica Neue"/>
                <a:ea typeface="Helvetica Neue"/>
                <a:cs typeface="Helvetica Neue"/>
              </a:defRPr>
            </a:lvl5pPr>
            <a:lvl6pPr algn="l">
              <a:defRPr sz="1125" b="0">
                <a:solidFill>
                  <a:srgbClr val="B1C1CB"/>
                </a:solidFill>
                <a:latin typeface="Helvetica Neue"/>
                <a:ea typeface="Helvetica Neue"/>
                <a:cs typeface="Helvetica Neue"/>
              </a:defRPr>
            </a:lvl6pPr>
            <a:lvl7pPr algn="l">
              <a:defRPr sz="1125" b="0">
                <a:solidFill>
                  <a:srgbClr val="B1C1CB"/>
                </a:solidFill>
                <a:latin typeface="Helvetica Neue"/>
                <a:ea typeface="Helvetica Neue"/>
                <a:cs typeface="Helvetica Neue"/>
              </a:defRPr>
            </a:lvl7pPr>
            <a:lvl8pPr algn="l">
              <a:defRPr sz="1125" b="0">
                <a:solidFill>
                  <a:srgbClr val="B1C1CB"/>
                </a:solidFill>
                <a:latin typeface="Helvetica Neue"/>
                <a:ea typeface="Helvetica Neue"/>
                <a:cs typeface="Helvetica Neue"/>
              </a:defRPr>
            </a:lvl8pPr>
            <a:lvl9pPr algn="l">
              <a:defRPr sz="1125" b="0">
                <a:solidFill>
                  <a:srgbClr val="B1C1CB"/>
                </a:solidFill>
                <a:latin typeface="Helvetica Neue"/>
                <a:ea typeface="Helvetica Neue"/>
                <a:cs typeface="Helvetica Neue"/>
              </a:defRPr>
            </a:lvl9pPr>
          </a:lstStyle>
          <a:p xmlns:a="http://schemas.openxmlformats.org/drawingml/2006/main">
            <a:pPr algn="l">
              <a:defRPr sz="1125" b="0">
                <a:solidFill>
                  <a:srgbClr val="B1C1CB"/>
                </a:solidFill>
                <a:latin typeface="Helvetica Neue"/>
                <a:ea typeface="Helvetica Neue"/>
                <a:cs typeface="Helvetica Neue"/>
              </a:defRPr>
            </a:pPr>
            <a:r>
              <a:rPr sz="1125" b="0">
                <a:solidFill>
                  <a:srgbClr val="B1C1CB"/>
                </a:solidFill>
                <a:latin typeface="Helvetica Neue"/>
                <a:ea typeface="Helvetica Neue"/>
                <a:cs typeface="Helvetica Neue"/>
              </a:rPr>
              <a:t>iEnhancer-2L reconstruction</a:t>
            </a:r>
          </a:p>
        </p:txBody>
      </p:sp>
      <p:sp>
        <p:nvSpPr>
          <p:cNvPr id="4" name="10">
            <a:extLst xmlns:a="http://schemas.openxmlformats.org/drawingml/2006/main">
              <a:ext uri="{FF2B5EF4-FFF2-40B4-BE49-F238E27FC236}">
                <a16:creationId xmlns:a16="http://schemas.microsoft.com/office/drawing/2014/main" id="{AC5B8DBA-30FA-46B6-9E4A-97E9014E2BC9}"/>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1C1CB"/>
                </a:solidFill>
                <a:latin typeface="Helvetica Neue"/>
                <a:ea typeface="Helvetica Neue"/>
                <a:cs typeface="Helvetica Neue"/>
              </a:defRPr>
            </a:defPPr>
            <a:lvl1pPr algn="r">
              <a:defRPr sz="1125" b="0">
                <a:solidFill>
                  <a:srgbClr val="B1C1CB"/>
                </a:solidFill>
                <a:latin typeface="Helvetica Neue"/>
                <a:ea typeface="Helvetica Neue"/>
                <a:cs typeface="Helvetica Neue"/>
              </a:defRPr>
            </a:lvl1pPr>
            <a:lvl2pPr algn="r">
              <a:defRPr sz="1125" b="0">
                <a:solidFill>
                  <a:srgbClr val="B1C1CB"/>
                </a:solidFill>
                <a:latin typeface="Helvetica Neue"/>
                <a:ea typeface="Helvetica Neue"/>
                <a:cs typeface="Helvetica Neue"/>
              </a:defRPr>
            </a:lvl2pPr>
            <a:lvl3pPr algn="r">
              <a:defRPr sz="1125" b="0">
                <a:solidFill>
                  <a:srgbClr val="B1C1CB"/>
                </a:solidFill>
                <a:latin typeface="Helvetica Neue"/>
                <a:ea typeface="Helvetica Neue"/>
                <a:cs typeface="Helvetica Neue"/>
              </a:defRPr>
            </a:lvl3pPr>
            <a:lvl4pPr algn="r">
              <a:defRPr sz="1125" b="0">
                <a:solidFill>
                  <a:srgbClr val="B1C1CB"/>
                </a:solidFill>
                <a:latin typeface="Helvetica Neue"/>
                <a:ea typeface="Helvetica Neue"/>
                <a:cs typeface="Helvetica Neue"/>
              </a:defRPr>
            </a:lvl4pPr>
            <a:lvl5pPr algn="r">
              <a:defRPr sz="1125" b="0">
                <a:solidFill>
                  <a:srgbClr val="B1C1CB"/>
                </a:solidFill>
                <a:latin typeface="Helvetica Neue"/>
                <a:ea typeface="Helvetica Neue"/>
                <a:cs typeface="Helvetica Neue"/>
              </a:defRPr>
            </a:lvl5pPr>
            <a:lvl6pPr algn="r">
              <a:defRPr sz="1125" b="0">
                <a:solidFill>
                  <a:srgbClr val="B1C1CB"/>
                </a:solidFill>
                <a:latin typeface="Helvetica Neue"/>
                <a:ea typeface="Helvetica Neue"/>
                <a:cs typeface="Helvetica Neue"/>
              </a:defRPr>
            </a:lvl6pPr>
            <a:lvl7pPr algn="r">
              <a:defRPr sz="1125" b="0">
                <a:solidFill>
                  <a:srgbClr val="B1C1CB"/>
                </a:solidFill>
                <a:latin typeface="Helvetica Neue"/>
                <a:ea typeface="Helvetica Neue"/>
                <a:cs typeface="Helvetica Neue"/>
              </a:defRPr>
            </a:lvl7pPr>
            <a:lvl8pPr algn="r">
              <a:defRPr sz="1125" b="0">
                <a:solidFill>
                  <a:srgbClr val="B1C1CB"/>
                </a:solidFill>
                <a:latin typeface="Helvetica Neue"/>
                <a:ea typeface="Helvetica Neue"/>
                <a:cs typeface="Helvetica Neue"/>
              </a:defRPr>
            </a:lvl8pPr>
            <a:lvl9pPr algn="r">
              <a:defRPr sz="1125" b="0">
                <a:solidFill>
                  <a:srgbClr val="B1C1CB"/>
                </a:solidFill>
                <a:latin typeface="Helvetica Neue"/>
                <a:ea typeface="Helvetica Neue"/>
                <a:cs typeface="Helvetica Neue"/>
              </a:defRPr>
            </a:lvl9pPr>
          </a:lstStyle>
          <a:p xmlns:a="http://schemas.openxmlformats.org/drawingml/2006/main">
            <a:pPr algn="r">
              <a:defRPr sz="1125" b="0">
                <a:solidFill>
                  <a:srgbClr val="B1C1CB"/>
                </a:solidFill>
                <a:latin typeface="Helvetica Neue"/>
                <a:ea typeface="Helvetica Neue"/>
                <a:cs typeface="Helvetica Neue"/>
              </a:defRPr>
            </a:pPr>
            <a:r>
              <a:rPr sz="1125" b="0">
                <a:solidFill>
                  <a:srgbClr val="B1C1CB"/>
                </a:solidFill>
                <a:latin typeface="Helvetica Neue"/>
                <a:ea typeface="Helvetica Neue"/>
                <a:cs typeface="Helvetica Neue"/>
              </a:rPr>
              <a:t>10</a:t>
            </a:r>
          </a:p>
        </p:txBody>
      </p:sp>
      <p:sp>
        <p:nvSpPr>
          <p:cNvPr id="5" name="Cohort independence checks remain pending.&#10;Th">
            <a:extLst xmlns:a="http://schemas.openxmlformats.org/drawingml/2006/main">
              <a:ext uri="{FF2B5EF4-FFF2-40B4-BE49-F238E27FC236}">
                <a16:creationId xmlns:a16="http://schemas.microsoft.com/office/drawing/2014/main" id="{E7D30A43-FBE3-42EA-AE5E-6BAF1F701110}"/>
              </a:ext>
            </a:extLst>
          </p:cNvPr>
          <p:cNvSpPr>
            <a:spLocks xmlns:a="http://schemas.openxmlformats.org/drawingml/2006/main" noGrp="1"/>
          </p:cNvSpPr>
          <p:nvPr/>
        </p:nvSpPr>
        <p:spPr>
          <a:xfrm xmlns:a="http://schemas.openxmlformats.org/drawingml/2006/main">
            <a:off x="609600" y="17240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0D8AC"/>
                </a:solidFill>
                <a:latin typeface="Helvetica Neue"/>
                <a:ea typeface="Helvetica Neue"/>
                <a:cs typeface="Helvetica Neue"/>
              </a:defRPr>
            </a:defPPr>
            <a:lvl1pPr algn="l">
              <a:defRPr sz="2475" b="1">
                <a:solidFill>
                  <a:srgbClr val="F0D8AC"/>
                </a:solidFill>
                <a:latin typeface="Helvetica Neue"/>
                <a:ea typeface="Helvetica Neue"/>
                <a:cs typeface="Helvetica Neue"/>
              </a:defRPr>
            </a:lvl1pPr>
            <a:lvl2pPr algn="l">
              <a:defRPr sz="2475" b="1">
                <a:solidFill>
                  <a:srgbClr val="F0D8AC"/>
                </a:solidFill>
                <a:latin typeface="Helvetica Neue"/>
                <a:ea typeface="Helvetica Neue"/>
                <a:cs typeface="Helvetica Neue"/>
              </a:defRPr>
            </a:lvl2pPr>
            <a:lvl3pPr algn="l">
              <a:defRPr sz="2475" b="1">
                <a:solidFill>
                  <a:srgbClr val="F0D8AC"/>
                </a:solidFill>
                <a:latin typeface="Helvetica Neue"/>
                <a:ea typeface="Helvetica Neue"/>
                <a:cs typeface="Helvetica Neue"/>
              </a:defRPr>
            </a:lvl3pPr>
            <a:lvl4pPr algn="l">
              <a:defRPr sz="2475" b="1">
                <a:solidFill>
                  <a:srgbClr val="F0D8AC"/>
                </a:solidFill>
                <a:latin typeface="Helvetica Neue"/>
                <a:ea typeface="Helvetica Neue"/>
                <a:cs typeface="Helvetica Neue"/>
              </a:defRPr>
            </a:lvl4pPr>
            <a:lvl5pPr algn="l">
              <a:defRPr sz="2475" b="1">
                <a:solidFill>
                  <a:srgbClr val="F0D8AC"/>
                </a:solidFill>
                <a:latin typeface="Helvetica Neue"/>
                <a:ea typeface="Helvetica Neue"/>
                <a:cs typeface="Helvetica Neue"/>
              </a:defRPr>
            </a:lvl5pPr>
            <a:lvl6pPr algn="l">
              <a:defRPr sz="2475" b="1">
                <a:solidFill>
                  <a:srgbClr val="F0D8AC"/>
                </a:solidFill>
                <a:latin typeface="Helvetica Neue"/>
                <a:ea typeface="Helvetica Neue"/>
                <a:cs typeface="Helvetica Neue"/>
              </a:defRPr>
            </a:lvl6pPr>
            <a:lvl7pPr algn="l">
              <a:defRPr sz="2475" b="1">
                <a:solidFill>
                  <a:srgbClr val="F0D8AC"/>
                </a:solidFill>
                <a:latin typeface="Helvetica Neue"/>
                <a:ea typeface="Helvetica Neue"/>
                <a:cs typeface="Helvetica Neue"/>
              </a:defRPr>
            </a:lvl7pPr>
            <a:lvl8pPr algn="l">
              <a:defRPr sz="2475" b="1">
                <a:solidFill>
                  <a:srgbClr val="F0D8AC"/>
                </a:solidFill>
                <a:latin typeface="Helvetica Neue"/>
                <a:ea typeface="Helvetica Neue"/>
                <a:cs typeface="Helvetica Neue"/>
              </a:defRPr>
            </a:lvl8pPr>
            <a:lvl9pPr algn="l">
              <a:defRPr sz="2475" b="1">
                <a:solidFill>
                  <a:srgbClr val="F0D8AC"/>
                </a:solidFill>
                <a:latin typeface="Helvetica Neue"/>
                <a:ea typeface="Helvetica Neue"/>
                <a:cs typeface="Helvetica Neue"/>
              </a:defRPr>
            </a:lvl9pPr>
          </a:lstStyle>
          <a:p xmlns:a="http://schemas.openxmlformats.org/drawingml/2006/main">
            <a:pPr algn="l">
              <a:defRPr sz="2475" b="1">
                <a:solidFill>
                  <a:srgbClr val="F0D8AC"/>
                </a:solidFill>
                <a:latin typeface="Helvetica Neue"/>
                <a:ea typeface="Helvetica Neue"/>
                <a:cs typeface="Helvetica Neue"/>
              </a:defRPr>
            </a:pPr>
            <a:r>
              <a:rPr sz="2475" b="1">
                <a:solidFill>
                  <a:srgbClr val="F0D8AC"/>
                </a:solidFill>
                <a:latin typeface="Helvetica Neue"/>
                <a:ea typeface="Helvetica Neue"/>
                <a:cs typeface="Helvetica Neue"/>
              </a:rPr>
              <a:t>Cohort independence checks remain pending.</a:t>
            </a:r>
          </a:p>
          <a:p xmlns:a="http://schemas.openxmlformats.org/drawingml/2006/main">
            <a:pPr algn="l">
              <a:defRPr sz="2475" b="1">
                <a:solidFill>
                  <a:srgbClr val="F0D8AC"/>
                </a:solidFill>
                <a:latin typeface="Helvetica Neue"/>
                <a:ea typeface="Helvetica Neue"/>
                <a:cs typeface="Helvetica Neue"/>
              </a:defRPr>
            </a:pPr>
            <a:r>
              <a:rPr sz="2475" b="1">
                <a:solidFill>
                  <a:srgbClr val="F0D8AC"/>
                </a:solidFill>
                <a:latin typeface="Helvetica Neue"/>
                <a:ea typeface="Helvetica Neue"/>
                <a:cs typeface="Helvetica Neue"/>
              </a:rPr>
              <a:t>The VISTA score–label evaluation has not run.</a:t>
            </a:r>
          </a:p>
        </p:txBody>
      </p:sp>
      <p:sp>
        <p:nvSpPr>
          <p:cNvPr id="6" name="Proposed assay">
            <a:extLst xmlns:a="http://schemas.openxmlformats.org/drawingml/2006/main">
              <a:ext uri="{FF2B5EF4-FFF2-40B4-BE49-F238E27FC236}">
                <a16:creationId xmlns:a16="http://schemas.microsoft.com/office/drawing/2014/main" id="{DFF6495A-886B-4529-8A59-7C576D032CEB}"/>
              </a:ext>
            </a:extLst>
          </p:cNvPr>
          <p:cNvSpPr>
            <a:spLocks xmlns:a="http://schemas.openxmlformats.org/drawingml/2006/main" noGrp="1"/>
          </p:cNvSpPr>
          <p:nvPr/>
        </p:nvSpPr>
        <p:spPr>
          <a:xfrm xmlns:a="http://schemas.openxmlformats.org/drawingml/2006/main">
            <a:off x="609600" y="307657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CAC5"/>
                </a:solidFill>
                <a:latin typeface="Helvetica Neue"/>
                <a:ea typeface="Helvetica Neue"/>
                <a:cs typeface="Helvetica Neue"/>
              </a:defRPr>
            </a:defPPr>
            <a:lvl1pPr algn="l">
              <a:defRPr sz="2100" b="1">
                <a:solidFill>
                  <a:srgbClr val="9BCAC5"/>
                </a:solidFill>
                <a:latin typeface="Helvetica Neue"/>
                <a:ea typeface="Helvetica Neue"/>
                <a:cs typeface="Helvetica Neue"/>
              </a:defRPr>
            </a:lvl1pPr>
            <a:lvl2pPr algn="l">
              <a:defRPr sz="2100" b="1">
                <a:solidFill>
                  <a:srgbClr val="9BCAC5"/>
                </a:solidFill>
                <a:latin typeface="Helvetica Neue"/>
                <a:ea typeface="Helvetica Neue"/>
                <a:cs typeface="Helvetica Neue"/>
              </a:defRPr>
            </a:lvl2pPr>
            <a:lvl3pPr algn="l">
              <a:defRPr sz="2100" b="1">
                <a:solidFill>
                  <a:srgbClr val="9BCAC5"/>
                </a:solidFill>
                <a:latin typeface="Helvetica Neue"/>
                <a:ea typeface="Helvetica Neue"/>
                <a:cs typeface="Helvetica Neue"/>
              </a:defRPr>
            </a:lvl3pPr>
            <a:lvl4pPr algn="l">
              <a:defRPr sz="2100" b="1">
                <a:solidFill>
                  <a:srgbClr val="9BCAC5"/>
                </a:solidFill>
                <a:latin typeface="Helvetica Neue"/>
                <a:ea typeface="Helvetica Neue"/>
                <a:cs typeface="Helvetica Neue"/>
              </a:defRPr>
            </a:lvl4pPr>
            <a:lvl5pPr algn="l">
              <a:defRPr sz="2100" b="1">
                <a:solidFill>
                  <a:srgbClr val="9BCAC5"/>
                </a:solidFill>
                <a:latin typeface="Helvetica Neue"/>
                <a:ea typeface="Helvetica Neue"/>
                <a:cs typeface="Helvetica Neue"/>
              </a:defRPr>
            </a:lvl5pPr>
            <a:lvl6pPr algn="l">
              <a:defRPr sz="2100" b="1">
                <a:solidFill>
                  <a:srgbClr val="9BCAC5"/>
                </a:solidFill>
                <a:latin typeface="Helvetica Neue"/>
                <a:ea typeface="Helvetica Neue"/>
                <a:cs typeface="Helvetica Neue"/>
              </a:defRPr>
            </a:lvl6pPr>
            <a:lvl7pPr algn="l">
              <a:defRPr sz="2100" b="1">
                <a:solidFill>
                  <a:srgbClr val="9BCAC5"/>
                </a:solidFill>
                <a:latin typeface="Helvetica Neue"/>
                <a:ea typeface="Helvetica Neue"/>
                <a:cs typeface="Helvetica Neue"/>
              </a:defRPr>
            </a:lvl7pPr>
            <a:lvl8pPr algn="l">
              <a:defRPr sz="2100" b="1">
                <a:solidFill>
                  <a:srgbClr val="9BCAC5"/>
                </a:solidFill>
                <a:latin typeface="Helvetica Neue"/>
                <a:ea typeface="Helvetica Neue"/>
                <a:cs typeface="Helvetica Neue"/>
              </a:defRPr>
            </a:lvl8pPr>
            <a:lvl9pPr algn="l">
              <a:defRPr sz="2100" b="1">
                <a:solidFill>
                  <a:srgbClr val="9BCAC5"/>
                </a:solidFill>
                <a:latin typeface="Helvetica Neue"/>
                <a:ea typeface="Helvetica Neue"/>
                <a:cs typeface="Helvetica Neue"/>
              </a:defRPr>
            </a:lvl9pPr>
          </a:lstStyle>
          <a:p xmlns:a="http://schemas.openxmlformats.org/drawingml/2006/main">
            <a:pPr algn="l">
              <a:defRPr sz="2100" b="1">
                <a:solidFill>
                  <a:srgbClr val="9BCAC5"/>
                </a:solidFill>
                <a:latin typeface="Helvetica Neue"/>
                <a:ea typeface="Helvetica Neue"/>
                <a:cs typeface="Helvetica Neue"/>
              </a:defRPr>
            </a:pPr>
            <a:r>
              <a:rPr sz="2100" b="1">
                <a:solidFill>
                  <a:srgbClr val="9BCAC5"/>
                </a:solidFill>
                <a:latin typeface="Helvetica Neue"/>
                <a:ea typeface="Helvetica Neue"/>
                <a:cs typeface="Helvetica Neue"/>
              </a:rPr>
              <a:t>Proposed assay</a:t>
            </a:r>
          </a:p>
        </p:txBody>
      </p:sp>
      <p:sp>
        <p:nvSpPr>
          <p:cNvPr id="7" name="Human VISTA fragments tested in mouse embryos">
            <a:extLst xmlns:a="http://schemas.openxmlformats.org/drawingml/2006/main">
              <a:ext uri="{FF2B5EF4-FFF2-40B4-BE49-F238E27FC236}">
                <a16:creationId xmlns:a16="http://schemas.microsoft.com/office/drawing/2014/main" id="{0A70BEAA-5180-4BA7-93A7-9D59265C4306}"/>
              </a:ext>
            </a:extLst>
          </p:cNvPr>
          <p:cNvSpPr>
            <a:spLocks xmlns:a="http://schemas.openxmlformats.org/drawingml/2006/main" noGrp="1"/>
          </p:cNvSpPr>
          <p:nvPr/>
        </p:nvSpPr>
        <p:spPr>
          <a:xfrm xmlns:a="http://schemas.openxmlformats.org/drawingml/2006/main">
            <a:off x="3638550" y="3076575"/>
            <a:ext cx="790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Helvetica Neue"/>
                <a:ea typeface="Helvetica Neue"/>
                <a:cs typeface="Helvetica Neue"/>
              </a:defRPr>
            </a:defPPr>
            <a:lvl1pPr algn="l">
              <a:defRPr sz="2175" b="0">
                <a:solidFill>
                  <a:srgbClr val="FFFFFF"/>
                </a:solidFill>
                <a:latin typeface="Helvetica Neue"/>
                <a:ea typeface="Helvetica Neue"/>
                <a:cs typeface="Helvetica Neue"/>
              </a:defRPr>
            </a:lvl1pPr>
            <a:lvl2pPr algn="l">
              <a:defRPr sz="2175" b="0">
                <a:solidFill>
                  <a:srgbClr val="FFFFFF"/>
                </a:solidFill>
                <a:latin typeface="Helvetica Neue"/>
                <a:ea typeface="Helvetica Neue"/>
                <a:cs typeface="Helvetica Neue"/>
              </a:defRPr>
            </a:lvl2pPr>
            <a:lvl3pPr algn="l">
              <a:defRPr sz="2175" b="0">
                <a:solidFill>
                  <a:srgbClr val="FFFFFF"/>
                </a:solidFill>
                <a:latin typeface="Helvetica Neue"/>
                <a:ea typeface="Helvetica Neue"/>
                <a:cs typeface="Helvetica Neue"/>
              </a:defRPr>
            </a:lvl3pPr>
            <a:lvl4pPr algn="l">
              <a:defRPr sz="2175" b="0">
                <a:solidFill>
                  <a:srgbClr val="FFFFFF"/>
                </a:solidFill>
                <a:latin typeface="Helvetica Neue"/>
                <a:ea typeface="Helvetica Neue"/>
                <a:cs typeface="Helvetica Neue"/>
              </a:defRPr>
            </a:lvl4pPr>
            <a:lvl5pPr algn="l">
              <a:defRPr sz="2175" b="0">
                <a:solidFill>
                  <a:srgbClr val="FFFFFF"/>
                </a:solidFill>
                <a:latin typeface="Helvetica Neue"/>
                <a:ea typeface="Helvetica Neue"/>
                <a:cs typeface="Helvetica Neue"/>
              </a:defRPr>
            </a:lvl5pPr>
            <a:lvl6pPr algn="l">
              <a:defRPr sz="2175" b="0">
                <a:solidFill>
                  <a:srgbClr val="FFFFFF"/>
                </a:solidFill>
                <a:latin typeface="Helvetica Neue"/>
                <a:ea typeface="Helvetica Neue"/>
                <a:cs typeface="Helvetica Neue"/>
              </a:defRPr>
            </a:lvl6pPr>
            <a:lvl7pPr algn="l">
              <a:defRPr sz="2175" b="0">
                <a:solidFill>
                  <a:srgbClr val="FFFFFF"/>
                </a:solidFill>
                <a:latin typeface="Helvetica Neue"/>
                <a:ea typeface="Helvetica Neue"/>
                <a:cs typeface="Helvetica Neue"/>
              </a:defRPr>
            </a:lvl7pPr>
            <a:lvl8pPr algn="l">
              <a:defRPr sz="2175" b="0">
                <a:solidFill>
                  <a:srgbClr val="FFFFFF"/>
                </a:solidFill>
                <a:latin typeface="Helvetica Neue"/>
                <a:ea typeface="Helvetica Neue"/>
                <a:cs typeface="Helvetica Neue"/>
              </a:defRPr>
            </a:lvl8pPr>
            <a:lvl9pPr algn="l">
              <a:defRPr sz="2175" b="0">
                <a:solidFill>
                  <a:srgbClr val="FFFFFF"/>
                </a:solidFill>
                <a:latin typeface="Helvetica Neue"/>
                <a:ea typeface="Helvetica Neue"/>
                <a:cs typeface="Helvetica Neue"/>
              </a:defRPr>
            </a:lvl9pPr>
          </a:lstStyle>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Human VISTA fragments tested in mouse embryos</a:t>
            </a:r>
          </a:p>
        </p:txBody>
      </p:sp>
      <p:sp>
        <p:nvSpPr>
          <p:cNvPr id="8" name="Primary question">
            <a:extLst xmlns:a="http://schemas.openxmlformats.org/drawingml/2006/main">
              <a:ext uri="{FF2B5EF4-FFF2-40B4-BE49-F238E27FC236}">
                <a16:creationId xmlns:a16="http://schemas.microsoft.com/office/drawing/2014/main" id="{1FC42D31-38D7-46B7-8041-0FDF0D56041B}"/>
              </a:ext>
            </a:extLst>
          </p:cNvPr>
          <p:cNvSpPr>
            <a:spLocks xmlns:a="http://schemas.openxmlformats.org/drawingml/2006/main" noGrp="1"/>
          </p:cNvSpPr>
          <p:nvPr/>
        </p:nvSpPr>
        <p:spPr>
          <a:xfrm xmlns:a="http://schemas.openxmlformats.org/drawingml/2006/main">
            <a:off x="609600" y="3905250"/>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CAC5"/>
                </a:solidFill>
                <a:latin typeface="Helvetica Neue"/>
                <a:ea typeface="Helvetica Neue"/>
                <a:cs typeface="Helvetica Neue"/>
              </a:defRPr>
            </a:defPPr>
            <a:lvl1pPr algn="l">
              <a:defRPr sz="2100" b="1">
                <a:solidFill>
                  <a:srgbClr val="9BCAC5"/>
                </a:solidFill>
                <a:latin typeface="Helvetica Neue"/>
                <a:ea typeface="Helvetica Neue"/>
                <a:cs typeface="Helvetica Neue"/>
              </a:defRPr>
            </a:lvl1pPr>
            <a:lvl2pPr algn="l">
              <a:defRPr sz="2100" b="1">
                <a:solidFill>
                  <a:srgbClr val="9BCAC5"/>
                </a:solidFill>
                <a:latin typeface="Helvetica Neue"/>
                <a:ea typeface="Helvetica Neue"/>
                <a:cs typeface="Helvetica Neue"/>
              </a:defRPr>
            </a:lvl2pPr>
            <a:lvl3pPr algn="l">
              <a:defRPr sz="2100" b="1">
                <a:solidFill>
                  <a:srgbClr val="9BCAC5"/>
                </a:solidFill>
                <a:latin typeface="Helvetica Neue"/>
                <a:ea typeface="Helvetica Neue"/>
                <a:cs typeface="Helvetica Neue"/>
              </a:defRPr>
            </a:lvl3pPr>
            <a:lvl4pPr algn="l">
              <a:defRPr sz="2100" b="1">
                <a:solidFill>
                  <a:srgbClr val="9BCAC5"/>
                </a:solidFill>
                <a:latin typeface="Helvetica Neue"/>
                <a:ea typeface="Helvetica Neue"/>
                <a:cs typeface="Helvetica Neue"/>
              </a:defRPr>
            </a:lvl4pPr>
            <a:lvl5pPr algn="l">
              <a:defRPr sz="2100" b="1">
                <a:solidFill>
                  <a:srgbClr val="9BCAC5"/>
                </a:solidFill>
                <a:latin typeface="Helvetica Neue"/>
                <a:ea typeface="Helvetica Neue"/>
                <a:cs typeface="Helvetica Neue"/>
              </a:defRPr>
            </a:lvl5pPr>
            <a:lvl6pPr algn="l">
              <a:defRPr sz="2100" b="1">
                <a:solidFill>
                  <a:srgbClr val="9BCAC5"/>
                </a:solidFill>
                <a:latin typeface="Helvetica Neue"/>
                <a:ea typeface="Helvetica Neue"/>
                <a:cs typeface="Helvetica Neue"/>
              </a:defRPr>
            </a:lvl6pPr>
            <a:lvl7pPr algn="l">
              <a:defRPr sz="2100" b="1">
                <a:solidFill>
                  <a:srgbClr val="9BCAC5"/>
                </a:solidFill>
                <a:latin typeface="Helvetica Neue"/>
                <a:ea typeface="Helvetica Neue"/>
                <a:cs typeface="Helvetica Neue"/>
              </a:defRPr>
            </a:lvl7pPr>
            <a:lvl8pPr algn="l">
              <a:defRPr sz="2100" b="1">
                <a:solidFill>
                  <a:srgbClr val="9BCAC5"/>
                </a:solidFill>
                <a:latin typeface="Helvetica Neue"/>
                <a:ea typeface="Helvetica Neue"/>
                <a:cs typeface="Helvetica Neue"/>
              </a:defRPr>
            </a:lvl8pPr>
            <a:lvl9pPr algn="l">
              <a:defRPr sz="2100" b="1">
                <a:solidFill>
                  <a:srgbClr val="9BCAC5"/>
                </a:solidFill>
                <a:latin typeface="Helvetica Neue"/>
                <a:ea typeface="Helvetica Neue"/>
                <a:cs typeface="Helvetica Neue"/>
              </a:defRPr>
            </a:lvl9pPr>
          </a:lstStyle>
          <a:p xmlns:a="http://schemas.openxmlformats.org/drawingml/2006/main">
            <a:pPr algn="l">
              <a:defRPr sz="2100" b="1">
                <a:solidFill>
                  <a:srgbClr val="9BCAC5"/>
                </a:solidFill>
                <a:latin typeface="Helvetica Neue"/>
                <a:ea typeface="Helvetica Neue"/>
                <a:cs typeface="Helvetica Neue"/>
              </a:defRPr>
            </a:pPr>
            <a:r>
              <a:rPr sz="2100" b="1">
                <a:solidFill>
                  <a:srgbClr val="9BCAC5"/>
                </a:solidFill>
                <a:latin typeface="Helvetica Neue"/>
                <a:ea typeface="Helvetica Neue"/>
                <a:cs typeface="Helvetica Neue"/>
              </a:rPr>
              <a:t>Primary question</a:t>
            </a:r>
          </a:p>
        </p:txBody>
      </p:sp>
      <p:sp>
        <p:nvSpPr>
          <p:cNvPr id="9" name="Does the frozen Layer-I score rank active&#10;fra">
            <a:extLst xmlns:a="http://schemas.openxmlformats.org/drawingml/2006/main">
              <a:ext uri="{FF2B5EF4-FFF2-40B4-BE49-F238E27FC236}">
                <a16:creationId xmlns:a16="http://schemas.microsoft.com/office/drawing/2014/main" id="{606B6BFF-FF3C-4BD0-A4B2-A7DAB5F9BE4A}"/>
              </a:ext>
            </a:extLst>
          </p:cNvPr>
          <p:cNvSpPr>
            <a:spLocks xmlns:a="http://schemas.openxmlformats.org/drawingml/2006/main" noGrp="1"/>
          </p:cNvSpPr>
          <p:nvPr/>
        </p:nvSpPr>
        <p:spPr>
          <a:xfrm xmlns:a="http://schemas.openxmlformats.org/drawingml/2006/main">
            <a:off x="3638550" y="3905250"/>
            <a:ext cx="790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Helvetica Neue"/>
                <a:ea typeface="Helvetica Neue"/>
                <a:cs typeface="Helvetica Neue"/>
              </a:defRPr>
            </a:defPPr>
            <a:lvl1pPr algn="l">
              <a:defRPr sz="2175" b="0">
                <a:solidFill>
                  <a:srgbClr val="FFFFFF"/>
                </a:solidFill>
                <a:latin typeface="Helvetica Neue"/>
                <a:ea typeface="Helvetica Neue"/>
                <a:cs typeface="Helvetica Neue"/>
              </a:defRPr>
            </a:lvl1pPr>
            <a:lvl2pPr algn="l">
              <a:defRPr sz="2175" b="0">
                <a:solidFill>
                  <a:srgbClr val="FFFFFF"/>
                </a:solidFill>
                <a:latin typeface="Helvetica Neue"/>
                <a:ea typeface="Helvetica Neue"/>
                <a:cs typeface="Helvetica Neue"/>
              </a:defRPr>
            </a:lvl2pPr>
            <a:lvl3pPr algn="l">
              <a:defRPr sz="2175" b="0">
                <a:solidFill>
                  <a:srgbClr val="FFFFFF"/>
                </a:solidFill>
                <a:latin typeface="Helvetica Neue"/>
                <a:ea typeface="Helvetica Neue"/>
                <a:cs typeface="Helvetica Neue"/>
              </a:defRPr>
            </a:lvl3pPr>
            <a:lvl4pPr algn="l">
              <a:defRPr sz="2175" b="0">
                <a:solidFill>
                  <a:srgbClr val="FFFFFF"/>
                </a:solidFill>
                <a:latin typeface="Helvetica Neue"/>
                <a:ea typeface="Helvetica Neue"/>
                <a:cs typeface="Helvetica Neue"/>
              </a:defRPr>
            </a:lvl4pPr>
            <a:lvl5pPr algn="l">
              <a:defRPr sz="2175" b="0">
                <a:solidFill>
                  <a:srgbClr val="FFFFFF"/>
                </a:solidFill>
                <a:latin typeface="Helvetica Neue"/>
                <a:ea typeface="Helvetica Neue"/>
                <a:cs typeface="Helvetica Neue"/>
              </a:defRPr>
            </a:lvl5pPr>
            <a:lvl6pPr algn="l">
              <a:defRPr sz="2175" b="0">
                <a:solidFill>
                  <a:srgbClr val="FFFFFF"/>
                </a:solidFill>
                <a:latin typeface="Helvetica Neue"/>
                <a:ea typeface="Helvetica Neue"/>
                <a:cs typeface="Helvetica Neue"/>
              </a:defRPr>
            </a:lvl6pPr>
            <a:lvl7pPr algn="l">
              <a:defRPr sz="2175" b="0">
                <a:solidFill>
                  <a:srgbClr val="FFFFFF"/>
                </a:solidFill>
                <a:latin typeface="Helvetica Neue"/>
                <a:ea typeface="Helvetica Neue"/>
                <a:cs typeface="Helvetica Neue"/>
              </a:defRPr>
            </a:lvl7pPr>
            <a:lvl8pPr algn="l">
              <a:defRPr sz="2175" b="0">
                <a:solidFill>
                  <a:srgbClr val="FFFFFF"/>
                </a:solidFill>
                <a:latin typeface="Helvetica Neue"/>
                <a:ea typeface="Helvetica Neue"/>
                <a:cs typeface="Helvetica Neue"/>
              </a:defRPr>
            </a:lvl8pPr>
            <a:lvl9pPr algn="l">
              <a:defRPr sz="2175" b="0">
                <a:solidFill>
                  <a:srgbClr val="FFFFFF"/>
                </a:solidFill>
                <a:latin typeface="Helvetica Neue"/>
                <a:ea typeface="Helvetica Neue"/>
                <a:cs typeface="Helvetica Neue"/>
              </a:defRPr>
            </a:lvl9pPr>
          </a:lstStyle>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Does the frozen Layer-I score rank active</a:t>
            </a:r>
          </a:p>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fragments above assay-negative fragments?</a:t>
            </a:r>
          </a:p>
        </p:txBody>
      </p:sp>
      <p:sp>
        <p:nvSpPr>
          <p:cNvPr id="10" name="Required first">
            <a:extLst xmlns:a="http://schemas.openxmlformats.org/drawingml/2006/main">
              <a:ext uri="{FF2B5EF4-FFF2-40B4-BE49-F238E27FC236}">
                <a16:creationId xmlns:a16="http://schemas.microsoft.com/office/drawing/2014/main" id="{36574EDB-B994-41A0-9F9C-123F506C5016}"/>
              </a:ext>
            </a:extLst>
          </p:cNvPr>
          <p:cNvSpPr>
            <a:spLocks xmlns:a="http://schemas.openxmlformats.org/drawingml/2006/main" noGrp="1"/>
          </p:cNvSpPr>
          <p:nvPr/>
        </p:nvSpPr>
        <p:spPr>
          <a:xfrm xmlns:a="http://schemas.openxmlformats.org/drawingml/2006/main">
            <a:off x="609600" y="5124450"/>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CAC5"/>
                </a:solidFill>
                <a:latin typeface="Helvetica Neue"/>
                <a:ea typeface="Helvetica Neue"/>
                <a:cs typeface="Helvetica Neue"/>
              </a:defRPr>
            </a:defPPr>
            <a:lvl1pPr algn="l">
              <a:defRPr sz="2100" b="1">
                <a:solidFill>
                  <a:srgbClr val="9BCAC5"/>
                </a:solidFill>
                <a:latin typeface="Helvetica Neue"/>
                <a:ea typeface="Helvetica Neue"/>
                <a:cs typeface="Helvetica Neue"/>
              </a:defRPr>
            </a:lvl1pPr>
            <a:lvl2pPr algn="l">
              <a:defRPr sz="2100" b="1">
                <a:solidFill>
                  <a:srgbClr val="9BCAC5"/>
                </a:solidFill>
                <a:latin typeface="Helvetica Neue"/>
                <a:ea typeface="Helvetica Neue"/>
                <a:cs typeface="Helvetica Neue"/>
              </a:defRPr>
            </a:lvl2pPr>
            <a:lvl3pPr algn="l">
              <a:defRPr sz="2100" b="1">
                <a:solidFill>
                  <a:srgbClr val="9BCAC5"/>
                </a:solidFill>
                <a:latin typeface="Helvetica Neue"/>
                <a:ea typeface="Helvetica Neue"/>
                <a:cs typeface="Helvetica Neue"/>
              </a:defRPr>
            </a:lvl3pPr>
            <a:lvl4pPr algn="l">
              <a:defRPr sz="2100" b="1">
                <a:solidFill>
                  <a:srgbClr val="9BCAC5"/>
                </a:solidFill>
                <a:latin typeface="Helvetica Neue"/>
                <a:ea typeface="Helvetica Neue"/>
                <a:cs typeface="Helvetica Neue"/>
              </a:defRPr>
            </a:lvl4pPr>
            <a:lvl5pPr algn="l">
              <a:defRPr sz="2100" b="1">
                <a:solidFill>
                  <a:srgbClr val="9BCAC5"/>
                </a:solidFill>
                <a:latin typeface="Helvetica Neue"/>
                <a:ea typeface="Helvetica Neue"/>
                <a:cs typeface="Helvetica Neue"/>
              </a:defRPr>
            </a:lvl5pPr>
            <a:lvl6pPr algn="l">
              <a:defRPr sz="2100" b="1">
                <a:solidFill>
                  <a:srgbClr val="9BCAC5"/>
                </a:solidFill>
                <a:latin typeface="Helvetica Neue"/>
                <a:ea typeface="Helvetica Neue"/>
                <a:cs typeface="Helvetica Neue"/>
              </a:defRPr>
            </a:lvl6pPr>
            <a:lvl7pPr algn="l">
              <a:defRPr sz="2100" b="1">
                <a:solidFill>
                  <a:srgbClr val="9BCAC5"/>
                </a:solidFill>
                <a:latin typeface="Helvetica Neue"/>
                <a:ea typeface="Helvetica Neue"/>
                <a:cs typeface="Helvetica Neue"/>
              </a:defRPr>
            </a:lvl7pPr>
            <a:lvl8pPr algn="l">
              <a:defRPr sz="2100" b="1">
                <a:solidFill>
                  <a:srgbClr val="9BCAC5"/>
                </a:solidFill>
                <a:latin typeface="Helvetica Neue"/>
                <a:ea typeface="Helvetica Neue"/>
                <a:cs typeface="Helvetica Neue"/>
              </a:defRPr>
            </a:lvl8pPr>
            <a:lvl9pPr algn="l">
              <a:defRPr sz="2100" b="1">
                <a:solidFill>
                  <a:srgbClr val="9BCAC5"/>
                </a:solidFill>
                <a:latin typeface="Helvetica Neue"/>
                <a:ea typeface="Helvetica Neue"/>
                <a:cs typeface="Helvetica Neue"/>
              </a:defRPr>
            </a:lvl9pPr>
          </a:lstStyle>
          <a:p xmlns:a="http://schemas.openxmlformats.org/drawingml/2006/main">
            <a:pPr algn="l">
              <a:defRPr sz="2100" b="1">
                <a:solidFill>
                  <a:srgbClr val="9BCAC5"/>
                </a:solidFill>
                <a:latin typeface="Helvetica Neue"/>
                <a:ea typeface="Helvetica Neue"/>
                <a:cs typeface="Helvetica Neue"/>
              </a:defRPr>
            </a:pPr>
            <a:r>
              <a:rPr sz="2100" b="1">
                <a:solidFill>
                  <a:srgbClr val="9BCAC5"/>
                </a:solidFill>
                <a:latin typeface="Helvetica Neue"/>
                <a:ea typeface="Helvetica Neue"/>
                <a:cs typeface="Helvetica Neue"/>
              </a:rPr>
              <a:t>Required first</a:t>
            </a:r>
          </a:p>
        </p:txBody>
      </p:sp>
      <p:sp>
        <p:nvSpPr>
          <p:cNvPr id="11" name="Verify sequence provenance and exclude relate">
            <a:extLst xmlns:a="http://schemas.openxmlformats.org/drawingml/2006/main">
              <a:ext uri="{FF2B5EF4-FFF2-40B4-BE49-F238E27FC236}">
                <a16:creationId xmlns:a16="http://schemas.microsoft.com/office/drawing/2014/main" id="{37335C5A-F30F-47C0-AB13-4A40F549F6D3}"/>
              </a:ext>
            </a:extLst>
          </p:cNvPr>
          <p:cNvSpPr>
            <a:spLocks xmlns:a="http://schemas.openxmlformats.org/drawingml/2006/main" noGrp="1"/>
          </p:cNvSpPr>
          <p:nvPr/>
        </p:nvSpPr>
        <p:spPr>
          <a:xfrm xmlns:a="http://schemas.openxmlformats.org/drawingml/2006/main">
            <a:off x="3638550" y="5124450"/>
            <a:ext cx="790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Helvetica Neue"/>
                <a:ea typeface="Helvetica Neue"/>
                <a:cs typeface="Helvetica Neue"/>
              </a:defRPr>
            </a:defPPr>
            <a:lvl1pPr algn="l">
              <a:defRPr sz="2100" b="0">
                <a:solidFill>
                  <a:srgbClr val="FFFFFF"/>
                </a:solidFill>
                <a:latin typeface="Helvetica Neue"/>
                <a:ea typeface="Helvetica Neue"/>
                <a:cs typeface="Helvetica Neue"/>
              </a:defRPr>
            </a:lvl1pPr>
            <a:lvl2pPr algn="l">
              <a:defRPr sz="2100" b="0">
                <a:solidFill>
                  <a:srgbClr val="FFFFFF"/>
                </a:solidFill>
                <a:latin typeface="Helvetica Neue"/>
                <a:ea typeface="Helvetica Neue"/>
                <a:cs typeface="Helvetica Neue"/>
              </a:defRPr>
            </a:lvl2pPr>
            <a:lvl3pPr algn="l">
              <a:defRPr sz="2100" b="0">
                <a:solidFill>
                  <a:srgbClr val="FFFFFF"/>
                </a:solidFill>
                <a:latin typeface="Helvetica Neue"/>
                <a:ea typeface="Helvetica Neue"/>
                <a:cs typeface="Helvetica Neue"/>
              </a:defRPr>
            </a:lvl3pPr>
            <a:lvl4pPr algn="l">
              <a:defRPr sz="2100" b="0">
                <a:solidFill>
                  <a:srgbClr val="FFFFFF"/>
                </a:solidFill>
                <a:latin typeface="Helvetica Neue"/>
                <a:ea typeface="Helvetica Neue"/>
                <a:cs typeface="Helvetica Neue"/>
              </a:defRPr>
            </a:lvl4pPr>
            <a:lvl5pPr algn="l">
              <a:defRPr sz="2100" b="0">
                <a:solidFill>
                  <a:srgbClr val="FFFFFF"/>
                </a:solidFill>
                <a:latin typeface="Helvetica Neue"/>
                <a:ea typeface="Helvetica Neue"/>
                <a:cs typeface="Helvetica Neue"/>
              </a:defRPr>
            </a:lvl5pPr>
            <a:lvl6pPr algn="l">
              <a:defRPr sz="2100" b="0">
                <a:solidFill>
                  <a:srgbClr val="FFFFFF"/>
                </a:solidFill>
                <a:latin typeface="Helvetica Neue"/>
                <a:ea typeface="Helvetica Neue"/>
                <a:cs typeface="Helvetica Neue"/>
              </a:defRPr>
            </a:lvl6pPr>
            <a:lvl7pPr algn="l">
              <a:defRPr sz="2100" b="0">
                <a:solidFill>
                  <a:srgbClr val="FFFFFF"/>
                </a:solidFill>
                <a:latin typeface="Helvetica Neue"/>
                <a:ea typeface="Helvetica Neue"/>
                <a:cs typeface="Helvetica Neue"/>
              </a:defRPr>
            </a:lvl7pPr>
            <a:lvl8pPr algn="l">
              <a:defRPr sz="2100" b="0">
                <a:solidFill>
                  <a:srgbClr val="FFFFFF"/>
                </a:solidFill>
                <a:latin typeface="Helvetica Neue"/>
                <a:ea typeface="Helvetica Neue"/>
                <a:cs typeface="Helvetica Neue"/>
              </a:defRPr>
            </a:lvl8pPr>
            <a:lvl9pPr algn="l">
              <a:defRPr sz="2100" b="0">
                <a:solidFill>
                  <a:srgbClr val="FFFFFF"/>
                </a:solidFill>
                <a:latin typeface="Helvetica Neue"/>
                <a:ea typeface="Helvetica Neue"/>
                <a:cs typeface="Helvetica Neue"/>
              </a:defRPr>
            </a:lvl9pPr>
          </a:lstStyle>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Verify sequence provenance and exclude related families.</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Reserve the later three-cell study.</a:t>
            </a:r>
          </a:p>
        </p:txBody>
      </p:sp>
      <p:sp>
        <p:nvSpPr>
          <p:cNvPr id="12" name="VISTA active/inactive labels cannot validate ">
            <a:extLst xmlns:a="http://schemas.openxmlformats.org/drawingml/2006/main">
              <a:ext uri="{FF2B5EF4-FFF2-40B4-BE49-F238E27FC236}">
                <a16:creationId xmlns:a16="http://schemas.microsoft.com/office/drawing/2014/main" id="{31D15983-F88A-47A9-82BB-815A3D0E40FC}"/>
              </a:ext>
            </a:extLst>
          </p:cNvPr>
          <p:cNvSpPr>
            <a:spLocks xmlns:a="http://schemas.openxmlformats.org/drawingml/2006/main" noGrp="1"/>
          </p:cNvSpPr>
          <p:nvPr/>
        </p:nvSpPr>
        <p:spPr>
          <a:xfrm xmlns:a="http://schemas.openxmlformats.org/drawingml/2006/main">
            <a:off x="609600" y="6143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0D0D8"/>
                </a:solidFill>
                <a:latin typeface="Helvetica Neue"/>
                <a:ea typeface="Helvetica Neue"/>
                <a:cs typeface="Helvetica Neue"/>
              </a:defRPr>
            </a:defPPr>
            <a:lvl1pPr algn="l">
              <a:defRPr sz="1350" b="0">
                <a:solidFill>
                  <a:srgbClr val="C0D0D8"/>
                </a:solidFill>
                <a:latin typeface="Helvetica Neue"/>
                <a:ea typeface="Helvetica Neue"/>
                <a:cs typeface="Helvetica Neue"/>
              </a:defRPr>
            </a:lvl1pPr>
            <a:lvl2pPr algn="l">
              <a:defRPr sz="1350" b="0">
                <a:solidFill>
                  <a:srgbClr val="C0D0D8"/>
                </a:solidFill>
                <a:latin typeface="Helvetica Neue"/>
                <a:ea typeface="Helvetica Neue"/>
                <a:cs typeface="Helvetica Neue"/>
              </a:defRPr>
            </a:lvl2pPr>
            <a:lvl3pPr algn="l">
              <a:defRPr sz="1350" b="0">
                <a:solidFill>
                  <a:srgbClr val="C0D0D8"/>
                </a:solidFill>
                <a:latin typeface="Helvetica Neue"/>
                <a:ea typeface="Helvetica Neue"/>
                <a:cs typeface="Helvetica Neue"/>
              </a:defRPr>
            </a:lvl3pPr>
            <a:lvl4pPr algn="l">
              <a:defRPr sz="1350" b="0">
                <a:solidFill>
                  <a:srgbClr val="C0D0D8"/>
                </a:solidFill>
                <a:latin typeface="Helvetica Neue"/>
                <a:ea typeface="Helvetica Neue"/>
                <a:cs typeface="Helvetica Neue"/>
              </a:defRPr>
            </a:lvl4pPr>
            <a:lvl5pPr algn="l">
              <a:defRPr sz="1350" b="0">
                <a:solidFill>
                  <a:srgbClr val="C0D0D8"/>
                </a:solidFill>
                <a:latin typeface="Helvetica Neue"/>
                <a:ea typeface="Helvetica Neue"/>
                <a:cs typeface="Helvetica Neue"/>
              </a:defRPr>
            </a:lvl5pPr>
            <a:lvl6pPr algn="l">
              <a:defRPr sz="1350" b="0">
                <a:solidFill>
                  <a:srgbClr val="C0D0D8"/>
                </a:solidFill>
                <a:latin typeface="Helvetica Neue"/>
                <a:ea typeface="Helvetica Neue"/>
                <a:cs typeface="Helvetica Neue"/>
              </a:defRPr>
            </a:lvl6pPr>
            <a:lvl7pPr algn="l">
              <a:defRPr sz="1350" b="0">
                <a:solidFill>
                  <a:srgbClr val="C0D0D8"/>
                </a:solidFill>
                <a:latin typeface="Helvetica Neue"/>
                <a:ea typeface="Helvetica Neue"/>
                <a:cs typeface="Helvetica Neue"/>
              </a:defRPr>
            </a:lvl7pPr>
            <a:lvl8pPr algn="l">
              <a:defRPr sz="1350" b="0">
                <a:solidFill>
                  <a:srgbClr val="C0D0D8"/>
                </a:solidFill>
                <a:latin typeface="Helvetica Neue"/>
                <a:ea typeface="Helvetica Neue"/>
                <a:cs typeface="Helvetica Neue"/>
              </a:defRPr>
            </a:lvl8pPr>
            <a:lvl9pPr algn="l">
              <a:defRPr sz="1350" b="0">
                <a:solidFill>
                  <a:srgbClr val="C0D0D8"/>
                </a:solidFill>
                <a:latin typeface="Helvetica Neue"/>
                <a:ea typeface="Helvetica Neue"/>
                <a:cs typeface="Helvetica Neue"/>
              </a:defRPr>
            </a:lvl9pPr>
          </a:lstStyle>
          <a:p xmlns:a="http://schemas.openxmlformats.org/drawingml/2006/main">
            <a:pPr algn="l">
              <a:defRPr sz="1350" b="0">
                <a:solidFill>
                  <a:srgbClr val="C0D0D8"/>
                </a:solidFill>
                <a:latin typeface="Helvetica Neue"/>
                <a:ea typeface="Helvetica Neue"/>
                <a:cs typeface="Helvetica Neue"/>
              </a:defRPr>
            </a:pPr>
            <a:r>
              <a:rPr sz="1350" b="0">
                <a:solidFill>
                  <a:srgbClr val="C0D0D8"/>
                </a:solidFill>
                <a:latin typeface="Helvetica Neue"/>
                <a:ea typeface="Helvetica Neue"/>
                <a:cs typeface="Helvetica Neue"/>
              </a:rPr>
              <a:t>VISTA active/inactive labels cannot validate the historical strong/weak Layer-II categories.</a:t>
            </a:r>
          </a:p>
        </p:txBody>
      </p:sp>
    </p:spTree>
    <p:extLst>
      <p:ext uri="{BB962C8B-B14F-4D97-AF65-F5344CB8AC3E}">
        <p14:creationId xmlns:p14="http://schemas.microsoft.com/office/powerpoint/2010/main" val="686508774"/>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PLANNED CELL-ACTIVITY STUDY">
            <a:extLst xmlns:a="http://schemas.openxmlformats.org/drawingml/2006/main">
              <a:ext uri="{FF2B5EF4-FFF2-40B4-BE49-F238E27FC236}">
                <a16:creationId xmlns:a16="http://schemas.microsoft.com/office/drawing/2014/main" id="{5C9FB605-F9E5-4A1B-AE83-FFDC93E35BF8}"/>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PLANNED CELL-ACTIVITY STUDY</a:t>
            </a:r>
          </a:p>
        </p:txBody>
      </p:sp>
      <p:sp>
        <p:nvSpPr>
          <p:cNvPr id="2" name="Why compare activity in these three cell type">
            <a:extLst xmlns:a="http://schemas.openxmlformats.org/drawingml/2006/main">
              <a:ext uri="{FF2B5EF4-FFF2-40B4-BE49-F238E27FC236}">
                <a16:creationId xmlns:a16="http://schemas.microsoft.com/office/drawing/2014/main" id="{6A701FE6-1A9E-4B03-B3C3-CE4CCDE48A96}"/>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Why compare activity in these three cell types?</a:t>
            </a:r>
          </a:p>
        </p:txBody>
      </p:sp>
      <p:sp>
        <p:nvSpPr>
          <p:cNvPr id="3" name="iEnhancer-2L reconstruction">
            <a:extLst xmlns:a="http://schemas.openxmlformats.org/drawingml/2006/main">
              <a:ext uri="{FF2B5EF4-FFF2-40B4-BE49-F238E27FC236}">
                <a16:creationId xmlns:a16="http://schemas.microsoft.com/office/drawing/2014/main" id="{02E0F307-FC30-4644-B109-84ABFF7B9F91}"/>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1">
            <a:extLst xmlns:a="http://schemas.openxmlformats.org/drawingml/2006/main">
              <a:ext uri="{FF2B5EF4-FFF2-40B4-BE49-F238E27FC236}">
                <a16:creationId xmlns:a16="http://schemas.microsoft.com/office/drawing/2014/main" id="{834C389D-D457-42E6-9EE3-72FE4A26E1C8}"/>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11</a:t>
            </a:r>
          </a:p>
        </p:txBody>
      </p:sp>
      <p:sp>
        <p:nvSpPr>
          <p:cNvPr id="5" name="Agarwal, Inoue et al. tested the same 60,000-">
            <a:extLst xmlns:a="http://schemas.openxmlformats.org/drawingml/2006/main">
              <a:ext uri="{FF2B5EF4-FFF2-40B4-BE49-F238E27FC236}">
                <a16:creationId xmlns:a16="http://schemas.microsoft.com/office/drawing/2014/main" id="{CD474C10-DE9A-4E95-A35B-D10A5F733DFC}"/>
              </a:ext>
            </a:extLst>
          </p:cNvPr>
          <p:cNvSpPr>
            <a:spLocks xmlns:a="http://schemas.openxmlformats.org/drawingml/2006/main" noGrp="1"/>
          </p:cNvSpPr>
          <p:nvPr/>
        </p:nvSpPr>
        <p:spPr>
          <a:xfrm xmlns:a="http://schemas.openxmlformats.org/drawingml/2006/main">
            <a:off x="609600" y="17430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Agarwal, Inoue et al. tested the same 60,000-design library in all three.</a:t>
            </a:r>
          </a:p>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That shared library allows matched comparisons across cellular settings.</a:t>
            </a:r>
          </a:p>
        </p:txBody>
      </p:sp>
      <p:graphicFrame>
        <p:nvGraphicFramePr>
          <p:cNvPr id="6" name="">
            <a:extLst xmlns:a="http://schemas.openxmlformats.org/drawingml/2006/main">
              <a:ext uri="{FF2B5EF4-FFF2-40B4-BE49-F238E27FC236}">
                <a16:creationId xmlns:a16="http://schemas.microsoft.com/office/drawing/2014/main" id="{EFBD844B-B2E9-4E08-875F-83B4055AB680}"/>
              </a:ext>
            </a:extLst>
          </p:cNvPr>
          <p:cNvGraphicFramePr/>
          <p:nvPr/>
        </p:nvGraphicFramePr>
        <p:xfrm>
          <a:off xmlns:a="http://schemas.openxmlformats.org/drawingml/2006/main" x="609600" y="3028950"/>
          <a:ext xmlns:a="http://schemas.openxmlformats.org/drawingml/2006/main" cx="10972800" cy="2286000"/>
        </p:xfrm>
        <a:graphic xmlns:a="http://schemas.openxmlformats.org/drawingml/2006/main">
          <a:graphicData uri="http://schemas.openxmlformats.org/drawingml/2006/table">
            <a:tbl>
              <a:tblPr firstRow="1" bandRow="0"/>
              <a:tblGrid>
                <a:gridCol w="2000250"/>
                <a:gridCol w="4095750"/>
                <a:gridCol w="4876800"/>
              </a:tblGrid>
              <a:tr h="571500">
                <a:tc>
                  <a:txBody>
                    <a:bodyPr lIns="152400" tIns="38100" rIns="133350" bIns="38100">
                      <a:noAutofit/>
                    </a:bodyPr>
                    <a:lstStyle/>
                    <a:p>
                      <a:r>
                        <a:rPr sz="1875" b="1">
                          <a:solidFill>
                            <a:srgbClr val="FFFFFF"/>
                          </a:solidFill>
                          <a:latin typeface="Helvetica Neue"/>
                          <a:ea typeface="Helvetica Neue"/>
                          <a:cs typeface="Helvetica Neue"/>
                        </a:rPr>
                        <a:t>Cell type</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Biological setting</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Planned comparison</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571500">
                <a:tc>
                  <a:txBody>
                    <a:bodyPr lIns="152400" tIns="38100" rIns="133350" bIns="38100">
                      <a:noAutofit/>
                    </a:bodyPr>
                    <a:lstStyle/>
                    <a:p>
                      <a:r>
                        <a:rPr sz="1875" b="0">
                          <a:solidFill>
                            <a:srgbClr val="173344"/>
                          </a:solidFill>
                          <a:latin typeface="Helvetica Neue"/>
                          <a:ea typeface="Helvetica Neue"/>
                          <a:cs typeface="Helvetica Neue"/>
                        </a:rPr>
                        <a:t>HepG2</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Liver cancer cells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Score versus reporter activity</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71500">
                <a:tc>
                  <a:txBody>
                    <a:bodyPr lIns="152400" tIns="38100" rIns="133350" bIns="38100">
                      <a:noAutofit/>
                    </a:bodyPr>
                    <a:lstStyle/>
                    <a:p>
                      <a:r>
                        <a:rPr sz="1875" b="0">
                          <a:solidFill>
                            <a:srgbClr val="173344"/>
                          </a:solidFill>
                          <a:latin typeface="Helvetica Neue"/>
                          <a:ea typeface="Helvetica Neue"/>
                          <a:cs typeface="Helvetica Neue"/>
                        </a:rPr>
                        <a:t>K562</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Blood leukemia cells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Score versus reporter activity</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71500">
                <a:tc>
                  <a:txBody>
                    <a:bodyPr lIns="152400" tIns="38100" rIns="133350" bIns="38100">
                      <a:noAutofit/>
                    </a:bodyPr>
                    <a:lstStyle/>
                    <a:p>
                      <a:r>
                        <a:rPr sz="1875" b="0">
                          <a:solidFill>
                            <a:srgbClr val="173344"/>
                          </a:solidFill>
                          <a:latin typeface="Helvetica Neue"/>
                          <a:ea typeface="Helvetica Neue"/>
                          <a:cs typeface="Helvetica Neue"/>
                        </a:rPr>
                        <a:t>WTC11</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Induced pluripotent stem cells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Score versus reporter activity</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7" name="The aim is to learn whether sequence predicti">
            <a:extLst xmlns:a="http://schemas.openxmlformats.org/drawingml/2006/main">
              <a:ext uri="{FF2B5EF4-FFF2-40B4-BE49-F238E27FC236}">
                <a16:creationId xmlns:a16="http://schemas.microsoft.com/office/drawing/2014/main" id="{9E3CA59F-6EBD-4AD9-A185-BBF7217216FA}"/>
              </a:ext>
            </a:extLst>
          </p:cNvPr>
          <p:cNvSpPr>
            <a:spLocks xmlns:a="http://schemas.openxmlformats.org/drawingml/2006/main" noGrp="1"/>
          </p:cNvSpPr>
          <p:nvPr/>
        </p:nvSpPr>
        <p:spPr>
          <a:xfrm xmlns:a="http://schemas.openxmlformats.org/drawingml/2006/main">
            <a:off x="609600" y="55721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7F7A"/>
                </a:solidFill>
                <a:latin typeface="Helvetica Neue"/>
                <a:ea typeface="Helvetica Neue"/>
                <a:cs typeface="Helvetica Neue"/>
              </a:defRPr>
            </a:defPPr>
            <a:lvl1pPr algn="l">
              <a:defRPr sz="2025" b="0">
                <a:solidFill>
                  <a:srgbClr val="007F7A"/>
                </a:solidFill>
                <a:latin typeface="Helvetica Neue"/>
                <a:ea typeface="Helvetica Neue"/>
                <a:cs typeface="Helvetica Neue"/>
              </a:defRPr>
            </a:lvl1pPr>
            <a:lvl2pPr algn="l">
              <a:defRPr sz="2025" b="0">
                <a:solidFill>
                  <a:srgbClr val="007F7A"/>
                </a:solidFill>
                <a:latin typeface="Helvetica Neue"/>
                <a:ea typeface="Helvetica Neue"/>
                <a:cs typeface="Helvetica Neue"/>
              </a:defRPr>
            </a:lvl2pPr>
            <a:lvl3pPr algn="l">
              <a:defRPr sz="2025" b="0">
                <a:solidFill>
                  <a:srgbClr val="007F7A"/>
                </a:solidFill>
                <a:latin typeface="Helvetica Neue"/>
                <a:ea typeface="Helvetica Neue"/>
                <a:cs typeface="Helvetica Neue"/>
              </a:defRPr>
            </a:lvl3pPr>
            <a:lvl4pPr algn="l">
              <a:defRPr sz="2025" b="0">
                <a:solidFill>
                  <a:srgbClr val="007F7A"/>
                </a:solidFill>
                <a:latin typeface="Helvetica Neue"/>
                <a:ea typeface="Helvetica Neue"/>
                <a:cs typeface="Helvetica Neue"/>
              </a:defRPr>
            </a:lvl4pPr>
            <a:lvl5pPr algn="l">
              <a:defRPr sz="2025" b="0">
                <a:solidFill>
                  <a:srgbClr val="007F7A"/>
                </a:solidFill>
                <a:latin typeface="Helvetica Neue"/>
                <a:ea typeface="Helvetica Neue"/>
                <a:cs typeface="Helvetica Neue"/>
              </a:defRPr>
            </a:lvl5pPr>
            <a:lvl6pPr algn="l">
              <a:defRPr sz="2025" b="0">
                <a:solidFill>
                  <a:srgbClr val="007F7A"/>
                </a:solidFill>
                <a:latin typeface="Helvetica Neue"/>
                <a:ea typeface="Helvetica Neue"/>
                <a:cs typeface="Helvetica Neue"/>
              </a:defRPr>
            </a:lvl6pPr>
            <a:lvl7pPr algn="l">
              <a:defRPr sz="2025" b="0">
                <a:solidFill>
                  <a:srgbClr val="007F7A"/>
                </a:solidFill>
                <a:latin typeface="Helvetica Neue"/>
                <a:ea typeface="Helvetica Neue"/>
                <a:cs typeface="Helvetica Neue"/>
              </a:defRPr>
            </a:lvl7pPr>
            <a:lvl8pPr algn="l">
              <a:defRPr sz="2025" b="0">
                <a:solidFill>
                  <a:srgbClr val="007F7A"/>
                </a:solidFill>
                <a:latin typeface="Helvetica Neue"/>
                <a:ea typeface="Helvetica Neue"/>
                <a:cs typeface="Helvetica Neue"/>
              </a:defRPr>
            </a:lvl8pPr>
            <a:lvl9pPr algn="l">
              <a:defRPr sz="2025" b="0">
                <a:solidFill>
                  <a:srgbClr val="007F7A"/>
                </a:solidFill>
                <a:latin typeface="Helvetica Neue"/>
                <a:ea typeface="Helvetica Neue"/>
                <a:cs typeface="Helvetica Neue"/>
              </a:defRPr>
            </a:lvl9pPr>
          </a:lstStyle>
          <a:p xmlns:a="http://schemas.openxmlformats.org/drawingml/2006/main">
            <a:pPr algn="l">
              <a:defRPr sz="2025" b="0">
                <a:solidFill>
                  <a:srgbClr val="007F7A"/>
                </a:solidFill>
                <a:latin typeface="Helvetica Neue"/>
                <a:ea typeface="Helvetica Neue"/>
                <a:cs typeface="Helvetica Neue"/>
              </a:defRPr>
            </a:pPr>
            <a:r>
              <a:rPr sz="2025" b="0">
                <a:solidFill>
                  <a:srgbClr val="007F7A"/>
                </a:solidFill>
                <a:latin typeface="Helvetica Neue"/>
                <a:ea typeface="Helvetica Neue"/>
                <a:cs typeface="Helvetica Neue"/>
              </a:rPr>
              <a:t>The aim is to learn whether sequence predictions relate to measured activity,</a:t>
            </a:r>
          </a:p>
          <a:p xmlns:a="http://schemas.openxmlformats.org/drawingml/2006/main">
            <a:pPr algn="l">
              <a:defRPr sz="2025" b="0">
                <a:solidFill>
                  <a:srgbClr val="007F7A"/>
                </a:solidFill>
                <a:latin typeface="Helvetica Neue"/>
                <a:ea typeface="Helvetica Neue"/>
                <a:cs typeface="Helvetica Neue"/>
              </a:defRPr>
            </a:pPr>
            <a:r>
              <a:rPr sz="2025" b="0">
                <a:solidFill>
                  <a:srgbClr val="007F7A"/>
                </a:solidFill>
                <a:latin typeface="Helvetica Neue"/>
                <a:ea typeface="Helvetica Neue"/>
                <a:cs typeface="Helvetica Neue"/>
              </a:rPr>
              <a:t>and whether that relationship changes with the cell type.</a:t>
            </a:r>
          </a:p>
        </p:txBody>
      </p:sp>
    </p:spTree>
    <p:extLst>
      <p:ext uri="{BB962C8B-B14F-4D97-AF65-F5344CB8AC3E}">
        <p14:creationId xmlns:p14="http://schemas.microsoft.com/office/powerpoint/2010/main" val="1068016839"/>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DISCUSSION">
            <a:extLst xmlns:a="http://schemas.openxmlformats.org/drawingml/2006/main">
              <a:ext uri="{FF2B5EF4-FFF2-40B4-BE49-F238E27FC236}">
                <a16:creationId xmlns:a16="http://schemas.microsoft.com/office/drawing/2014/main" id="{3389F7C9-D95F-4179-9DB6-BCB2E5AB5D3C}"/>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DISCUSSION</a:t>
            </a:r>
          </a:p>
        </p:txBody>
      </p:sp>
      <p:sp>
        <p:nvSpPr>
          <p:cNvPr id="2" name="Research priorities">
            <a:extLst xmlns:a="http://schemas.openxmlformats.org/drawingml/2006/main">
              <a:ext uri="{FF2B5EF4-FFF2-40B4-BE49-F238E27FC236}">
                <a16:creationId xmlns:a16="http://schemas.microsoft.com/office/drawing/2014/main" id="{E684321A-A1E7-4D93-BF09-2632CE625B42}"/>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Research priorities</a:t>
            </a:r>
          </a:p>
        </p:txBody>
      </p:sp>
      <p:sp>
        <p:nvSpPr>
          <p:cNvPr id="3" name="iEnhancer-2L reconstruction">
            <a:extLst xmlns:a="http://schemas.openxmlformats.org/drawingml/2006/main">
              <a:ext uri="{FF2B5EF4-FFF2-40B4-BE49-F238E27FC236}">
                <a16:creationId xmlns:a16="http://schemas.microsoft.com/office/drawing/2014/main" id="{168DB7C9-A56E-44C4-AB13-324254691B66}"/>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2">
            <a:extLst xmlns:a="http://schemas.openxmlformats.org/drawingml/2006/main">
              <a:ext uri="{FF2B5EF4-FFF2-40B4-BE49-F238E27FC236}">
                <a16:creationId xmlns:a16="http://schemas.microsoft.com/office/drawing/2014/main" id="{408B27C1-EC59-4B62-A4D5-1D2C0B6AF951}"/>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12</a:t>
            </a:r>
          </a:p>
        </p:txBody>
      </p:sp>
      <p:sp>
        <p:nvSpPr>
          <p:cNvPr id="5" name="Current evidence">
            <a:extLst xmlns:a="http://schemas.openxmlformats.org/drawingml/2006/main">
              <a:ext uri="{FF2B5EF4-FFF2-40B4-BE49-F238E27FC236}">
                <a16:creationId xmlns:a16="http://schemas.microsoft.com/office/drawing/2014/main" id="{64545BB8-063A-4A6C-914A-DB34A711CA38}"/>
              </a:ext>
            </a:extLst>
          </p:cNvPr>
          <p:cNvSpPr>
            <a:spLocks xmlns:a="http://schemas.openxmlformats.org/drawingml/2006/main" noGrp="1"/>
          </p:cNvSpPr>
          <p:nvPr/>
        </p:nvSpPr>
        <p:spPr>
          <a:xfrm xmlns:a="http://schemas.openxmlformats.org/drawingml/2006/main">
            <a:off x="609600" y="18002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Current evidence</a:t>
            </a:r>
          </a:p>
        </p:txBody>
      </p:sp>
      <p:sp>
        <p:nvSpPr>
          <p:cNvPr id="6" name="Benchmark accuracy resembles the paper.&#10;Our m">
            <a:extLst xmlns:a="http://schemas.openxmlformats.org/drawingml/2006/main">
              <a:ext uri="{FF2B5EF4-FFF2-40B4-BE49-F238E27FC236}">
                <a16:creationId xmlns:a16="http://schemas.microsoft.com/office/drawing/2014/main" id="{81B39D97-2D08-4294-A944-0C7FF1348A32}"/>
              </a:ext>
            </a:extLst>
          </p:cNvPr>
          <p:cNvSpPr>
            <a:spLocks xmlns:a="http://schemas.openxmlformats.org/drawingml/2006/main" noGrp="1"/>
          </p:cNvSpPr>
          <p:nvPr/>
        </p:nvSpPr>
        <p:spPr>
          <a:xfrm xmlns:a="http://schemas.openxmlformats.org/drawingml/2006/main">
            <a:off x="3886200" y="1800225"/>
            <a:ext cx="7620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Benchmark accuracy resembles the paper.</a:t>
            </a:r>
          </a:p>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Our models agreed with the authors’ server on 192 of 200 inputs.</a:t>
            </a:r>
          </a:p>
        </p:txBody>
      </p:sp>
      <p:sp>
        <p:nvSpPr>
          <p:cNvPr id="7" name="Next evaluation">
            <a:extLst xmlns:a="http://schemas.openxmlformats.org/drawingml/2006/main">
              <a:ext uri="{FF2B5EF4-FFF2-40B4-BE49-F238E27FC236}">
                <a16:creationId xmlns:a16="http://schemas.microsoft.com/office/drawing/2014/main" id="{D9359D10-45F8-4805-A130-CF96FA8CF256}"/>
              </a:ext>
            </a:extLst>
          </p:cNvPr>
          <p:cNvSpPr>
            <a:spLocks xmlns:a="http://schemas.openxmlformats.org/drawingml/2006/main" noGrp="1"/>
          </p:cNvSpPr>
          <p:nvPr/>
        </p:nvSpPr>
        <p:spPr>
          <a:xfrm xmlns:a="http://schemas.openxmlformats.org/drawingml/2006/main">
            <a:off x="609600" y="32289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Next evaluation</a:t>
            </a:r>
          </a:p>
        </p:txBody>
      </p:sp>
      <p:sp>
        <p:nvSpPr>
          <p:cNvPr id="8" name="Complete cohort provenance and related-sequen">
            <a:extLst xmlns:a="http://schemas.openxmlformats.org/drawingml/2006/main">
              <a:ext uri="{FF2B5EF4-FFF2-40B4-BE49-F238E27FC236}">
                <a16:creationId xmlns:a16="http://schemas.microsoft.com/office/drawing/2014/main" id="{7929B831-4725-42D1-B99D-44A2A8CFEAF5}"/>
              </a:ext>
            </a:extLst>
          </p:cNvPr>
          <p:cNvSpPr>
            <a:spLocks xmlns:a="http://schemas.openxmlformats.org/drawingml/2006/main" noGrp="1"/>
          </p:cNvSpPr>
          <p:nvPr/>
        </p:nvSpPr>
        <p:spPr>
          <a:xfrm xmlns:a="http://schemas.openxmlformats.org/drawingml/2006/main">
            <a:off x="3886200" y="32289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Complete cohort provenance and related-sequence checks</a:t>
            </a:r>
          </a:p>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before scoring the independent assay data.</a:t>
            </a:r>
          </a:p>
        </p:txBody>
      </p:sp>
      <p:sp>
        <p:nvSpPr>
          <p:cNvPr id="9" name="Later development">
            <a:extLst xmlns:a="http://schemas.openxmlformats.org/drawingml/2006/main">
              <a:ext uri="{FF2B5EF4-FFF2-40B4-BE49-F238E27FC236}">
                <a16:creationId xmlns:a16="http://schemas.microsoft.com/office/drawing/2014/main" id="{DD810823-A35D-4687-9432-106009D72E71}"/>
              </a:ext>
            </a:extLst>
          </p:cNvPr>
          <p:cNvSpPr>
            <a:spLocks xmlns:a="http://schemas.openxmlformats.org/drawingml/2006/main" noGrp="1"/>
          </p:cNvSpPr>
          <p:nvPr/>
        </p:nvSpPr>
        <p:spPr>
          <a:xfrm xmlns:a="http://schemas.openxmlformats.org/drawingml/2006/main">
            <a:off x="609600" y="46672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Later development</a:t>
            </a:r>
          </a:p>
        </p:txBody>
      </p:sp>
      <p:sp>
        <p:nvSpPr>
          <p:cNvPr id="10" name="Test associations with cell-specific activity">
            <a:extLst xmlns:a="http://schemas.openxmlformats.org/drawingml/2006/main">
              <a:ext uri="{FF2B5EF4-FFF2-40B4-BE49-F238E27FC236}">
                <a16:creationId xmlns:a16="http://schemas.microsoft.com/office/drawing/2014/main" id="{D2D19D69-2029-4374-82E9-97337F5EADEF}"/>
              </a:ext>
            </a:extLst>
          </p:cNvPr>
          <p:cNvSpPr>
            <a:spLocks xmlns:a="http://schemas.openxmlformats.org/drawingml/2006/main" noGrp="1"/>
          </p:cNvSpPr>
          <p:nvPr/>
        </p:nvSpPr>
        <p:spPr>
          <a:xfrm xmlns:a="http://schemas.openxmlformats.org/drawingml/2006/main">
            <a:off x="3886200" y="4667250"/>
            <a:ext cx="7620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Test associations with cell-specific activity.</a:t>
            </a:r>
          </a:p>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New models will need separate development and fresh data.</a:t>
            </a:r>
          </a:p>
        </p:txBody>
      </p:sp>
      <p:sp>
        <p:nvSpPr>
          <p:cNvPr id="11" name="Exact published-result reproduction and perfo">
            <a:extLst xmlns:a="http://schemas.openxmlformats.org/drawingml/2006/main">
              <a:ext uri="{FF2B5EF4-FFF2-40B4-BE49-F238E27FC236}">
                <a16:creationId xmlns:a16="http://schemas.microsoft.com/office/drawing/2014/main" id="{BCB22D48-7DFC-4650-9B72-F1452577E032}"/>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Exact published-result reproduction and performance on new experiments remain unverified.</a:t>
            </a:r>
          </a:p>
        </p:txBody>
      </p:sp>
    </p:spTree>
    <p:extLst>
      <p:ext uri="{BB962C8B-B14F-4D97-AF65-F5344CB8AC3E}">
        <p14:creationId xmlns:p14="http://schemas.microsoft.com/office/powerpoint/2010/main" val="2084878293"/>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APPENDIX A">
            <a:extLst xmlns:a="http://schemas.openxmlformats.org/drawingml/2006/main">
              <a:ext uri="{FF2B5EF4-FFF2-40B4-BE49-F238E27FC236}">
                <a16:creationId xmlns:a16="http://schemas.microsoft.com/office/drawing/2014/main" id="{19FF170C-45F0-424A-B9E0-39F0B6B68BED}"/>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APPENDIX A</a:t>
            </a:r>
          </a:p>
        </p:txBody>
      </p:sp>
      <p:sp>
        <p:nvSpPr>
          <p:cNvPr id="2" name="Feature comparison details">
            <a:extLst xmlns:a="http://schemas.openxmlformats.org/drawingml/2006/main">
              <a:ext uri="{FF2B5EF4-FFF2-40B4-BE49-F238E27FC236}">
                <a16:creationId xmlns:a16="http://schemas.microsoft.com/office/drawing/2014/main" id="{9BD109AA-1307-455A-83BD-3C698D26B9A3}"/>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Feature comparison details</a:t>
            </a:r>
          </a:p>
        </p:txBody>
      </p:sp>
      <p:sp>
        <p:nvSpPr>
          <p:cNvPr id="3" name="iEnhancer-2L reconstruction">
            <a:extLst xmlns:a="http://schemas.openxmlformats.org/drawingml/2006/main">
              <a:ext uri="{FF2B5EF4-FFF2-40B4-BE49-F238E27FC236}">
                <a16:creationId xmlns:a16="http://schemas.microsoft.com/office/drawing/2014/main" id="{18FB542A-2BE6-44DD-BF30-B99648BEEF85}"/>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3">
            <a:extLst xmlns:a="http://schemas.openxmlformats.org/drawingml/2006/main">
              <a:ext uri="{FF2B5EF4-FFF2-40B4-BE49-F238E27FC236}">
                <a16:creationId xmlns:a16="http://schemas.microsoft.com/office/drawing/2014/main" id="{96546478-9BD5-4817-8835-643949F42454}"/>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13</a:t>
            </a:r>
          </a:p>
        </p:txBody>
      </p:sp>
      <p:graphicFrame>
        <p:nvGraphicFramePr>
          <p:cNvPr id="5" name="">
            <a:extLst xmlns:a="http://schemas.openxmlformats.org/drawingml/2006/main">
              <a:ext uri="{FF2B5EF4-FFF2-40B4-BE49-F238E27FC236}">
                <a16:creationId xmlns:a16="http://schemas.microsoft.com/office/drawing/2014/main" id="{2A9C9238-CEDB-4DA4-90CE-A35081531818}"/>
              </a:ext>
            </a:extLst>
          </p:cNvPr>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firstRow="1" bandRow="0"/>
              <a:tblGrid>
                <a:gridCol w="4495800"/>
                <a:gridCol w="2190750"/>
                <a:gridCol w="2190750"/>
                <a:gridCol w="2095500"/>
              </a:tblGrid>
              <a:tr h="523875">
                <a:tc>
                  <a:txBody>
                    <a:bodyPr lIns="152400" tIns="38100" rIns="133350" bIns="38100">
                      <a:noAutofit/>
                    </a:bodyPr>
                    <a:lstStyle/>
                    <a:p>
                      <a:r>
                        <a:rPr sz="1800" b="1">
                          <a:solidFill>
                            <a:srgbClr val="FFFFFF"/>
                          </a:solidFill>
                          <a:latin typeface="Helvetica Neue"/>
                          <a:ea typeface="Helvetica Neue"/>
                          <a:cs typeface="Helvetica Neue"/>
                        </a:rPr>
                        <a:t>Configuration</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00" b="1">
                          <a:solidFill>
                            <a:srgbClr val="FFFFFF"/>
                          </a:solidFill>
                          <a:latin typeface="Helvetica Neue"/>
                          <a:ea typeface="Helvetica Neue"/>
                          <a:cs typeface="Helvetica Neue"/>
                        </a:rPr>
                        <a:t>Layer-I accuracy</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00" b="1">
                          <a:solidFill>
                            <a:srgbClr val="FFFFFF"/>
                          </a:solidFill>
                          <a:latin typeface="Helvetica Neue"/>
                          <a:ea typeface="Helvetica Neue"/>
                          <a:cs typeface="Helvetica Neue"/>
                        </a:rPr>
                        <a:t>Layer-II accuracy</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00" b="1">
                          <a:solidFill>
                            <a:srgbClr val="FFFFFF"/>
                          </a:solidFill>
                          <a:latin typeface="Helvetica Neue"/>
                          <a:ea typeface="Helvetica Neue"/>
                          <a:cs typeface="Helvetica Neue"/>
                        </a:rPr>
                        <a:t>Layer-II AUC</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Ordinary 6-mers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75.91%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62.80%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0.680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Rescaled 6-mers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76.08%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61.86%</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0.662</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Words + structure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76.15%</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62.13%</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0.679</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Full PseKNC</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75.88%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59.37%</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0.646</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Balanced words + structure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1800" b="0">
                          <a:solidFill>
                            <a:srgbClr val="173344"/>
                          </a:solidFill>
                          <a:latin typeface="Helvetica Neue"/>
                          <a:ea typeface="Helvetica Neue"/>
                          <a:cs typeface="Helvetica Neue"/>
                        </a:rPr>
                        <a:t>75.94%</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1800" b="0">
                          <a:solidFill>
                            <a:srgbClr val="173344"/>
                          </a:solidFill>
                          <a:latin typeface="Helvetica Neue"/>
                          <a:ea typeface="Helvetica Neue"/>
                          <a:cs typeface="Helvetica Neue"/>
                        </a:rPr>
                        <a:t>63.14%</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1800" b="0">
                          <a:solidFill>
                            <a:srgbClr val="173344"/>
                          </a:solidFill>
                          <a:latin typeface="Helvetica Neue"/>
                          <a:ea typeface="Helvetica Neue"/>
                          <a:cs typeface="Helvetica Neue"/>
                        </a:rPr>
                        <a:t>0.680</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Balanced full PseKNC</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75.24%</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61.19%</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0.661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Balance uses training data only">
            <a:extLst xmlns:a="http://schemas.openxmlformats.org/drawingml/2006/main">
              <a:ext uri="{FF2B5EF4-FFF2-40B4-BE49-F238E27FC236}">
                <a16:creationId xmlns:a16="http://schemas.microsoft.com/office/drawing/2014/main" id="{C913086D-257A-4A97-878A-17ACCA1822D9}"/>
              </a:ext>
            </a:extLst>
          </p:cNvPr>
          <p:cNvSpPr>
            <a:spLocks xmlns:a="http://schemas.openxmlformats.org/drawingml/2006/main" noGrp="1"/>
          </p:cNvSpPr>
          <p:nvPr/>
        </p:nvSpPr>
        <p:spPr>
          <a:xfrm xmlns:a="http://schemas.openxmlformats.org/drawingml/2006/main">
            <a:off x="609600" y="56578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A"/>
                </a:solidFill>
                <a:latin typeface="Helvetica Neue"/>
                <a:ea typeface="Helvetica Neue"/>
                <a:cs typeface="Helvetica Neue"/>
              </a:defRPr>
            </a:defPPr>
            <a:lvl1pPr algn="l">
              <a:defRPr sz="2175" b="1">
                <a:solidFill>
                  <a:srgbClr val="007F7A"/>
                </a:solidFill>
                <a:latin typeface="Helvetica Neue"/>
                <a:ea typeface="Helvetica Neue"/>
                <a:cs typeface="Helvetica Neue"/>
              </a:defRPr>
            </a:lvl1pPr>
            <a:lvl2pPr algn="l">
              <a:defRPr sz="2175" b="1">
                <a:solidFill>
                  <a:srgbClr val="007F7A"/>
                </a:solidFill>
                <a:latin typeface="Helvetica Neue"/>
                <a:ea typeface="Helvetica Neue"/>
                <a:cs typeface="Helvetica Neue"/>
              </a:defRPr>
            </a:lvl2pPr>
            <a:lvl3pPr algn="l">
              <a:defRPr sz="2175" b="1">
                <a:solidFill>
                  <a:srgbClr val="007F7A"/>
                </a:solidFill>
                <a:latin typeface="Helvetica Neue"/>
                <a:ea typeface="Helvetica Neue"/>
                <a:cs typeface="Helvetica Neue"/>
              </a:defRPr>
            </a:lvl3pPr>
            <a:lvl4pPr algn="l">
              <a:defRPr sz="2175" b="1">
                <a:solidFill>
                  <a:srgbClr val="007F7A"/>
                </a:solidFill>
                <a:latin typeface="Helvetica Neue"/>
                <a:ea typeface="Helvetica Neue"/>
                <a:cs typeface="Helvetica Neue"/>
              </a:defRPr>
            </a:lvl4pPr>
            <a:lvl5pPr algn="l">
              <a:defRPr sz="2175" b="1">
                <a:solidFill>
                  <a:srgbClr val="007F7A"/>
                </a:solidFill>
                <a:latin typeface="Helvetica Neue"/>
                <a:ea typeface="Helvetica Neue"/>
                <a:cs typeface="Helvetica Neue"/>
              </a:defRPr>
            </a:lvl5pPr>
            <a:lvl6pPr algn="l">
              <a:defRPr sz="2175" b="1">
                <a:solidFill>
                  <a:srgbClr val="007F7A"/>
                </a:solidFill>
                <a:latin typeface="Helvetica Neue"/>
                <a:ea typeface="Helvetica Neue"/>
                <a:cs typeface="Helvetica Neue"/>
              </a:defRPr>
            </a:lvl6pPr>
            <a:lvl7pPr algn="l">
              <a:defRPr sz="2175" b="1">
                <a:solidFill>
                  <a:srgbClr val="007F7A"/>
                </a:solidFill>
                <a:latin typeface="Helvetica Neue"/>
                <a:ea typeface="Helvetica Neue"/>
                <a:cs typeface="Helvetica Neue"/>
              </a:defRPr>
            </a:lvl7pPr>
            <a:lvl8pPr algn="l">
              <a:defRPr sz="2175" b="1">
                <a:solidFill>
                  <a:srgbClr val="007F7A"/>
                </a:solidFill>
                <a:latin typeface="Helvetica Neue"/>
                <a:ea typeface="Helvetica Neue"/>
                <a:cs typeface="Helvetica Neue"/>
              </a:defRPr>
            </a:lvl8pPr>
            <a:lvl9pPr algn="l">
              <a:defRPr sz="2175" b="1">
                <a:solidFill>
                  <a:srgbClr val="007F7A"/>
                </a:solidFill>
                <a:latin typeface="Helvetica Neue"/>
                <a:ea typeface="Helvetica Neue"/>
                <a:cs typeface="Helvetica Neue"/>
              </a:defRPr>
            </a:lvl9pPr>
          </a:lstStyle>
          <a:p xmlns:a="http://schemas.openxmlformats.org/drawingml/2006/main">
            <a:pPr algn="l">
              <a:defRPr sz="2175" b="1">
                <a:solidFill>
                  <a:srgbClr val="007F7A"/>
                </a:solidFill>
                <a:latin typeface="Helvetica Neue"/>
                <a:ea typeface="Helvetica Neue"/>
                <a:cs typeface="Helvetica Neue"/>
              </a:defRPr>
            </a:pPr>
            <a:r>
              <a:rPr sz="2175" b="1">
                <a:solidFill>
                  <a:srgbClr val="007F7A"/>
                </a:solidFill>
                <a:latin typeface="Helvetica Neue"/>
                <a:ea typeface="Helvetica Neue"/>
                <a:cs typeface="Helvetica Neue"/>
              </a:rPr>
              <a:t>Balance uses training data only</a:t>
            </a:r>
          </a:p>
        </p:txBody>
      </p:sp>
      <p:sp>
        <p:nvSpPr>
          <p:cNvPr id="7" name="Mean values across five outer folds. Reused b">
            <a:extLst xmlns:a="http://schemas.openxmlformats.org/drawingml/2006/main">
              <a:ext uri="{FF2B5EF4-FFF2-40B4-BE49-F238E27FC236}">
                <a16:creationId xmlns:a16="http://schemas.microsoft.com/office/drawing/2014/main" id="{230F8AA0-49B3-4E60-9EF9-F2ECDD56E509}"/>
              </a:ext>
            </a:extLst>
          </p:cNvPr>
          <p:cNvSpPr>
            <a:spLocks xmlns:a="http://schemas.openxmlformats.org/drawingml/2006/main" noGrp="1"/>
          </p:cNvSpPr>
          <p:nvPr/>
        </p:nvSpPr>
        <p:spPr>
          <a:xfrm xmlns:a="http://schemas.openxmlformats.org/drawingml/2006/main">
            <a:off x="609600" y="6105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Mean values across five outer folds. Reused benchmark, exploratory comparisons and conditional uncertainty.</a:t>
            </a:r>
          </a:p>
        </p:txBody>
      </p:sp>
    </p:spTree>
    <p:extLst>
      <p:ext uri="{BB962C8B-B14F-4D97-AF65-F5344CB8AC3E}">
        <p14:creationId xmlns:p14="http://schemas.microsoft.com/office/powerpoint/2010/main" val="1843852379"/>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APPENDIX B">
            <a:extLst xmlns:a="http://schemas.openxmlformats.org/drawingml/2006/main">
              <a:ext uri="{FF2B5EF4-FFF2-40B4-BE49-F238E27FC236}">
                <a16:creationId xmlns:a16="http://schemas.microsoft.com/office/drawing/2014/main" id="{FE7E0FE3-D5E7-47EA-BDCC-9CBEB16A8A73}"/>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APPENDIX B</a:t>
            </a:r>
          </a:p>
        </p:txBody>
      </p:sp>
      <p:sp>
        <p:nvSpPr>
          <p:cNvPr id="2" name="All eight server disagreements">
            <a:extLst xmlns:a="http://schemas.openxmlformats.org/drawingml/2006/main">
              <a:ext uri="{FF2B5EF4-FFF2-40B4-BE49-F238E27FC236}">
                <a16:creationId xmlns:a16="http://schemas.microsoft.com/office/drawing/2014/main" id="{A7288E0B-9341-4938-B3E3-4F68CABD42A7}"/>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All eight server disagreements</a:t>
            </a:r>
          </a:p>
        </p:txBody>
      </p:sp>
      <p:sp>
        <p:nvSpPr>
          <p:cNvPr id="3" name="iEnhancer-2L reconstruction">
            <a:extLst xmlns:a="http://schemas.openxmlformats.org/drawingml/2006/main">
              <a:ext uri="{FF2B5EF4-FFF2-40B4-BE49-F238E27FC236}">
                <a16:creationId xmlns:a16="http://schemas.microsoft.com/office/drawing/2014/main" id="{D05F4041-77A3-4B93-9EAD-2A2AA787CC9A}"/>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4">
            <a:extLst xmlns:a="http://schemas.openxmlformats.org/drawingml/2006/main">
              <a:ext uri="{FF2B5EF4-FFF2-40B4-BE49-F238E27FC236}">
                <a16:creationId xmlns:a16="http://schemas.microsoft.com/office/drawing/2014/main" id="{5CD279F2-FDB6-4163-ABE6-44FEBECAA730}"/>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14</a:t>
            </a:r>
          </a:p>
        </p:txBody>
      </p:sp>
      <p:graphicFrame>
        <p:nvGraphicFramePr>
          <p:cNvPr id="5" name="">
            <a:extLst xmlns:a="http://schemas.openxmlformats.org/drawingml/2006/main">
              <a:ext uri="{FF2B5EF4-FFF2-40B4-BE49-F238E27FC236}">
                <a16:creationId xmlns:a16="http://schemas.microsoft.com/office/drawing/2014/main" id="{D9DC5D25-ADF3-47DE-8021-1542E4A36071}"/>
              </a:ext>
            </a:extLst>
          </p:cNvPr>
          <p:cNvGraphicFramePr/>
          <p:nvPr/>
        </p:nvGraphicFramePr>
        <p:xfrm>
          <a:off xmlns:a="http://schemas.openxmlformats.org/drawingml/2006/main" x="609600" y="1724025"/>
          <a:ext xmlns:a="http://schemas.openxmlformats.org/drawingml/2006/main" cx="10972800" cy="3857625"/>
        </p:xfrm>
        <a:graphic xmlns:a="http://schemas.openxmlformats.org/drawingml/2006/main">
          <a:graphicData uri="http://schemas.openxmlformats.org/drawingml/2006/table">
            <a:tbl>
              <a:tblPr firstRow="1" bandRow="0"/>
              <a:tblGrid>
                <a:gridCol w="1276350"/>
                <a:gridCol w="952500"/>
                <a:gridCol w="1809750"/>
                <a:gridCol w="2152650"/>
                <a:gridCol w="2114550"/>
                <a:gridCol w="2667000"/>
              </a:tblGrid>
              <a:tr h="428625">
                <a:tc>
                  <a:txBody>
                    <a:bodyPr lIns="152400" tIns="38100" rIns="133350" bIns="38100">
                      <a:noAutofit/>
                    </a:bodyPr>
                    <a:lstStyle/>
                    <a:p>
                      <a:r>
                        <a:rPr sz="1725" b="1">
                          <a:solidFill>
                            <a:srgbClr val="FFFFFF"/>
                          </a:solidFill>
                          <a:latin typeface="Helvetica Neue"/>
                          <a:ea typeface="Helvetica Neue"/>
                          <a:cs typeface="Helvetica Neue"/>
                        </a:rPr>
                        <a:t>Probe</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Layer</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Authors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Ours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Our score</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Near-zero rank</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0040</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-0.028390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4/151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0089</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-0.043584</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6/200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0108</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-0.010531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2/151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0110</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-0.038955</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5/200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0133</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-0.066138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8/200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0135</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-0.007658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2/200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0147</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II</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-0.001241</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1/151</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0177</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-0.051753</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7/200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Rank 1 is closest to zero within that layer. ">
            <a:extLst xmlns:a="http://schemas.openxmlformats.org/drawingml/2006/main">
              <a:ext uri="{FF2B5EF4-FFF2-40B4-BE49-F238E27FC236}">
                <a16:creationId xmlns:a16="http://schemas.microsoft.com/office/drawing/2014/main" id="{47538B4F-8E34-4D4F-A801-4195933D96FD}"/>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Rank 1 is closest to zero within that layer. Layer-I and Layer-II scores have different scales and are not probabilities.</a:t>
            </a:r>
          </a:p>
        </p:txBody>
      </p:sp>
    </p:spTree>
    <p:extLst>
      <p:ext uri="{BB962C8B-B14F-4D97-AF65-F5344CB8AC3E}">
        <p14:creationId xmlns:p14="http://schemas.microsoft.com/office/powerpoint/2010/main" val="35098919"/>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2" name="SOURCES">
            <a:extLst xmlns:a="http://schemas.openxmlformats.org/drawingml/2006/main">
              <a:ext uri="{FF2B5EF4-FFF2-40B4-BE49-F238E27FC236}">
                <a16:creationId xmlns:a16="http://schemas.microsoft.com/office/drawing/2014/main" id="{707B931B-DDA2-43F0-8C94-D81DF066B070}"/>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SOURCES</a:t>
            </a:r>
          </a:p>
        </p:txBody>
      </p:sp>
      <p:sp>
        <p:nvSpPr>
          <p:cNvPr id="2" name="References and research materials">
            <a:extLst xmlns:a="http://schemas.openxmlformats.org/drawingml/2006/main">
              <a:ext uri="{FF2B5EF4-FFF2-40B4-BE49-F238E27FC236}">
                <a16:creationId xmlns:a16="http://schemas.microsoft.com/office/drawing/2014/main" id="{318D7972-44D6-4E9A-A32A-233F8C3D3EE5}"/>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References and research materials</a:t>
            </a:r>
          </a:p>
        </p:txBody>
      </p:sp>
      <p:sp>
        <p:nvSpPr>
          <p:cNvPr id="3" name="iEnhancer-2L reconstruction">
            <a:extLst xmlns:a="http://schemas.openxmlformats.org/drawingml/2006/main">
              <a:ext uri="{FF2B5EF4-FFF2-40B4-BE49-F238E27FC236}">
                <a16:creationId xmlns:a16="http://schemas.microsoft.com/office/drawing/2014/main" id="{1EFBF510-F56D-406F-B0EE-FD5D0ABE6399}"/>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5">
            <a:extLst xmlns:a="http://schemas.openxmlformats.org/drawingml/2006/main">
              <a:ext uri="{FF2B5EF4-FFF2-40B4-BE49-F238E27FC236}">
                <a16:creationId xmlns:a16="http://schemas.microsoft.com/office/drawing/2014/main" id="{93C0C913-8548-4E1D-AA82-713DE20BA859}"/>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15</a:t>
            </a:r>
          </a:p>
        </p:txBody>
      </p:sp>
      <p:sp>
        <p:nvSpPr>
          <p:cNvPr id="5" name="Original method">
            <a:extLst xmlns:a="http://schemas.openxmlformats.org/drawingml/2006/main">
              <a:ext uri="{FF2B5EF4-FFF2-40B4-BE49-F238E27FC236}">
                <a16:creationId xmlns:a16="http://schemas.microsoft.com/office/drawing/2014/main" id="{F246B01F-D08C-4E9D-A5C2-3EB0B2550620}"/>
              </a:ext>
            </a:extLst>
          </p:cNvPr>
          <p:cNvSpPr>
            <a:spLocks xmlns:a="http://schemas.openxmlformats.org/drawingml/2006/main" noGrp="1"/>
          </p:cNvSpPr>
          <p:nvPr/>
        </p:nvSpPr>
        <p:spPr>
          <a:xfrm xmlns:a="http://schemas.openxmlformats.org/drawingml/2006/main">
            <a:off x="609600" y="17811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Original method</a:t>
            </a:r>
          </a:p>
        </p:txBody>
      </p:sp>
      <p:sp>
        <p:nvSpPr>
          <p:cNvPr id="6" name="Liu et al., Bioinformatics (2016)&#10;iEnhancer-2">
            <a:extLst xmlns:a="http://schemas.openxmlformats.org/drawingml/2006/main">
              <a:ext uri="{FF2B5EF4-FFF2-40B4-BE49-F238E27FC236}">
                <a16:creationId xmlns:a16="http://schemas.microsoft.com/office/drawing/2014/main" id="{00FA9110-07D8-4C47-AF8A-07ED1855EB74}"/>
              </a:ext>
            </a:extLst>
          </p:cNvPr>
          <p:cNvSpPr>
            <a:spLocks xmlns:a="http://schemas.openxmlformats.org/drawingml/2006/main" noGrp="1"/>
          </p:cNvSpPr>
          <p:nvPr/>
        </p:nvSpPr>
        <p:spPr>
          <a:xfrm xmlns:a="http://schemas.openxmlformats.org/drawingml/2006/main">
            <a:off x="609600" y="22288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Liu et al., Bioinformatics (2016)</a:t>
            </a:r>
          </a:p>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iEnhancer-2L</a:t>
            </a:r>
          </a:p>
        </p:txBody>
      </p:sp>
      <p:sp>
        <p:nvSpPr>
          <p:cNvPr id="7" name="Paper and supplementary data">
            <a:extLst xmlns:a="http://schemas.openxmlformats.org/drawingml/2006/main">
              <a:ext uri="{FF2B5EF4-FFF2-40B4-BE49-F238E27FC236}">
                <a16:creationId xmlns:a16="http://schemas.microsoft.com/office/drawing/2014/main" id="{0E71C9A4-A8CA-4E0E-B830-815B4D78ED77}"/>
              </a:ext>
            </a:extLst>
          </p:cNvPr>
          <p:cNvSpPr>
            <a:spLocks xmlns:a="http://schemas.openxmlformats.org/drawingml/2006/main" noGrp="1"/>
          </p:cNvSpPr>
          <p:nvPr/>
        </p:nvSpPr>
        <p:spPr>
          <a:xfrm xmlns:a="http://schemas.openxmlformats.org/drawingml/2006/main">
            <a:off x="609600" y="30670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47eda53016b7448c"/>
              </a:rPr>
              <a:t>Paper and supplementary data</a:t>
            </a:r>
          </a:p>
        </p:txBody>
      </p:sp>
      <p:sp>
        <p:nvSpPr>
          <p:cNvPr id="8" name="Authors’ prediction tool">
            <a:extLst xmlns:a="http://schemas.openxmlformats.org/drawingml/2006/main">
              <a:ext uri="{FF2B5EF4-FFF2-40B4-BE49-F238E27FC236}">
                <a16:creationId xmlns:a16="http://schemas.microsoft.com/office/drawing/2014/main" id="{75EC1887-CCE2-4E74-93D7-C84A3D91F161}"/>
              </a:ext>
            </a:extLst>
          </p:cNvPr>
          <p:cNvSpPr>
            <a:spLocks xmlns:a="http://schemas.openxmlformats.org/drawingml/2006/main" noGrp="1"/>
          </p:cNvSpPr>
          <p:nvPr/>
        </p:nvSpPr>
        <p:spPr>
          <a:xfrm xmlns:a="http://schemas.openxmlformats.org/drawingml/2006/main">
            <a:off x="609600" y="38385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Authors’ prediction tool</a:t>
            </a:r>
          </a:p>
        </p:txBody>
      </p:sp>
      <p:sp>
        <p:nvSpPr>
          <p:cNvPr id="9" name="iEnhancer-2L web server">
            <a:extLst xmlns:a="http://schemas.openxmlformats.org/drawingml/2006/main">
              <a:ext uri="{FF2B5EF4-FFF2-40B4-BE49-F238E27FC236}">
                <a16:creationId xmlns:a16="http://schemas.microsoft.com/office/drawing/2014/main" id="{0B75DB22-BF51-4D97-B1DC-E3F467ECFE51}"/>
              </a:ext>
            </a:extLst>
          </p:cNvPr>
          <p:cNvSpPr>
            <a:spLocks xmlns:a="http://schemas.openxmlformats.org/drawingml/2006/main" noGrp="1"/>
          </p:cNvSpPr>
          <p:nvPr/>
        </p:nvSpPr>
        <p:spPr>
          <a:xfrm xmlns:a="http://schemas.openxmlformats.org/drawingml/2006/main">
            <a:off x="609600" y="429577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5595baa0507e4863"/>
              </a:rPr>
              <a:t>iEnhancer-2L web server</a:t>
            </a:r>
          </a:p>
        </p:txBody>
      </p:sp>
      <p:sp>
        <p:nvSpPr>
          <p:cNvPr id="10" name="Project code and documentation">
            <a:extLst xmlns:a="http://schemas.openxmlformats.org/drawingml/2006/main">
              <a:ext uri="{FF2B5EF4-FFF2-40B4-BE49-F238E27FC236}">
                <a16:creationId xmlns:a16="http://schemas.microsoft.com/office/drawing/2014/main" id="{2DF5421A-0FA3-4E2C-88D9-89AF4A9BD173}"/>
              </a:ext>
            </a:extLst>
          </p:cNvPr>
          <p:cNvSpPr>
            <a:spLocks xmlns:a="http://schemas.openxmlformats.org/drawingml/2006/main" noGrp="1"/>
          </p:cNvSpPr>
          <p:nvPr/>
        </p:nvSpPr>
        <p:spPr>
          <a:xfrm xmlns:a="http://schemas.openxmlformats.org/drawingml/2006/main">
            <a:off x="609600" y="50577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Project code and documentation</a:t>
            </a:r>
          </a:p>
        </p:txBody>
      </p:sp>
      <p:sp>
        <p:nvSpPr>
          <p:cNvPr id="11" name="GitHub repository">
            <a:extLst xmlns:a="http://schemas.openxmlformats.org/drawingml/2006/main">
              <a:ext uri="{FF2B5EF4-FFF2-40B4-BE49-F238E27FC236}">
                <a16:creationId xmlns:a16="http://schemas.microsoft.com/office/drawing/2014/main" id="{5B0CDF4A-41F9-4DBA-B194-9AF375B755ED}"/>
              </a:ext>
            </a:extLst>
          </p:cNvPr>
          <p:cNvSpPr>
            <a:spLocks xmlns:a="http://schemas.openxmlformats.org/drawingml/2006/main" noGrp="1"/>
          </p:cNvSpPr>
          <p:nvPr/>
        </p:nvSpPr>
        <p:spPr>
          <a:xfrm xmlns:a="http://schemas.openxmlformats.org/drawingml/2006/main">
            <a:off x="609600" y="551497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0eafd04a1d394e68"/>
              </a:rPr>
              <a:t>GitHub repository</a:t>
            </a:r>
          </a:p>
        </p:txBody>
      </p:sp>
      <p:sp>
        <p:nvSpPr>
          <p:cNvPr id="12" name="Results">
            <a:extLst xmlns:a="http://schemas.openxmlformats.org/drawingml/2006/main">
              <a:ext uri="{FF2B5EF4-FFF2-40B4-BE49-F238E27FC236}">
                <a16:creationId xmlns:a16="http://schemas.microsoft.com/office/drawing/2014/main" id="{25AE8AFC-C5FA-493E-B97A-16DE3267DC34}"/>
              </a:ext>
            </a:extLst>
          </p:cNvPr>
          <p:cNvSpPr>
            <a:spLocks xmlns:a="http://schemas.openxmlformats.org/drawingml/2006/main" noGrp="1"/>
          </p:cNvSpPr>
          <p:nvPr/>
        </p:nvSpPr>
        <p:spPr>
          <a:xfrm xmlns:a="http://schemas.openxmlformats.org/drawingml/2006/main">
            <a:off x="609600" y="5953125"/>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5e3e52d3746849e7"/>
              </a:rPr>
              <a:t>Results</a:t>
            </a:r>
          </a:p>
        </p:txBody>
      </p:sp>
      <p:sp>
        <p:nvSpPr>
          <p:cNvPr id="13" name="Methods">
            <a:extLst xmlns:a="http://schemas.openxmlformats.org/drawingml/2006/main">
              <a:ext uri="{FF2B5EF4-FFF2-40B4-BE49-F238E27FC236}">
                <a16:creationId xmlns:a16="http://schemas.microsoft.com/office/drawing/2014/main" id="{9EC4EFD5-66BB-497F-BB2C-53C06C1617D1}"/>
              </a:ext>
            </a:extLst>
          </p:cNvPr>
          <p:cNvSpPr>
            <a:spLocks xmlns:a="http://schemas.openxmlformats.org/drawingml/2006/main" noGrp="1"/>
          </p:cNvSpPr>
          <p:nvPr/>
        </p:nvSpPr>
        <p:spPr>
          <a:xfrm xmlns:a="http://schemas.openxmlformats.org/drawingml/2006/main">
            <a:off x="2171700" y="5953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d69af61f095a4c6c"/>
              </a:rPr>
              <a:t>Methods</a:t>
            </a:r>
          </a:p>
        </p:txBody>
      </p:sp>
      <p:sp>
        <p:nvSpPr>
          <p:cNvPr id="14" name="Three-cell activity study">
            <a:extLst xmlns:a="http://schemas.openxmlformats.org/drawingml/2006/main">
              <a:ext uri="{FF2B5EF4-FFF2-40B4-BE49-F238E27FC236}">
                <a16:creationId xmlns:a16="http://schemas.microsoft.com/office/drawing/2014/main" id="{FBF397C2-682F-4338-A262-AB83F79F6499}"/>
              </a:ext>
            </a:extLst>
          </p:cNvPr>
          <p:cNvSpPr>
            <a:spLocks xmlns:a="http://schemas.openxmlformats.org/drawingml/2006/main" noGrp="1"/>
          </p:cNvSpPr>
          <p:nvPr/>
        </p:nvSpPr>
        <p:spPr>
          <a:xfrm xmlns:a="http://schemas.openxmlformats.org/drawingml/2006/main">
            <a:off x="6477000" y="1781175"/>
            <a:ext cx="510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Three-cell activity study</a:t>
            </a:r>
          </a:p>
        </p:txBody>
      </p:sp>
      <p:sp>
        <p:nvSpPr>
          <p:cNvPr id="15" name="Agarwal, Inoue et al., Nature (2025)&#10;Shared l">
            <a:extLst xmlns:a="http://schemas.openxmlformats.org/drawingml/2006/main">
              <a:ext uri="{FF2B5EF4-FFF2-40B4-BE49-F238E27FC236}">
                <a16:creationId xmlns:a16="http://schemas.microsoft.com/office/drawing/2014/main" id="{96E5CD73-6AFE-40FB-9EE2-E17EB8548252}"/>
              </a:ext>
            </a:extLst>
          </p:cNvPr>
          <p:cNvSpPr>
            <a:spLocks xmlns:a="http://schemas.openxmlformats.org/drawingml/2006/main" noGrp="1"/>
          </p:cNvSpPr>
          <p:nvPr/>
        </p:nvSpPr>
        <p:spPr>
          <a:xfrm xmlns:a="http://schemas.openxmlformats.org/drawingml/2006/main">
            <a:off x="6477000" y="2228850"/>
            <a:ext cx="5105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Agarwal, Inoue et al., Nature (2025)</a:t>
            </a:r>
          </a:p>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Shared lentiMPRA library</a:t>
            </a:r>
          </a:p>
        </p:txBody>
      </p:sp>
      <p:sp>
        <p:nvSpPr>
          <p:cNvPr id="16" name="Paper and supplementary data">
            <a:extLst xmlns:a="http://schemas.openxmlformats.org/drawingml/2006/main">
              <a:ext uri="{FF2B5EF4-FFF2-40B4-BE49-F238E27FC236}">
                <a16:creationId xmlns:a16="http://schemas.microsoft.com/office/drawing/2014/main" id="{947370A6-4FE5-47EC-8BC1-DC8946711E7E}"/>
              </a:ext>
            </a:extLst>
          </p:cNvPr>
          <p:cNvSpPr>
            <a:spLocks xmlns:a="http://schemas.openxmlformats.org/drawingml/2006/main" noGrp="1"/>
          </p:cNvSpPr>
          <p:nvPr/>
        </p:nvSpPr>
        <p:spPr>
          <a:xfrm xmlns:a="http://schemas.openxmlformats.org/drawingml/2006/main">
            <a:off x="6477000" y="306705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811827b9955343ab"/>
              </a:rPr>
              <a:t>Paper and supplementary data</a:t>
            </a:r>
          </a:p>
        </p:txBody>
      </p:sp>
      <p:sp>
        <p:nvSpPr>
          <p:cNvPr id="17" name="Independent assay source">
            <a:extLst xmlns:a="http://schemas.openxmlformats.org/drawingml/2006/main">
              <a:ext uri="{FF2B5EF4-FFF2-40B4-BE49-F238E27FC236}">
                <a16:creationId xmlns:a16="http://schemas.microsoft.com/office/drawing/2014/main" id="{C8878154-866E-4D61-80FC-090D02B3C6A5}"/>
              </a:ext>
            </a:extLst>
          </p:cNvPr>
          <p:cNvSpPr>
            <a:spLocks xmlns:a="http://schemas.openxmlformats.org/drawingml/2006/main" noGrp="1"/>
          </p:cNvSpPr>
          <p:nvPr/>
        </p:nvSpPr>
        <p:spPr>
          <a:xfrm xmlns:a="http://schemas.openxmlformats.org/drawingml/2006/main">
            <a:off x="6477000" y="3838575"/>
            <a:ext cx="510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Independent assay source</a:t>
            </a:r>
          </a:p>
        </p:txBody>
      </p:sp>
      <p:sp>
        <p:nvSpPr>
          <p:cNvPr id="18" name="VISTA Enhancer Browser">
            <a:extLst xmlns:a="http://schemas.openxmlformats.org/drawingml/2006/main">
              <a:ext uri="{FF2B5EF4-FFF2-40B4-BE49-F238E27FC236}">
                <a16:creationId xmlns:a16="http://schemas.microsoft.com/office/drawing/2014/main" id="{2B19D1B9-C370-49D8-A750-A8E0C92F9894}"/>
              </a:ext>
            </a:extLst>
          </p:cNvPr>
          <p:cNvSpPr>
            <a:spLocks xmlns:a="http://schemas.openxmlformats.org/drawingml/2006/main" noGrp="1"/>
          </p:cNvSpPr>
          <p:nvPr/>
        </p:nvSpPr>
        <p:spPr>
          <a:xfrm xmlns:a="http://schemas.openxmlformats.org/drawingml/2006/main">
            <a:off x="6477000" y="42957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VISTA Enhancer Browser</a:t>
            </a:r>
          </a:p>
        </p:txBody>
      </p:sp>
      <p:sp>
        <p:nvSpPr>
          <p:cNvPr id="19" name="Publication">
            <a:extLst xmlns:a="http://schemas.openxmlformats.org/drawingml/2006/main">
              <a:ext uri="{FF2B5EF4-FFF2-40B4-BE49-F238E27FC236}">
                <a16:creationId xmlns:a16="http://schemas.microsoft.com/office/drawing/2014/main" id="{AE91369B-3B69-4577-AEE5-FFC41E5BDE3B}"/>
              </a:ext>
            </a:extLst>
          </p:cNvPr>
          <p:cNvSpPr>
            <a:spLocks xmlns:a="http://schemas.openxmlformats.org/drawingml/2006/main" noGrp="1"/>
          </p:cNvSpPr>
          <p:nvPr/>
        </p:nvSpPr>
        <p:spPr>
          <a:xfrm xmlns:a="http://schemas.openxmlformats.org/drawingml/2006/main">
            <a:off x="6477000" y="476250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50f34e5ea66e432a"/>
              </a:rPr>
              <a:t>Publication</a:t>
            </a:r>
          </a:p>
        </p:txBody>
      </p:sp>
      <p:sp>
        <p:nvSpPr>
          <p:cNvPr id="20" name="Official data browser">
            <a:extLst xmlns:a="http://schemas.openxmlformats.org/drawingml/2006/main">
              <a:ext uri="{FF2B5EF4-FFF2-40B4-BE49-F238E27FC236}">
                <a16:creationId xmlns:a16="http://schemas.microsoft.com/office/drawing/2014/main" id="{CAA46B75-22E5-4813-B5EB-20DD423D3F03}"/>
              </a:ext>
            </a:extLst>
          </p:cNvPr>
          <p:cNvSpPr>
            <a:spLocks xmlns:a="http://schemas.openxmlformats.org/drawingml/2006/main" noGrp="1"/>
          </p:cNvSpPr>
          <p:nvPr/>
        </p:nvSpPr>
        <p:spPr>
          <a:xfrm xmlns:a="http://schemas.openxmlformats.org/drawingml/2006/main">
            <a:off x="6477000" y="522922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1ad4413ada2d4ee7"/>
              </a:rPr>
              <a:t>Official data browser</a:t>
            </a:r>
          </a:p>
        </p:txBody>
      </p:sp>
      <p:sp>
        <p:nvSpPr>
          <p:cNvPr id="21" name="Detailed source links appear in slide notes.">
            <a:extLst xmlns:a="http://schemas.openxmlformats.org/drawingml/2006/main">
              <a:ext uri="{FF2B5EF4-FFF2-40B4-BE49-F238E27FC236}">
                <a16:creationId xmlns:a16="http://schemas.microsoft.com/office/drawing/2014/main" id="{512F794C-D245-4E43-91F4-5FBC1E506CDE}"/>
              </a:ext>
            </a:extLst>
          </p:cNvPr>
          <p:cNvSpPr>
            <a:spLocks xmlns:a="http://schemas.openxmlformats.org/drawingml/2006/main" noGrp="1"/>
          </p:cNvSpPr>
          <p:nvPr/>
        </p:nvSpPr>
        <p:spPr>
          <a:xfrm xmlns:a="http://schemas.openxmlformats.org/drawingml/2006/main">
            <a:off x="6477000" y="5943600"/>
            <a:ext cx="510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46E"/>
                </a:solidFill>
                <a:latin typeface="Helvetica Neue"/>
                <a:ea typeface="Helvetica Neue"/>
                <a:cs typeface="Helvetica Neue"/>
              </a:defRPr>
            </a:defPPr>
            <a:lvl1pPr algn="l">
              <a:defRPr sz="1575" b="0">
                <a:solidFill>
                  <a:srgbClr val="52646E"/>
                </a:solidFill>
                <a:latin typeface="Helvetica Neue"/>
                <a:ea typeface="Helvetica Neue"/>
                <a:cs typeface="Helvetica Neue"/>
              </a:defRPr>
            </a:lvl1pPr>
            <a:lvl2pPr algn="l">
              <a:defRPr sz="1575" b="0">
                <a:solidFill>
                  <a:srgbClr val="52646E"/>
                </a:solidFill>
                <a:latin typeface="Helvetica Neue"/>
                <a:ea typeface="Helvetica Neue"/>
                <a:cs typeface="Helvetica Neue"/>
              </a:defRPr>
            </a:lvl2pPr>
            <a:lvl3pPr algn="l">
              <a:defRPr sz="1575" b="0">
                <a:solidFill>
                  <a:srgbClr val="52646E"/>
                </a:solidFill>
                <a:latin typeface="Helvetica Neue"/>
                <a:ea typeface="Helvetica Neue"/>
                <a:cs typeface="Helvetica Neue"/>
              </a:defRPr>
            </a:lvl3pPr>
            <a:lvl4pPr algn="l">
              <a:defRPr sz="1575" b="0">
                <a:solidFill>
                  <a:srgbClr val="52646E"/>
                </a:solidFill>
                <a:latin typeface="Helvetica Neue"/>
                <a:ea typeface="Helvetica Neue"/>
                <a:cs typeface="Helvetica Neue"/>
              </a:defRPr>
            </a:lvl4pPr>
            <a:lvl5pPr algn="l">
              <a:defRPr sz="1575" b="0">
                <a:solidFill>
                  <a:srgbClr val="52646E"/>
                </a:solidFill>
                <a:latin typeface="Helvetica Neue"/>
                <a:ea typeface="Helvetica Neue"/>
                <a:cs typeface="Helvetica Neue"/>
              </a:defRPr>
            </a:lvl5pPr>
            <a:lvl6pPr algn="l">
              <a:defRPr sz="1575" b="0">
                <a:solidFill>
                  <a:srgbClr val="52646E"/>
                </a:solidFill>
                <a:latin typeface="Helvetica Neue"/>
                <a:ea typeface="Helvetica Neue"/>
                <a:cs typeface="Helvetica Neue"/>
              </a:defRPr>
            </a:lvl6pPr>
            <a:lvl7pPr algn="l">
              <a:defRPr sz="1575" b="0">
                <a:solidFill>
                  <a:srgbClr val="52646E"/>
                </a:solidFill>
                <a:latin typeface="Helvetica Neue"/>
                <a:ea typeface="Helvetica Neue"/>
                <a:cs typeface="Helvetica Neue"/>
              </a:defRPr>
            </a:lvl7pPr>
            <a:lvl8pPr algn="l">
              <a:defRPr sz="1575" b="0">
                <a:solidFill>
                  <a:srgbClr val="52646E"/>
                </a:solidFill>
                <a:latin typeface="Helvetica Neue"/>
                <a:ea typeface="Helvetica Neue"/>
                <a:cs typeface="Helvetica Neue"/>
              </a:defRPr>
            </a:lvl8pPr>
            <a:lvl9pPr algn="l">
              <a:defRPr sz="1575" b="0">
                <a:solidFill>
                  <a:srgbClr val="52646E"/>
                </a:solidFill>
                <a:latin typeface="Helvetica Neue"/>
                <a:ea typeface="Helvetica Neue"/>
                <a:cs typeface="Helvetica Neue"/>
              </a:defRPr>
            </a:lvl9pPr>
          </a:lstStyle>
          <a:p xmlns:a="http://schemas.openxmlformats.org/drawingml/2006/main">
            <a:pPr algn="l">
              <a:defRPr sz="1575" b="0">
                <a:solidFill>
                  <a:srgbClr val="52646E"/>
                </a:solidFill>
                <a:latin typeface="Helvetica Neue"/>
                <a:ea typeface="Helvetica Neue"/>
                <a:cs typeface="Helvetica Neue"/>
              </a:defRPr>
            </a:pPr>
            <a:r>
              <a:rPr sz="1575" b="0">
                <a:solidFill>
                  <a:srgbClr val="52646E"/>
                </a:solidFill>
                <a:latin typeface="Helvetica Neue"/>
                <a:ea typeface="Helvetica Neue"/>
                <a:cs typeface="Helvetica Neue"/>
              </a:rPr>
              <a:t>Detailed source links appear in slide notes.</a:t>
            </a:r>
          </a:p>
        </p:txBody>
      </p:sp>
    </p:spTree>
    <p:extLst>
      <p:ext uri="{BB962C8B-B14F-4D97-AF65-F5344CB8AC3E}">
        <p14:creationId xmlns:p14="http://schemas.microsoft.com/office/powerpoint/2010/main" val="934616240"/>
      </p:ext>
    </p:extLst>
  </p:cSld>
</p:sld>
</file>

<file path=ppt/theme/theme1.xml><?xml version="1.0" encoding="utf-8"?>
<a:theme xmlns:a="http://schemas.openxmlformats.org/drawingml/2006/main" name="ChatGPT">
  <a:themeElements>
    <a:clrScheme name="Enhancer research">
      <a:dk1>
        <a:srgbClr val="000000"/>
      </a:dk1>
      <a:lt1>
        <a:srgbClr val="FFFFFF"/>
      </a:lt1>
      <a:dk2>
        <a:srgbClr val="102A3B"/>
      </a:dk2>
      <a:lt2>
        <a:srgbClr val="DCECE8"/>
      </a:lt2>
      <a:accent1>
        <a:srgbClr val="007F7A"/>
      </a:accent1>
      <a:accent2>
        <a:srgbClr val="718DA0"/>
      </a:accent2>
      <a:accent3>
        <a:srgbClr val="9A5C12"/>
      </a:accent3>
      <a:accent4>
        <a:srgbClr val="6F5D86"/>
      </a:accent4>
      <a:accent5>
        <a:srgbClr val="5A7962"/>
      </a:accent5>
      <a:accent6>
        <a:srgbClr val="975B5F"/>
      </a:accent6>
      <a:hlink>
        <a:srgbClr val="007F7A"/>
      </a:hlink>
      <a:folHlink>
        <a:srgbClr val="6F5D86"/>
      </a:folHlink>
    </a:clrScheme>
    <a:fontScheme name="">
      <a:majorFont>
        <a:latin typeface="Helvetica Neue"/>
        <a:ea typeface=""/>
        <a:cs typeface=""/>
      </a:majorFont>
      <a:minorFont>
        <a:latin typeface="Helvetica Neue"/>
        <a:ea typeface=""/>
        <a:cs typeface=""/>
      </a:minorFont>
    </a:fontScheme>
    <a:fmtScheme name="Enhancer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2026-10-25T18:37:38.1470000Z</dcterms:created>
  <dcterms:modified xsi:type="dcterms:W3CDTF">2026-10-25T18:37:38.1470000Z</dcterms:modified>
</coreProperties>
</file>